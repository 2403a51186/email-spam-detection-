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66882" y="1270128"/>
            <a:ext cx="122047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23632" cy="10287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65936" y="9165668"/>
            <a:ext cx="524255" cy="9141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72543" y="3510255"/>
            <a:ext cx="4212336" cy="17063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239743" y="4497515"/>
            <a:ext cx="573023" cy="70083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21311" y="2291416"/>
            <a:ext cx="2407919" cy="92631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96287" y="2291416"/>
            <a:ext cx="115823" cy="91412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843247" y="1029917"/>
            <a:ext cx="414528" cy="40831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111759" y="6597215"/>
            <a:ext cx="3836670" cy="142875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7145" marR="5080" indent="-5080">
              <a:lnSpc>
                <a:spcPts val="3450"/>
              </a:lnSpc>
              <a:spcBef>
                <a:spcPts val="785"/>
              </a:spcBef>
            </a:pPr>
            <a:r>
              <a:rPr dirty="0" sz="3450" spc="-215">
                <a:latin typeface="Calibri"/>
                <a:cs typeface="Calibri"/>
              </a:rPr>
              <a:t>Detect</a:t>
            </a:r>
            <a:r>
              <a:rPr dirty="0" sz="3450" spc="-110">
                <a:latin typeface="Calibri"/>
                <a:cs typeface="Calibri"/>
              </a:rPr>
              <a:t> </a:t>
            </a:r>
            <a:r>
              <a:rPr dirty="0" sz="3450" spc="-240">
                <a:latin typeface="Calibri"/>
                <a:cs typeface="Calibri"/>
              </a:rPr>
              <a:t>email</a:t>
            </a:r>
            <a:r>
              <a:rPr dirty="0" sz="3450" spc="-220">
                <a:latin typeface="Calibri"/>
                <a:cs typeface="Calibri"/>
              </a:rPr>
              <a:t> </a:t>
            </a:r>
            <a:r>
              <a:rPr dirty="0" sz="3450" spc="-125">
                <a:latin typeface="Calibri"/>
                <a:cs typeface="Calibri"/>
              </a:rPr>
              <a:t>spam</a:t>
            </a:r>
            <a:r>
              <a:rPr dirty="0" sz="3450" spc="-295">
                <a:latin typeface="Calibri"/>
                <a:cs typeface="Calibri"/>
              </a:rPr>
              <a:t> </a:t>
            </a:r>
            <a:r>
              <a:rPr dirty="0" sz="3450" spc="-145">
                <a:latin typeface="Calibri"/>
                <a:cs typeface="Calibri"/>
              </a:rPr>
              <a:t>usïng </a:t>
            </a:r>
            <a:r>
              <a:rPr dirty="0" sz="3400" spc="-254">
                <a:latin typeface="Calibri"/>
                <a:cs typeface="Calibri"/>
              </a:rPr>
              <a:t>multïple</a:t>
            </a:r>
            <a:r>
              <a:rPr dirty="0" sz="3400" spc="-25">
                <a:latin typeface="Calibri"/>
                <a:cs typeface="Calibri"/>
              </a:rPr>
              <a:t> </a:t>
            </a:r>
            <a:r>
              <a:rPr dirty="0" sz="3400" spc="-65">
                <a:latin typeface="Calibri"/>
                <a:cs typeface="Calibri"/>
              </a:rPr>
              <a:t>classification </a:t>
            </a:r>
            <a:r>
              <a:rPr dirty="0" sz="3450" spc="-125">
                <a:latin typeface="Calibri"/>
                <a:cs typeface="Calibri"/>
              </a:rPr>
              <a:t>algorïthms</a:t>
            </a:r>
            <a:endParaRPr sz="3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0"/>
            <a:ext cx="17739360" cy="975071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77829" y="610430"/>
            <a:ext cx="6412230" cy="210693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 indent="-635">
              <a:lnSpc>
                <a:spcPct val="81200"/>
              </a:lnSpc>
              <a:spcBef>
                <a:spcPts val="705"/>
              </a:spcBef>
            </a:pPr>
            <a:r>
              <a:rPr dirty="0" sz="2700" spc="-229">
                <a:latin typeface="Calibri"/>
                <a:cs typeface="Calibri"/>
              </a:rPr>
              <a:t>Email</a:t>
            </a:r>
            <a:r>
              <a:rPr dirty="0" sz="2700" spc="-135">
                <a:latin typeface="Calibri"/>
                <a:cs typeface="Calibri"/>
              </a:rPr>
              <a:t> </a:t>
            </a:r>
            <a:r>
              <a:rPr dirty="0" sz="2700" spc="-85">
                <a:latin typeface="Calibri"/>
                <a:cs typeface="Calibri"/>
              </a:rPr>
              <a:t>has</a:t>
            </a:r>
            <a:r>
              <a:rPr dirty="0" sz="2700" spc="-275">
                <a:latin typeface="Calibri"/>
                <a:cs typeface="Calibri"/>
              </a:rPr>
              <a:t> </a:t>
            </a:r>
            <a:r>
              <a:rPr dirty="0" sz="2700" spc="-190">
                <a:latin typeface="Calibri"/>
                <a:cs typeface="Calibri"/>
              </a:rPr>
              <a:t>become</a:t>
            </a:r>
            <a:r>
              <a:rPr dirty="0" sz="2700" spc="-5">
                <a:latin typeface="Calibri"/>
                <a:cs typeface="Calibri"/>
              </a:rPr>
              <a:t> </a:t>
            </a:r>
            <a:r>
              <a:rPr dirty="0" sz="2700" spc="-100">
                <a:latin typeface="Calibri"/>
                <a:cs typeface="Calibri"/>
              </a:rPr>
              <a:t>oneofthemostwidely </a:t>
            </a:r>
            <a:r>
              <a:rPr dirty="0" sz="2700" spc="-10">
                <a:latin typeface="Calibri"/>
                <a:cs typeface="Calibri"/>
              </a:rPr>
              <a:t>usedDrms </a:t>
            </a:r>
            <a:r>
              <a:rPr dirty="0" sz="2700" spc="-160">
                <a:latin typeface="Calibri"/>
                <a:cs typeface="Calibri"/>
              </a:rPr>
              <a:t>of</a:t>
            </a:r>
            <a:r>
              <a:rPr dirty="0" sz="2700" spc="-130">
                <a:latin typeface="Calibri"/>
                <a:cs typeface="Calibri"/>
              </a:rPr>
              <a:t> </a:t>
            </a:r>
            <a:r>
              <a:rPr dirty="0" sz="2700" spc="-160">
                <a:latin typeface="Calibri"/>
                <a:cs typeface="Calibri"/>
              </a:rPr>
              <a:t>communicationintoday's</a:t>
            </a:r>
            <a:r>
              <a:rPr dirty="0" sz="2700" spc="-180">
                <a:latin typeface="Calibri"/>
                <a:cs typeface="Calibri"/>
              </a:rPr>
              <a:t> </a:t>
            </a:r>
            <a:r>
              <a:rPr dirty="0" sz="2700" spc="-160">
                <a:latin typeface="Calibri"/>
                <a:cs typeface="Calibri"/>
              </a:rPr>
              <a:t>digitaIworId.Howeverthe </a:t>
            </a:r>
            <a:r>
              <a:rPr dirty="0" sz="2700" spc="-165">
                <a:latin typeface="Calibri"/>
                <a:cs typeface="Calibri"/>
              </a:rPr>
              <a:t>increasing</a:t>
            </a:r>
            <a:r>
              <a:rPr dirty="0" sz="2700" spc="20">
                <a:latin typeface="Calibri"/>
                <a:cs typeface="Calibri"/>
              </a:rPr>
              <a:t> </a:t>
            </a:r>
            <a:r>
              <a:rPr dirty="0" sz="2700" spc="-125">
                <a:latin typeface="Calibri"/>
                <a:cs typeface="Calibri"/>
              </a:rPr>
              <a:t>numberofspammessages—</a:t>
            </a:r>
            <a:r>
              <a:rPr dirty="0" sz="2700" spc="-10">
                <a:latin typeface="Calibri"/>
                <a:cs typeface="Calibri"/>
              </a:rPr>
              <a:t>suchas </a:t>
            </a:r>
            <a:r>
              <a:rPr dirty="0" sz="2700" spc="-229">
                <a:latin typeface="Calibri"/>
                <a:cs typeface="Calibri"/>
              </a:rPr>
              <a:t>unwanted</a:t>
            </a:r>
            <a:r>
              <a:rPr dirty="0" sz="2700" spc="-80">
                <a:latin typeface="Calibri"/>
                <a:cs typeface="Calibri"/>
              </a:rPr>
              <a:t> </a:t>
            </a:r>
            <a:r>
              <a:rPr dirty="0" sz="2700" spc="-135">
                <a:latin typeface="Calibri"/>
                <a:cs typeface="Calibri"/>
              </a:rPr>
              <a:t>advertisements,phishingemaiIs,and </a:t>
            </a:r>
            <a:r>
              <a:rPr dirty="0" sz="2700" spc="-215">
                <a:latin typeface="Calibri"/>
                <a:cs typeface="Calibri"/>
              </a:rPr>
              <a:t>fraudulentcontent—</a:t>
            </a:r>
            <a:r>
              <a:rPr dirty="0" sz="2700" spc="-210">
                <a:latin typeface="Calibri"/>
                <a:cs typeface="Calibri"/>
              </a:rPr>
              <a:t>has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 spc="-190">
                <a:latin typeface="Calibri"/>
                <a:cs typeface="Calibri"/>
              </a:rPr>
              <a:t>created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90">
                <a:latin typeface="Calibri"/>
                <a:cs typeface="Calibri"/>
              </a:rPr>
              <a:t>seriouschallengesDr </a:t>
            </a:r>
            <a:r>
              <a:rPr dirty="0" sz="2700" spc="-10">
                <a:latin typeface="Calibri"/>
                <a:cs typeface="Calibri"/>
              </a:rPr>
              <a:t>users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-16810" y="3502127"/>
            <a:ext cx="7468234" cy="10528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8415" marR="5080" indent="-6350">
              <a:lnSpc>
                <a:spcPct val="107100"/>
              </a:lnSpc>
              <a:spcBef>
                <a:spcPts val="85"/>
              </a:spcBef>
            </a:pPr>
            <a:r>
              <a:rPr dirty="0" sz="2100">
                <a:latin typeface="Calibri"/>
                <a:cs typeface="Calibri"/>
              </a:rPr>
              <a:t>Manual</a:t>
            </a:r>
            <a:r>
              <a:rPr dirty="0" sz="2100" spc="2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filtering</a:t>
            </a:r>
            <a:r>
              <a:rPr dirty="0" sz="2100" spc="2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204">
                <a:latin typeface="Calibri"/>
                <a:cs typeface="Calibri"/>
              </a:rPr>
              <a:t> </a:t>
            </a:r>
            <a:r>
              <a:rPr dirty="0" sz="2100" spc="65">
                <a:latin typeface="Calibri"/>
                <a:cs typeface="Calibri"/>
              </a:rPr>
              <a:t>spam</a:t>
            </a:r>
            <a:r>
              <a:rPr dirty="0" sz="2100" spc="19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emails</a:t>
            </a:r>
            <a:r>
              <a:rPr dirty="0" sz="2100" spc="1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2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time-consuming</a:t>
            </a:r>
            <a:r>
              <a:rPr dirty="0" sz="2100" spc="114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1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inefficient. To</a:t>
            </a:r>
            <a:r>
              <a:rPr dirty="0" sz="2100" spc="114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overcome</a:t>
            </a:r>
            <a:r>
              <a:rPr dirty="0" sz="2100" spc="2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this</a:t>
            </a:r>
            <a:r>
              <a:rPr dirty="0" sz="2100" spc="1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issue,</a:t>
            </a:r>
            <a:r>
              <a:rPr dirty="0" sz="2100" spc="10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machine</a:t>
            </a:r>
            <a:r>
              <a:rPr dirty="0" sz="2100" spc="2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learning</a:t>
            </a:r>
            <a:r>
              <a:rPr dirty="0" sz="2100" spc="229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techniques</a:t>
            </a:r>
            <a:r>
              <a:rPr dirty="0" sz="2100" spc="335">
                <a:latin typeface="Calibri"/>
                <a:cs typeface="Calibri"/>
              </a:rPr>
              <a:t> </a:t>
            </a:r>
            <a:r>
              <a:rPr dirty="0" sz="2100" spc="75">
                <a:latin typeface="Calibri"/>
                <a:cs typeface="Calibri"/>
              </a:rPr>
              <a:t>can</a:t>
            </a:r>
            <a:r>
              <a:rPr dirty="0" sz="2100" spc="1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8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used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1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automatically</a:t>
            </a:r>
            <a:r>
              <a:rPr dirty="0" sz="2100" spc="3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detect</a:t>
            </a:r>
            <a:r>
              <a:rPr dirty="0" sz="2100" spc="114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and</a:t>
            </a:r>
            <a:r>
              <a:rPr dirty="0" sz="2100" spc="150">
                <a:latin typeface="Calibri"/>
                <a:cs typeface="Calibri"/>
              </a:rPr>
              <a:t> </a:t>
            </a:r>
            <a:r>
              <a:rPr dirty="0" sz="2100" spc="55">
                <a:latin typeface="Calibri"/>
                <a:cs typeface="Calibri"/>
              </a:rPr>
              <a:t>classify</a:t>
            </a:r>
            <a:r>
              <a:rPr dirty="0" sz="2100" spc="3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emails</a:t>
            </a:r>
            <a:r>
              <a:rPr dirty="0" sz="2100" spc="1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as</a:t>
            </a:r>
            <a:r>
              <a:rPr dirty="0" sz="2100" spc="300">
                <a:latin typeface="Calibri"/>
                <a:cs typeface="Calibri"/>
              </a:rPr>
              <a:t> </a:t>
            </a:r>
            <a:r>
              <a:rPr dirty="0" sz="2100" spc="65">
                <a:latin typeface="Calibri"/>
                <a:cs typeface="Calibri"/>
              </a:rPr>
              <a:t>spam</a:t>
            </a:r>
            <a:r>
              <a:rPr dirty="0" sz="2100" spc="15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1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not</a:t>
            </a:r>
            <a:r>
              <a:rPr dirty="0" sz="2100" spc="1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spam.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2991" y="5761802"/>
            <a:ext cx="11389360" cy="138938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algn="ctr" marL="12700" marR="5080" indent="20320">
              <a:lnSpc>
                <a:spcPts val="2640"/>
              </a:lnSpc>
              <a:spcBef>
                <a:spcPts val="335"/>
              </a:spcBef>
            </a:pPr>
            <a:r>
              <a:rPr dirty="0" sz="2350" spc="-50">
                <a:latin typeface="Calibri"/>
                <a:cs typeface="Calibri"/>
              </a:rPr>
              <a:t>This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35">
                <a:latin typeface="Calibri"/>
                <a:cs typeface="Calibri"/>
              </a:rPr>
              <a:t>project</a:t>
            </a:r>
            <a:r>
              <a:rPr dirty="0" sz="2350" spc="-100">
                <a:latin typeface="Calibri"/>
                <a:cs typeface="Calibri"/>
              </a:rPr>
              <a:t> </a:t>
            </a:r>
            <a:r>
              <a:rPr dirty="0" sz="2350" spc="-25">
                <a:latin typeface="Calibri"/>
                <a:cs typeface="Calibri"/>
              </a:rPr>
              <a:t>focuses</a:t>
            </a:r>
            <a:r>
              <a:rPr dirty="0" sz="2350" spc="-110">
                <a:latin typeface="Calibri"/>
                <a:cs typeface="Calibri"/>
              </a:rPr>
              <a:t> </a:t>
            </a:r>
            <a:r>
              <a:rPr dirty="0" sz="2350" spc="-85">
                <a:latin typeface="Calibri"/>
                <a:cs typeface="Calibri"/>
              </a:rPr>
              <a:t>on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 spc="-55">
                <a:latin typeface="Calibri"/>
                <a:cs typeface="Calibri"/>
              </a:rPr>
              <a:t>developing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an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45">
                <a:latin typeface="Calibri"/>
                <a:cs typeface="Calibri"/>
              </a:rPr>
              <a:t>Email</a:t>
            </a:r>
            <a:r>
              <a:rPr dirty="0" sz="2350" spc="-90">
                <a:latin typeface="Calibri"/>
                <a:cs typeface="Calibri"/>
              </a:rPr>
              <a:t> </a:t>
            </a:r>
            <a:r>
              <a:rPr dirty="0" sz="2350" spc="-30">
                <a:latin typeface="Calibri"/>
                <a:cs typeface="Calibri"/>
              </a:rPr>
              <a:t>Spam</a:t>
            </a:r>
            <a:r>
              <a:rPr dirty="0" sz="2350" spc="-100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Detection</a:t>
            </a:r>
            <a:r>
              <a:rPr dirty="0" sz="2350" spc="10">
                <a:latin typeface="Calibri"/>
                <a:cs typeface="Calibri"/>
              </a:rPr>
              <a:t> </a:t>
            </a:r>
            <a:r>
              <a:rPr dirty="0" sz="2350" spc="-40">
                <a:latin typeface="Calibri"/>
                <a:cs typeface="Calibri"/>
              </a:rPr>
              <a:t>system</a:t>
            </a:r>
            <a:r>
              <a:rPr dirty="0" sz="2350" spc="5">
                <a:latin typeface="Calibri"/>
                <a:cs typeface="Calibri"/>
              </a:rPr>
              <a:t> </a:t>
            </a:r>
            <a:r>
              <a:rPr dirty="0" sz="2350" spc="-60">
                <a:latin typeface="Calibri"/>
                <a:cs typeface="Calibri"/>
              </a:rPr>
              <a:t>using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45">
                <a:latin typeface="Calibri"/>
                <a:cs typeface="Calibri"/>
              </a:rPr>
              <a:t>multiple</a:t>
            </a:r>
            <a:r>
              <a:rPr dirty="0" sz="2350" spc="-1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classification </a:t>
            </a:r>
            <a:r>
              <a:rPr dirty="0" sz="2350" spc="-50">
                <a:latin typeface="Calibri"/>
                <a:cs typeface="Calibri"/>
              </a:rPr>
              <a:t>algorithms</a:t>
            </a:r>
            <a:r>
              <a:rPr dirty="0" sz="2350" spc="-35">
                <a:latin typeface="Calibri"/>
                <a:cs typeface="Calibri"/>
              </a:rPr>
              <a:t> </a:t>
            </a:r>
            <a:r>
              <a:rPr dirty="0" sz="2350" spc="-20">
                <a:latin typeface="Calibri"/>
                <a:cs typeface="Calibri"/>
              </a:rPr>
              <a:t>such</a:t>
            </a:r>
            <a:r>
              <a:rPr dirty="0" sz="2350" spc="-9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as</a:t>
            </a:r>
            <a:r>
              <a:rPr dirty="0" sz="2350" spc="-114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Logistic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 spc="-60">
                <a:latin typeface="Calibri"/>
                <a:cs typeface="Calibri"/>
              </a:rPr>
              <a:t>Regression,</a:t>
            </a:r>
            <a:r>
              <a:rPr dirty="0" sz="2350" spc="40">
                <a:latin typeface="Calibri"/>
                <a:cs typeface="Calibri"/>
              </a:rPr>
              <a:t> </a:t>
            </a:r>
            <a:r>
              <a:rPr dirty="0" sz="2350" spc="-35">
                <a:latin typeface="Calibri"/>
                <a:cs typeface="Calibri"/>
              </a:rPr>
              <a:t>Support</a:t>
            </a:r>
            <a:r>
              <a:rPr dirty="0" sz="2350" spc="-5">
                <a:latin typeface="Calibri"/>
                <a:cs typeface="Calibri"/>
              </a:rPr>
              <a:t> </a:t>
            </a:r>
            <a:r>
              <a:rPr dirty="0" sz="2350" spc="-70">
                <a:latin typeface="Calibri"/>
                <a:cs typeface="Calibri"/>
              </a:rPr>
              <a:t>Vector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 spc="-100">
                <a:latin typeface="Calibri"/>
                <a:cs typeface="Calibri"/>
              </a:rPr>
              <a:t>Machine</a:t>
            </a:r>
            <a:r>
              <a:rPr dirty="0" sz="2350" spc="-35">
                <a:latin typeface="Calibri"/>
                <a:cs typeface="Calibri"/>
              </a:rPr>
              <a:t> </a:t>
            </a:r>
            <a:r>
              <a:rPr dirty="0" sz="2350" spc="-114">
                <a:latin typeface="Calibri"/>
                <a:cs typeface="Calibri"/>
              </a:rPr>
              <a:t>(SVM),</a:t>
            </a:r>
            <a:r>
              <a:rPr dirty="0" sz="2350" spc="-15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and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90">
                <a:latin typeface="Calibri"/>
                <a:cs typeface="Calibri"/>
              </a:rPr>
              <a:t>K-</a:t>
            </a:r>
            <a:r>
              <a:rPr dirty="0" sz="2350" spc="-80">
                <a:latin typeface="Calibri"/>
                <a:cs typeface="Calibri"/>
              </a:rPr>
              <a:t>Nearest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Neighbors </a:t>
            </a:r>
            <a:r>
              <a:rPr dirty="0" sz="2350" spc="-85">
                <a:latin typeface="Calibri"/>
                <a:cs typeface="Calibri"/>
              </a:rPr>
              <a:t>(KNN).</a:t>
            </a:r>
            <a:r>
              <a:rPr dirty="0" sz="2350" spc="-50">
                <a:latin typeface="Calibri"/>
                <a:cs typeface="Calibri"/>
              </a:rPr>
              <a:t> </a:t>
            </a:r>
            <a:r>
              <a:rPr dirty="0" sz="2350" spc="-90">
                <a:latin typeface="Calibri"/>
                <a:cs typeface="Calibri"/>
              </a:rPr>
              <a:t>The</a:t>
            </a:r>
            <a:r>
              <a:rPr dirty="0" sz="2350" spc="-55">
                <a:latin typeface="Calibri"/>
                <a:cs typeface="Calibri"/>
              </a:rPr>
              <a:t> </a:t>
            </a:r>
            <a:r>
              <a:rPr dirty="0" sz="2350" spc="-40">
                <a:latin typeface="Calibri"/>
                <a:cs typeface="Calibri"/>
              </a:rPr>
              <a:t>system</a:t>
            </a:r>
            <a:r>
              <a:rPr dirty="0" sz="2350" spc="-95">
                <a:latin typeface="Calibri"/>
                <a:cs typeface="Calibri"/>
              </a:rPr>
              <a:t> </a:t>
            </a:r>
            <a:r>
              <a:rPr dirty="0" sz="2350" spc="-30">
                <a:latin typeface="Calibri"/>
                <a:cs typeface="Calibri"/>
              </a:rPr>
              <a:t>processes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85">
                <a:latin typeface="Calibri"/>
                <a:cs typeface="Calibri"/>
              </a:rPr>
              <a:t>and</a:t>
            </a:r>
            <a:r>
              <a:rPr dirty="0" sz="2350" spc="-45">
                <a:latin typeface="Calibri"/>
                <a:cs typeface="Calibri"/>
              </a:rPr>
              <a:t> </a:t>
            </a:r>
            <a:r>
              <a:rPr dirty="0" sz="2350" spc="-55">
                <a:latin typeface="Calibri"/>
                <a:cs typeface="Calibri"/>
              </a:rPr>
              <a:t>analyzes</a:t>
            </a:r>
            <a:r>
              <a:rPr dirty="0" sz="2350" spc="-5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email</a:t>
            </a:r>
            <a:r>
              <a:rPr dirty="0" sz="2350" spc="-125">
                <a:latin typeface="Calibri"/>
                <a:cs typeface="Calibri"/>
              </a:rPr>
              <a:t> </a:t>
            </a:r>
            <a:r>
              <a:rPr dirty="0" sz="2350" spc="-60">
                <a:latin typeface="Calibri"/>
                <a:cs typeface="Calibri"/>
              </a:rPr>
              <a:t>text,</a:t>
            </a:r>
            <a:r>
              <a:rPr dirty="0" sz="2350" spc="-75">
                <a:latin typeface="Calibri"/>
                <a:cs typeface="Calibri"/>
              </a:rPr>
              <a:t> </a:t>
            </a:r>
            <a:r>
              <a:rPr dirty="0" sz="2350" spc="-35">
                <a:latin typeface="Calibri"/>
                <a:cs typeface="Calibri"/>
              </a:rPr>
              <a:t>converts</a:t>
            </a:r>
            <a:r>
              <a:rPr dirty="0" sz="2350" spc="4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it</a:t>
            </a:r>
            <a:r>
              <a:rPr dirty="0" sz="2350" spc="-140">
                <a:latin typeface="Calibri"/>
                <a:cs typeface="Calibri"/>
              </a:rPr>
              <a:t> </a:t>
            </a:r>
            <a:r>
              <a:rPr dirty="0" sz="2350" spc="-45">
                <a:latin typeface="Calibri"/>
                <a:cs typeface="Calibri"/>
              </a:rPr>
              <a:t>into</a:t>
            </a:r>
            <a:r>
              <a:rPr dirty="0" sz="2350" spc="-65">
                <a:latin typeface="Calibri"/>
                <a:cs typeface="Calibri"/>
              </a:rPr>
              <a:t> </a:t>
            </a:r>
            <a:r>
              <a:rPr dirty="0" sz="2350" spc="-55">
                <a:latin typeface="Calibri"/>
                <a:cs typeface="Calibri"/>
              </a:rPr>
              <a:t>numerical</a:t>
            </a:r>
            <a:r>
              <a:rPr dirty="0" sz="2350" spc="-75">
                <a:latin typeface="Calibri"/>
                <a:cs typeface="Calibri"/>
              </a:rPr>
              <a:t> </a:t>
            </a:r>
            <a:r>
              <a:rPr dirty="0" sz="2350" spc="-70">
                <a:latin typeface="Calibri"/>
                <a:cs typeface="Calibri"/>
              </a:rPr>
              <a:t>form</a:t>
            </a:r>
            <a:r>
              <a:rPr dirty="0" sz="2350" spc="-60">
                <a:latin typeface="Calibri"/>
                <a:cs typeface="Calibri"/>
              </a:rPr>
              <a:t> </a:t>
            </a:r>
            <a:r>
              <a:rPr dirty="0" sz="2350" spc="-30">
                <a:latin typeface="Calibri"/>
                <a:cs typeface="Calibri"/>
              </a:rPr>
              <a:t>using</a:t>
            </a:r>
            <a:r>
              <a:rPr dirty="0" sz="2350" spc="5">
                <a:latin typeface="Calibri"/>
                <a:cs typeface="Calibri"/>
              </a:rPr>
              <a:t> </a:t>
            </a:r>
            <a:r>
              <a:rPr dirty="0" sz="2350" spc="-90">
                <a:latin typeface="Calibri"/>
                <a:cs typeface="Calibri"/>
              </a:rPr>
              <a:t>TF-</a:t>
            </a:r>
            <a:r>
              <a:rPr dirty="0" sz="2350" spc="-20">
                <a:latin typeface="Calibri"/>
                <a:cs typeface="Calibri"/>
              </a:rPr>
              <a:t>IDF, </a:t>
            </a:r>
            <a:r>
              <a:rPr dirty="0" sz="2350" spc="-60">
                <a:latin typeface="Calibri"/>
                <a:cs typeface="Calibri"/>
              </a:rPr>
              <a:t>and</a:t>
            </a:r>
            <a:r>
              <a:rPr dirty="0" sz="2350" spc="-75">
                <a:latin typeface="Calibri"/>
                <a:cs typeface="Calibri"/>
              </a:rPr>
              <a:t> </a:t>
            </a:r>
            <a:r>
              <a:rPr dirty="0" sz="2350" spc="-35">
                <a:latin typeface="Calibri"/>
                <a:cs typeface="Calibri"/>
              </a:rPr>
              <a:t>applies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55">
                <a:latin typeface="Calibri"/>
                <a:cs typeface="Calibri"/>
              </a:rPr>
              <a:t>these</a:t>
            </a:r>
            <a:r>
              <a:rPr dirty="0" sz="2350" spc="-80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algorithms</a:t>
            </a:r>
            <a:r>
              <a:rPr dirty="0" sz="2350" spc="2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fo</a:t>
            </a:r>
            <a:r>
              <a:rPr dirty="0" sz="2350" spc="-125">
                <a:latin typeface="Calibri"/>
                <a:cs typeface="Calibri"/>
              </a:rPr>
              <a:t> </a:t>
            </a:r>
            <a:r>
              <a:rPr dirty="0" sz="2350" spc="-25">
                <a:latin typeface="Calibri"/>
                <a:cs typeface="Calibri"/>
              </a:rPr>
              <a:t>accurately</a:t>
            </a:r>
            <a:r>
              <a:rPr dirty="0" sz="2350" spc="35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classify</a:t>
            </a:r>
            <a:r>
              <a:rPr dirty="0" sz="2350" spc="-15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messages.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00" y="8458741"/>
            <a:ext cx="804671" cy="80443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224" y="4790036"/>
            <a:ext cx="518159" cy="9750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0672" y="2084214"/>
            <a:ext cx="3810000" cy="81052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20128" y="2084214"/>
            <a:ext cx="932687" cy="80443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9439" y="1096954"/>
            <a:ext cx="1591056" cy="84709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1455" y="1060389"/>
            <a:ext cx="579120" cy="88365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81743" y="0"/>
            <a:ext cx="7876032" cy="488754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13642" y="4047810"/>
            <a:ext cx="3256279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200">
                <a:latin typeface="Calibri"/>
                <a:cs typeface="Calibri"/>
              </a:rPr>
              <a:t>Email</a:t>
            </a:r>
            <a:r>
              <a:rPr dirty="0" sz="2650" spc="-120">
                <a:latin typeface="Calibri"/>
                <a:cs typeface="Calibri"/>
              </a:rPr>
              <a:t> </a:t>
            </a:r>
            <a:r>
              <a:rPr dirty="0" sz="2650" spc="-114">
                <a:latin typeface="Calibri"/>
                <a:cs typeface="Calibri"/>
              </a:rPr>
              <a:t>spam</a:t>
            </a:r>
            <a:r>
              <a:rPr dirty="0" sz="2650" spc="-225">
                <a:latin typeface="Calibri"/>
                <a:cs typeface="Calibri"/>
              </a:rPr>
              <a:t> </a:t>
            </a:r>
            <a:r>
              <a:rPr dirty="0" sz="2650" spc="-185">
                <a:latin typeface="Calibri"/>
                <a:cs typeface="Calibri"/>
              </a:rPr>
              <a:t>detection</a:t>
            </a:r>
            <a:r>
              <a:rPr dirty="0" sz="2650" spc="-105">
                <a:latin typeface="Calibri"/>
                <a:cs typeface="Calibri"/>
              </a:rPr>
              <a:t> </a:t>
            </a:r>
            <a:r>
              <a:rPr dirty="0" sz="2650" spc="-120">
                <a:latin typeface="Calibri"/>
                <a:cs typeface="Calibri"/>
              </a:rPr>
              <a:t>in</a:t>
            </a:r>
            <a:r>
              <a:rPr dirty="0" sz="2650" spc="-290">
                <a:latin typeface="Calibri"/>
                <a:cs typeface="Calibri"/>
              </a:rPr>
              <a:t> </a:t>
            </a:r>
            <a:r>
              <a:rPr dirty="0" sz="2650" spc="-114">
                <a:latin typeface="Calibri"/>
                <a:cs typeface="Calibri"/>
              </a:rPr>
              <a:t>ML</a:t>
            </a:r>
            <a:endParaRPr sz="26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33801" y="519272"/>
            <a:ext cx="2058035" cy="1709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50" spc="-325">
                <a:latin typeface="Calibri"/>
                <a:cs typeface="Calibri"/>
              </a:rPr>
              <a:t>i</a:t>
            </a:r>
            <a:r>
              <a:rPr dirty="0" sz="11050" spc="-325">
                <a:latin typeface="Calibri"/>
                <a:cs typeface="Calibri"/>
              </a:rPr>
              <a:t>em</a:t>
            </a:r>
            <a:endParaRPr sz="110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37120" y="1498660"/>
            <a:ext cx="2229485" cy="1671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800" spc="-755">
                <a:latin typeface="Cambria"/>
                <a:cs typeface="Cambria"/>
              </a:rPr>
              <a:t>eme</a:t>
            </a:r>
            <a:endParaRPr sz="108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47525" y="5686895"/>
            <a:ext cx="6250940" cy="1727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5080" indent="-3175">
              <a:lnSpc>
                <a:spcPct val="106600"/>
              </a:lnSpc>
              <a:spcBef>
                <a:spcPts val="100"/>
              </a:spcBef>
            </a:pPr>
            <a:r>
              <a:rPr dirty="0" sz="2100">
                <a:latin typeface="Calibri"/>
                <a:cs typeface="Calibri"/>
              </a:rPr>
              <a:t>In</a:t>
            </a:r>
            <a:r>
              <a:rPr dirty="0" sz="2100" spc="7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todag's</a:t>
            </a:r>
            <a:r>
              <a:rPr dirty="0" sz="2100" spc="1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digital</a:t>
            </a:r>
            <a:r>
              <a:rPr dirty="0" sz="2100" spc="175">
                <a:latin typeface="Calibri"/>
                <a:cs typeface="Calibri"/>
              </a:rPr>
              <a:t> </a:t>
            </a:r>
            <a:r>
              <a:rPr dirty="0" sz="2100" spc="-20">
                <a:latin typeface="Calibri"/>
                <a:cs typeface="Calibri"/>
              </a:rPr>
              <a:t>world,</a:t>
            </a:r>
            <a:r>
              <a:rPr dirty="0" sz="2100" spc="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email</a:t>
            </a:r>
            <a:r>
              <a:rPr dirty="0" sz="2100" spc="17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communication</a:t>
            </a:r>
            <a:r>
              <a:rPr dirty="0" sz="2100" spc="3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2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widely </a:t>
            </a:r>
            <a:r>
              <a:rPr dirty="0" sz="2100">
                <a:latin typeface="Calibri"/>
                <a:cs typeface="Calibri"/>
              </a:rPr>
              <a:t>used,</a:t>
            </a:r>
            <a:r>
              <a:rPr dirty="0" sz="2100" spc="5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but</a:t>
            </a:r>
            <a:r>
              <a:rPr dirty="0" sz="2100" spc="1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it</a:t>
            </a:r>
            <a:r>
              <a:rPr dirty="0" sz="2100" spc="1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is</a:t>
            </a:r>
            <a:r>
              <a:rPr dirty="0" sz="2100" spc="29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also</a:t>
            </a:r>
            <a:r>
              <a:rPr dirty="0" sz="2100" spc="1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heavily</a:t>
            </a:r>
            <a:r>
              <a:rPr dirty="0" sz="2100" spc="3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affected</a:t>
            </a:r>
            <a:r>
              <a:rPr dirty="0" sz="2100" spc="204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bg</a:t>
            </a:r>
            <a:r>
              <a:rPr dirty="0" sz="2100" spc="180">
                <a:latin typeface="Calibri"/>
                <a:cs typeface="Calibri"/>
              </a:rPr>
              <a:t> </a:t>
            </a:r>
            <a:r>
              <a:rPr dirty="0" sz="2100" spc="75">
                <a:latin typeface="Calibri"/>
                <a:cs typeface="Calibri"/>
              </a:rPr>
              <a:t>spam</a:t>
            </a:r>
            <a:r>
              <a:rPr dirty="0" sz="2100" spc="130">
                <a:latin typeface="Calibri"/>
                <a:cs typeface="Calibri"/>
              </a:rPr>
              <a:t> </a:t>
            </a:r>
            <a:r>
              <a:rPr dirty="0" sz="2100" spc="40">
                <a:latin typeface="Calibri"/>
                <a:cs typeface="Calibri"/>
              </a:rPr>
              <a:t>messages, </a:t>
            </a:r>
            <a:r>
              <a:rPr dirty="0" sz="2100">
                <a:latin typeface="Calibri"/>
                <a:cs typeface="Calibri"/>
              </a:rPr>
              <a:t>which</a:t>
            </a:r>
            <a:r>
              <a:rPr dirty="0" sz="2100" spc="215">
                <a:latin typeface="Calibri"/>
                <a:cs typeface="Calibri"/>
              </a:rPr>
              <a:t> </a:t>
            </a:r>
            <a:r>
              <a:rPr dirty="0" sz="2100" spc="75">
                <a:latin typeface="Calibri"/>
                <a:cs typeface="Calibri"/>
              </a:rPr>
              <a:t>can</a:t>
            </a:r>
            <a:r>
              <a:rPr dirty="0" sz="2100" spc="11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</a:t>
            </a:r>
            <a:r>
              <a:rPr dirty="0" sz="2100" spc="1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annoying,</a:t>
            </a:r>
            <a:r>
              <a:rPr dirty="0" sz="2100" spc="16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misleading,</a:t>
            </a:r>
            <a:r>
              <a:rPr dirty="0" sz="2100" spc="2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or</a:t>
            </a:r>
            <a:r>
              <a:rPr dirty="0" sz="2100" spc="1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even</a:t>
            </a:r>
            <a:r>
              <a:rPr dirty="0" sz="2100" spc="1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harmful.</a:t>
            </a:r>
            <a:endParaRPr sz="21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244"/>
              </a:spcBef>
            </a:pPr>
            <a:r>
              <a:rPr dirty="0" sz="2000">
                <a:latin typeface="Calibri"/>
                <a:cs typeface="Calibri"/>
              </a:rPr>
              <a:t>Manually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filtering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 spc="105">
                <a:latin typeface="Calibri"/>
                <a:cs typeface="Calibri"/>
              </a:rPr>
              <a:t>spam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 spc="65">
                <a:latin typeface="Calibri"/>
                <a:cs typeface="Calibri"/>
              </a:rPr>
              <a:t>emails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 spc="80">
                <a:latin typeface="Calibri"/>
                <a:cs typeface="Calibri"/>
              </a:rPr>
              <a:t>time-</a:t>
            </a:r>
            <a:r>
              <a:rPr dirty="0" sz="2000" spc="90">
                <a:latin typeface="Calibri"/>
                <a:cs typeface="Calibri"/>
              </a:rPr>
              <a:t>consuming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spc="5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235"/>
              </a:spcBef>
            </a:pPr>
            <a:r>
              <a:rPr dirty="0" sz="2050" spc="-10">
                <a:latin typeface="Calibri"/>
                <a:cs typeface="Calibri"/>
              </a:rPr>
              <a:t>inefficient.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13413" y="7960283"/>
            <a:ext cx="6321425" cy="15944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 indent="8255">
              <a:lnSpc>
                <a:spcPct val="101800"/>
              </a:lnSpc>
              <a:spcBef>
                <a:spcPts val="55"/>
              </a:spcBef>
            </a:pPr>
            <a:r>
              <a:rPr dirty="0" sz="2050" spc="-70">
                <a:latin typeface="Calibri"/>
                <a:cs typeface="Calibri"/>
              </a:rPr>
              <a:t>The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project</a:t>
            </a:r>
            <a:r>
              <a:rPr dirty="0" sz="2050" spc="-9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involves</a:t>
            </a:r>
            <a:r>
              <a:rPr dirty="0" sz="2050" spc="-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preprocessing</a:t>
            </a:r>
            <a:r>
              <a:rPr dirty="0" sz="2050" spc="165">
                <a:latin typeface="Calibri"/>
                <a:cs typeface="Calibri"/>
              </a:rPr>
              <a:t> </a:t>
            </a:r>
            <a:r>
              <a:rPr dirty="0" sz="2050" spc="-35">
                <a:latin typeface="Calibri"/>
                <a:cs typeface="Calibri"/>
              </a:rPr>
              <a:t>textual</a:t>
            </a:r>
            <a:r>
              <a:rPr dirty="0" sz="2050" spc="-25">
                <a:latin typeface="Calibri"/>
                <a:cs typeface="Calibri"/>
              </a:rPr>
              <a:t> </a:t>
            </a:r>
            <a:r>
              <a:rPr dirty="0" sz="2050" spc="-70">
                <a:latin typeface="Calibri"/>
                <a:cs typeface="Calibri"/>
              </a:rPr>
              <a:t>data,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converting</a:t>
            </a:r>
            <a:r>
              <a:rPr dirty="0" sz="2050" spc="509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it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into</a:t>
            </a:r>
            <a:r>
              <a:rPr dirty="0" sz="1950" spc="9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numerical</a:t>
            </a:r>
            <a:r>
              <a:rPr dirty="0" sz="1950" spc="18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form</a:t>
            </a:r>
            <a:r>
              <a:rPr dirty="0" sz="1950" spc="6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using</a:t>
            </a:r>
            <a:r>
              <a:rPr dirty="0" sz="1950" spc="1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techniques</a:t>
            </a:r>
            <a:r>
              <a:rPr dirty="0" sz="1950" spc="1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like</a:t>
            </a:r>
            <a:r>
              <a:rPr dirty="0" sz="1950" spc="80">
                <a:latin typeface="Calibri"/>
                <a:cs typeface="Calibri"/>
              </a:rPr>
              <a:t> </a:t>
            </a:r>
            <a:r>
              <a:rPr dirty="0" sz="1950" spc="-55">
                <a:latin typeface="Calibri"/>
                <a:cs typeface="Calibri"/>
              </a:rPr>
              <a:t>TF-</a:t>
            </a:r>
            <a:r>
              <a:rPr dirty="0" sz="1950" spc="-10">
                <a:latin typeface="Calibri"/>
                <a:cs typeface="Calibri"/>
              </a:rPr>
              <a:t>IDF,</a:t>
            </a:r>
            <a:r>
              <a:rPr dirty="0" sz="1950" spc="5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training </a:t>
            </a:r>
            <a:r>
              <a:rPr dirty="0" sz="2000" spc="-10">
                <a:latin typeface="Calibri"/>
                <a:cs typeface="Calibri"/>
              </a:rPr>
              <a:t>different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models,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evaluating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them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performance</a:t>
            </a:r>
            <a:r>
              <a:rPr dirty="0" sz="2050" spc="7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metrics</a:t>
            </a:r>
            <a:r>
              <a:rPr dirty="0" sz="2050" spc="9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such</a:t>
            </a:r>
            <a:r>
              <a:rPr dirty="0" sz="2050" spc="-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as</a:t>
            </a:r>
            <a:r>
              <a:rPr dirty="0" sz="2050" spc="1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accuracy,</a:t>
            </a:r>
            <a:r>
              <a:rPr dirty="0" sz="2050" spc="-50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precision,</a:t>
            </a:r>
            <a:r>
              <a:rPr dirty="0" sz="2050" spc="-45">
                <a:latin typeface="Calibri"/>
                <a:cs typeface="Calibri"/>
              </a:rPr>
              <a:t> recall,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and </a:t>
            </a:r>
            <a:r>
              <a:rPr dirty="0" sz="2100" spc="-110">
                <a:latin typeface="Calibri"/>
                <a:cs typeface="Calibri"/>
              </a:rPr>
              <a:t>F1-</a:t>
            </a:r>
            <a:r>
              <a:rPr dirty="0" sz="2100" spc="-10">
                <a:latin typeface="Calibri"/>
                <a:cs typeface="Calibri"/>
              </a:rPr>
              <a:t>score.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65493" y="5699844"/>
            <a:ext cx="7532370" cy="1501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 indent="6350">
              <a:lnSpc>
                <a:spcPct val="99200"/>
              </a:lnSpc>
              <a:spcBef>
                <a:spcPts val="114"/>
              </a:spcBef>
            </a:pPr>
            <a:r>
              <a:rPr dirty="0" sz="1950" spc="-45">
                <a:latin typeface="Calibri"/>
                <a:cs typeface="Calibri"/>
              </a:rPr>
              <a:t>The</a:t>
            </a:r>
            <a:r>
              <a:rPr dirty="0" sz="1950" spc="-6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objective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this</a:t>
            </a:r>
            <a:r>
              <a:rPr dirty="0" sz="1950" spc="-2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project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is</a:t>
            </a:r>
            <a:r>
              <a:rPr dirty="0" sz="1950" spc="-8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-30">
                <a:latin typeface="Calibri"/>
                <a:cs typeface="Calibri"/>
              </a:rPr>
              <a:t> </a:t>
            </a:r>
            <a:r>
              <a:rPr dirty="0" sz="1950" spc="-40">
                <a:latin typeface="Calibri"/>
                <a:cs typeface="Calibri"/>
              </a:rPr>
              <a:t>develop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-65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machine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learning-</a:t>
            </a:r>
            <a:r>
              <a:rPr dirty="0" sz="1950" spc="-20">
                <a:latin typeface="Calibri"/>
                <a:cs typeface="Calibri"/>
              </a:rPr>
              <a:t>based</a:t>
            </a:r>
            <a:r>
              <a:rPr dirty="0" sz="1950" spc="-9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system </a:t>
            </a:r>
            <a:r>
              <a:rPr dirty="0" sz="1950" spc="-25">
                <a:latin typeface="Calibri"/>
                <a:cs typeface="Calibri"/>
              </a:rPr>
              <a:t>that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can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 spc="-45">
                <a:latin typeface="Calibri"/>
                <a:cs typeface="Calibri"/>
              </a:rPr>
              <a:t>automatically</a:t>
            </a:r>
            <a:r>
              <a:rPr dirty="0" sz="1950" spc="19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classify</a:t>
            </a:r>
            <a:r>
              <a:rPr dirty="0" sz="1950" spc="9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emails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spam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or</a:t>
            </a:r>
            <a:r>
              <a:rPr dirty="0" sz="1950" spc="-2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not</a:t>
            </a:r>
            <a:r>
              <a:rPr dirty="0" sz="1950" spc="-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spam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90">
                <a:latin typeface="Calibri"/>
                <a:cs typeface="Calibri"/>
              </a:rPr>
              <a:t>(ham)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using </a:t>
            </a:r>
            <a:r>
              <a:rPr dirty="0" sz="1950" spc="-20">
                <a:latin typeface="Calibri"/>
                <a:cs typeface="Calibri"/>
              </a:rPr>
              <a:t>text </a:t>
            </a:r>
            <a:r>
              <a:rPr dirty="0" sz="1950">
                <a:latin typeface="Calibri"/>
                <a:cs typeface="Calibri"/>
              </a:rPr>
              <a:t>analysis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techniques.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 spc="-40">
                <a:latin typeface="Calibri"/>
                <a:cs typeface="Calibri"/>
              </a:rPr>
              <a:t>The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 spc="-80">
                <a:latin typeface="Calibri"/>
                <a:cs typeface="Calibri"/>
              </a:rPr>
              <a:t>will</a:t>
            </a:r>
            <a:r>
              <a:rPr dirty="0" sz="1950" spc="-45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utilize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 spc="-55">
                <a:latin typeface="Calibri"/>
                <a:cs typeface="Calibri"/>
              </a:rPr>
              <a:t>multiple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classification</a:t>
            </a:r>
            <a:r>
              <a:rPr dirty="0" sz="1950" spc="-5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algorithms </a:t>
            </a:r>
            <a:r>
              <a:rPr dirty="0" sz="1950">
                <a:latin typeface="Calibri"/>
                <a:cs typeface="Calibri"/>
              </a:rPr>
              <a:t>such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Logistic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Regression,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Support</a:t>
            </a:r>
            <a:r>
              <a:rPr dirty="0" sz="1950" spc="85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Vector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Machine</a:t>
            </a:r>
            <a:r>
              <a:rPr dirty="0" sz="1950" spc="65">
                <a:latin typeface="Calibri"/>
                <a:cs typeface="Calibri"/>
              </a:rPr>
              <a:t> </a:t>
            </a:r>
            <a:r>
              <a:rPr dirty="0" sz="1950" spc="-105">
                <a:latin typeface="Calibri"/>
                <a:cs typeface="Calibri"/>
              </a:rPr>
              <a:t>(SVM),</a:t>
            </a:r>
            <a:r>
              <a:rPr dirty="0" sz="195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and</a:t>
            </a:r>
            <a:r>
              <a:rPr dirty="0" sz="1950" spc="-25">
                <a:latin typeface="Calibri"/>
                <a:cs typeface="Calibri"/>
              </a:rPr>
              <a:t> </a:t>
            </a:r>
            <a:r>
              <a:rPr dirty="0" sz="1950" spc="-45">
                <a:latin typeface="Calibri"/>
                <a:cs typeface="Calibri"/>
              </a:rPr>
              <a:t>K-</a:t>
            </a:r>
            <a:r>
              <a:rPr dirty="0" sz="1950" spc="-10">
                <a:latin typeface="Calibri"/>
                <a:cs typeface="Calibri"/>
              </a:rPr>
              <a:t>Nearest Neighbors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 spc="-40">
                <a:latin typeface="Calibri"/>
                <a:cs typeface="Calibri"/>
              </a:rPr>
              <a:t>(KNN)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-8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analyze</a:t>
            </a:r>
            <a:r>
              <a:rPr dirty="0" sz="1950" spc="-8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-90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compare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their</a:t>
            </a:r>
            <a:r>
              <a:rPr dirty="0" sz="1950" spc="-8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performance.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722342" y="7996849"/>
            <a:ext cx="5622925" cy="96583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4445">
              <a:lnSpc>
                <a:spcPct val="100499"/>
              </a:lnSpc>
              <a:spcBef>
                <a:spcPts val="85"/>
              </a:spcBef>
            </a:pPr>
            <a:r>
              <a:rPr dirty="0" sz="2050" spc="-20">
                <a:latin typeface="Calibri"/>
                <a:cs typeface="Calibri"/>
              </a:rPr>
              <a:t>The</a:t>
            </a:r>
            <a:r>
              <a:rPr dirty="0" sz="2050" spc="-8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goal</a:t>
            </a:r>
            <a:r>
              <a:rPr dirty="0" sz="2050" spc="-8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-2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to</a:t>
            </a:r>
            <a:r>
              <a:rPr dirty="0" sz="2050" spc="-95">
                <a:latin typeface="Calibri"/>
                <a:cs typeface="Calibri"/>
              </a:rPr>
              <a:t> </a:t>
            </a:r>
            <a:r>
              <a:rPr dirty="0" sz="2050" spc="-20">
                <a:latin typeface="Calibri"/>
                <a:cs typeface="Calibri"/>
              </a:rPr>
              <a:t>identify</a:t>
            </a:r>
            <a:r>
              <a:rPr dirty="0" sz="2050" spc="45">
                <a:latin typeface="Calibri"/>
                <a:cs typeface="Calibri"/>
              </a:rPr>
              <a:t> </a:t>
            </a:r>
            <a:r>
              <a:rPr dirty="0" sz="2050" spc="-20">
                <a:latin typeface="Calibri"/>
                <a:cs typeface="Calibri"/>
              </a:rPr>
              <a:t>the</a:t>
            </a:r>
            <a:r>
              <a:rPr dirty="0" sz="2050" spc="-7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most</a:t>
            </a:r>
            <a:r>
              <a:rPr dirty="0" sz="2050" spc="-8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efficient</a:t>
            </a:r>
            <a:r>
              <a:rPr dirty="0" sz="2050" spc="-30">
                <a:latin typeface="Calibri"/>
                <a:cs typeface="Calibri"/>
              </a:rPr>
              <a:t> algorithm</a:t>
            </a:r>
            <a:r>
              <a:rPr dirty="0" sz="2050" spc="45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for </a:t>
            </a:r>
            <a:r>
              <a:rPr dirty="0" sz="2050">
                <a:latin typeface="Calibri"/>
                <a:cs typeface="Calibri"/>
              </a:rPr>
              <a:t>spam</a:t>
            </a:r>
            <a:r>
              <a:rPr dirty="0" sz="2050" spc="-25">
                <a:latin typeface="Calibri"/>
                <a:cs typeface="Calibri"/>
              </a:rPr>
              <a:t> </a:t>
            </a:r>
            <a:r>
              <a:rPr dirty="0" sz="2050" spc="-20">
                <a:latin typeface="Calibri"/>
                <a:cs typeface="Calibri"/>
              </a:rPr>
              <a:t>detection</a:t>
            </a:r>
            <a:r>
              <a:rPr dirty="0" sz="2050" spc="-3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-70">
                <a:latin typeface="Calibri"/>
                <a:cs typeface="Calibri"/>
              </a:rPr>
              <a:t> </a:t>
            </a:r>
            <a:r>
              <a:rPr dirty="0" sz="2050" spc="-30">
                <a:latin typeface="Calibri"/>
                <a:cs typeface="Calibri"/>
              </a:rPr>
              <a:t>build</a:t>
            </a:r>
            <a:r>
              <a:rPr dirty="0" sz="2050" spc="-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</a:t>
            </a:r>
            <a:r>
              <a:rPr dirty="0" sz="2050" spc="-105">
                <a:latin typeface="Calibri"/>
                <a:cs typeface="Calibri"/>
              </a:rPr>
              <a:t> </a:t>
            </a:r>
            <a:r>
              <a:rPr dirty="0" sz="2050" spc="-35">
                <a:latin typeface="Calibri"/>
                <a:cs typeface="Calibri"/>
              </a:rPr>
              <a:t>reliable</a:t>
            </a:r>
            <a:r>
              <a:rPr dirty="0" sz="2050" spc="-2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model</a:t>
            </a:r>
            <a:r>
              <a:rPr dirty="0" sz="2050" spc="60">
                <a:latin typeface="Calibri"/>
                <a:cs typeface="Calibri"/>
              </a:rPr>
              <a:t> </a:t>
            </a:r>
            <a:r>
              <a:rPr dirty="0" sz="2050" spc="-40">
                <a:latin typeface="Calibri"/>
                <a:cs typeface="Calibri"/>
              </a:rPr>
              <a:t>that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can</a:t>
            </a:r>
            <a:r>
              <a:rPr dirty="0" sz="2050" spc="-65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be </a:t>
            </a:r>
            <a:r>
              <a:rPr dirty="0" sz="2050">
                <a:latin typeface="Calibri"/>
                <a:cs typeface="Calibri"/>
              </a:rPr>
              <a:t>used</a:t>
            </a:r>
            <a:r>
              <a:rPr dirty="0" sz="2050" spc="-2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for</a:t>
            </a:r>
            <a:r>
              <a:rPr dirty="0" sz="2050" spc="-75">
                <a:latin typeface="Calibri"/>
                <a:cs typeface="Calibri"/>
              </a:rPr>
              <a:t> </a:t>
            </a:r>
            <a:r>
              <a:rPr dirty="0" sz="2050" spc="-60">
                <a:latin typeface="Calibri"/>
                <a:cs typeface="Calibri"/>
              </a:rPr>
              <a:t>real-</a:t>
            </a:r>
            <a:r>
              <a:rPr dirty="0" sz="2050" spc="-20">
                <a:latin typeface="Calibri"/>
                <a:cs typeface="Calibri"/>
              </a:rPr>
              <a:t>world</a:t>
            </a:r>
            <a:r>
              <a:rPr dirty="0" sz="2050" spc="95">
                <a:latin typeface="Calibri"/>
                <a:cs typeface="Calibri"/>
              </a:rPr>
              <a:t> </a:t>
            </a:r>
            <a:r>
              <a:rPr dirty="0" sz="2050" spc="-35">
                <a:latin typeface="Calibri"/>
                <a:cs typeface="Calibri"/>
              </a:rPr>
              <a:t>email</a:t>
            </a:r>
            <a:r>
              <a:rPr dirty="0" sz="2050" spc="-2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filtering.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93362"/>
            <a:ext cx="8138159" cy="489363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1311" y="8611096"/>
            <a:ext cx="646176" cy="64598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78383" y="8099183"/>
            <a:ext cx="1926335" cy="218172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93567" y="8093090"/>
            <a:ext cx="1335024" cy="168809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19104" y="3662610"/>
            <a:ext cx="713231" cy="106648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11583" y="3406654"/>
            <a:ext cx="3340608" cy="135291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76431" y="1048200"/>
            <a:ext cx="3883152" cy="227922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020543" y="1042107"/>
            <a:ext cx="2157984" cy="11030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263871" y="1304157"/>
            <a:ext cx="664463" cy="82271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10186" y="278551"/>
            <a:ext cx="16812895" cy="763079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386715" marR="7364095" indent="-210185">
              <a:lnSpc>
                <a:spcPct val="101400"/>
              </a:lnSpc>
              <a:spcBef>
                <a:spcPts val="65"/>
              </a:spcBef>
              <a:buSzPct val="95121"/>
              <a:buAutoNum type="arabicPeriod"/>
              <a:tabLst>
                <a:tab pos="386715" algn="l"/>
                <a:tab pos="388620" algn="l"/>
              </a:tabLst>
            </a:pPr>
            <a:r>
              <a:rPr dirty="0" sz="2050">
                <a:latin typeface="Calibri"/>
                <a:cs typeface="Calibri"/>
              </a:rPr>
              <a:t>	</a:t>
            </a:r>
            <a:r>
              <a:rPr dirty="0" sz="2050" spc="50">
                <a:latin typeface="Calibri"/>
                <a:cs typeface="Calibri"/>
              </a:rPr>
              <a:t>This</a:t>
            </a:r>
            <a:r>
              <a:rPr dirty="0" sz="2050" spc="35">
                <a:latin typeface="Calibri"/>
                <a:cs typeface="Calibri"/>
              </a:rPr>
              <a:t> </a:t>
            </a:r>
            <a:r>
              <a:rPr dirty="0" sz="2050" spc="45">
                <a:latin typeface="Calibri"/>
                <a:cs typeface="Calibri"/>
              </a:rPr>
              <a:t>project</a:t>
            </a:r>
            <a:r>
              <a:rPr dirty="0" sz="2050" spc="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aims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to</a:t>
            </a:r>
            <a:r>
              <a:rPr dirty="0" sz="2050" spc="10">
                <a:latin typeface="Calibri"/>
                <a:cs typeface="Calibri"/>
              </a:rPr>
              <a:t> </a:t>
            </a:r>
            <a:r>
              <a:rPr dirty="0" sz="2050" spc="60">
                <a:latin typeface="Calibri"/>
                <a:cs typeface="Calibri"/>
              </a:rPr>
              <a:t>build</a:t>
            </a:r>
            <a:r>
              <a:rPr dirty="0" sz="2050" spc="20">
                <a:latin typeface="Calibri"/>
                <a:cs typeface="Calibri"/>
              </a:rPr>
              <a:t> </a:t>
            </a:r>
            <a:r>
              <a:rPr dirty="0" sz="2050" spc="75">
                <a:latin typeface="Calibri"/>
                <a:cs typeface="Calibri"/>
              </a:rPr>
              <a:t>a</a:t>
            </a:r>
            <a:r>
              <a:rPr dirty="0" sz="2050" spc="-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machine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learning</a:t>
            </a:r>
            <a:r>
              <a:rPr dirty="0" sz="2050" spc="105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system</a:t>
            </a:r>
            <a:r>
              <a:rPr dirty="0" sz="2050" spc="7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to</a:t>
            </a:r>
            <a:r>
              <a:rPr dirty="0" sz="2050" spc="90">
                <a:latin typeface="Calibri"/>
                <a:cs typeface="Calibri"/>
              </a:rPr>
              <a:t> </a:t>
            </a:r>
            <a:r>
              <a:rPr dirty="0" sz="2050" spc="60">
                <a:latin typeface="Calibri"/>
                <a:cs typeface="Calibri"/>
              </a:rPr>
              <a:t>classify</a:t>
            </a:r>
            <a:r>
              <a:rPr dirty="0" sz="2050" spc="1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emails</a:t>
            </a:r>
            <a:r>
              <a:rPr dirty="0" sz="2050" spc="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as</a:t>
            </a:r>
            <a:r>
              <a:rPr dirty="0" sz="2050" spc="35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spam</a:t>
            </a:r>
            <a:r>
              <a:rPr dirty="0" sz="2050" spc="85">
                <a:latin typeface="Calibri"/>
                <a:cs typeface="Calibri"/>
              </a:rPr>
              <a:t> </a:t>
            </a:r>
            <a:r>
              <a:rPr dirty="0" sz="2050" spc="-25">
                <a:latin typeface="Calibri"/>
                <a:cs typeface="Calibri"/>
              </a:rPr>
              <a:t>or </a:t>
            </a:r>
            <a:r>
              <a:rPr dirty="0" sz="2050" spc="50">
                <a:latin typeface="Calibri"/>
                <a:cs typeface="Calibri"/>
              </a:rPr>
              <a:t>not</a:t>
            </a:r>
            <a:r>
              <a:rPr dirty="0" sz="2050" spc="-4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spam</a:t>
            </a:r>
            <a:r>
              <a:rPr dirty="0" sz="2050" spc="1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(ham).</a:t>
            </a:r>
            <a:endParaRPr sz="2050">
              <a:latin typeface="Calibri"/>
              <a:cs typeface="Calibri"/>
            </a:endParaRPr>
          </a:p>
          <a:p>
            <a:pPr marL="388620" marR="7421245" indent="-210185">
              <a:lnSpc>
                <a:spcPts val="2470"/>
              </a:lnSpc>
              <a:spcBef>
                <a:spcPts val="60"/>
              </a:spcBef>
              <a:buSzPct val="95121"/>
              <a:buAutoNum type="arabicPeriod"/>
              <a:tabLst>
                <a:tab pos="388620" algn="l"/>
              </a:tabLst>
            </a:pPr>
            <a:r>
              <a:rPr dirty="0" sz="2050">
                <a:latin typeface="Calibri"/>
                <a:cs typeface="Calibri"/>
              </a:rPr>
              <a:t>It</a:t>
            </a:r>
            <a:r>
              <a:rPr dirty="0" sz="2050" spc="365">
                <a:latin typeface="Calibri"/>
                <a:cs typeface="Calibri"/>
              </a:rPr>
              <a:t> </a:t>
            </a:r>
            <a:r>
              <a:rPr dirty="0" sz="2050" spc="55">
                <a:latin typeface="Calibri"/>
                <a:cs typeface="Calibri"/>
              </a:rPr>
              <a:t>helps</a:t>
            </a:r>
            <a:r>
              <a:rPr dirty="0" sz="2050" spc="15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in</a:t>
            </a:r>
            <a:r>
              <a:rPr dirty="0" sz="2050" spc="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automatically</a:t>
            </a:r>
            <a:r>
              <a:rPr dirty="0" sz="2050" spc="3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filtering</a:t>
            </a:r>
            <a:r>
              <a:rPr dirty="0" sz="2050" spc="19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unwanted</a:t>
            </a:r>
            <a:r>
              <a:rPr dirty="0" sz="2050" spc="2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messages,</a:t>
            </a:r>
            <a:r>
              <a:rPr dirty="0" sz="2050" spc="17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improving</a:t>
            </a:r>
            <a:r>
              <a:rPr dirty="0" sz="2050" spc="180">
                <a:latin typeface="Calibri"/>
                <a:cs typeface="Calibri"/>
              </a:rPr>
              <a:t> </a:t>
            </a:r>
            <a:r>
              <a:rPr dirty="0" sz="2050" spc="55">
                <a:latin typeface="Calibri"/>
                <a:cs typeface="Calibri"/>
              </a:rPr>
              <a:t>user</a:t>
            </a:r>
            <a:r>
              <a:rPr dirty="0" sz="2050" spc="17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experience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6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security.</a:t>
            </a:r>
            <a:endParaRPr sz="2050">
              <a:latin typeface="Calibri"/>
              <a:cs typeface="Calibri"/>
            </a:endParaRPr>
          </a:p>
          <a:p>
            <a:pPr marL="377825" indent="-210185">
              <a:lnSpc>
                <a:spcPts val="2390"/>
              </a:lnSpc>
              <a:buSzPct val="95121"/>
              <a:buAutoNum type="arabicPeriod"/>
              <a:tabLst>
                <a:tab pos="377825" algn="l"/>
              </a:tabLst>
            </a:pPr>
            <a:r>
              <a:rPr dirty="0" sz="2050" spc="55">
                <a:latin typeface="Calibri"/>
                <a:cs typeface="Calibri"/>
              </a:rPr>
              <a:t>The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dataset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 spc="55">
                <a:latin typeface="Calibri"/>
                <a:cs typeface="Calibri"/>
              </a:rPr>
              <a:t>used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 spc="55">
                <a:latin typeface="Calibri"/>
                <a:cs typeface="Calibri"/>
              </a:rPr>
              <a:t>contains</a:t>
            </a:r>
            <a:r>
              <a:rPr dirty="0" sz="2050" spc="120">
                <a:latin typeface="Calibri"/>
                <a:cs typeface="Calibri"/>
              </a:rPr>
              <a:t> </a:t>
            </a:r>
            <a:r>
              <a:rPr dirty="0" sz="2050" spc="45">
                <a:latin typeface="Calibri"/>
                <a:cs typeface="Calibri"/>
              </a:rPr>
              <a:t>labeled</a:t>
            </a:r>
            <a:r>
              <a:rPr dirty="0" sz="2050" spc="12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messages</a:t>
            </a:r>
            <a:r>
              <a:rPr dirty="0" sz="2050" spc="13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(spam</a:t>
            </a:r>
            <a:r>
              <a:rPr dirty="0" sz="2050" spc="7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 spc="-20">
                <a:latin typeface="Calibri"/>
                <a:cs typeface="Calibri"/>
              </a:rPr>
              <a:t>ham).</a:t>
            </a:r>
            <a:endParaRPr sz="2050">
              <a:latin typeface="Calibri"/>
              <a:cs typeface="Calibri"/>
            </a:endParaRPr>
          </a:p>
          <a:p>
            <a:pPr marL="389255" indent="-214629">
              <a:lnSpc>
                <a:spcPct val="100000"/>
              </a:lnSpc>
              <a:spcBef>
                <a:spcPts val="10"/>
              </a:spcBef>
              <a:buSzPct val="95121"/>
              <a:buAutoNum type="arabicPeriod"/>
              <a:tabLst>
                <a:tab pos="389255" algn="l"/>
              </a:tabLst>
            </a:pPr>
            <a:r>
              <a:rPr dirty="0" sz="2050" spc="75">
                <a:latin typeface="Calibri"/>
                <a:cs typeface="Calibri"/>
              </a:rPr>
              <a:t>Data</a:t>
            </a:r>
            <a:r>
              <a:rPr dirty="0" sz="2050" spc="-85">
                <a:latin typeface="Calibri"/>
                <a:cs typeface="Calibri"/>
              </a:rPr>
              <a:t> </a:t>
            </a:r>
            <a:r>
              <a:rPr dirty="0" sz="2050" spc="45">
                <a:latin typeface="Calibri"/>
                <a:cs typeface="Calibri"/>
              </a:rPr>
              <a:t>preprocessing</a:t>
            </a:r>
            <a:r>
              <a:rPr dirty="0" sz="2050" spc="1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1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performed</a:t>
            </a:r>
            <a:r>
              <a:rPr dirty="0" sz="2050" spc="20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to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clean</a:t>
            </a:r>
            <a:r>
              <a:rPr dirty="0" sz="2050" spc="45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the</a:t>
            </a:r>
            <a:r>
              <a:rPr dirty="0" sz="2050" spc="1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text:</a:t>
            </a:r>
            <a:endParaRPr sz="2050">
              <a:latin typeface="Calibri"/>
              <a:cs typeface="Calibri"/>
            </a:endParaRPr>
          </a:p>
          <a:p>
            <a:pPr marL="384175" indent="-210185">
              <a:lnSpc>
                <a:spcPct val="100000"/>
              </a:lnSpc>
              <a:spcBef>
                <a:spcPts val="10"/>
              </a:spcBef>
              <a:buSzPct val="95121"/>
              <a:buAutoNum type="arabicPeriod"/>
              <a:tabLst>
                <a:tab pos="384175" algn="l"/>
              </a:tabLst>
            </a:pPr>
            <a:r>
              <a:rPr dirty="0" sz="2050" spc="60">
                <a:latin typeface="Calibri"/>
                <a:cs typeface="Calibri"/>
              </a:rPr>
              <a:t>Convert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text</a:t>
            </a:r>
            <a:r>
              <a:rPr dirty="0" sz="2050" spc="25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to</a:t>
            </a:r>
            <a:r>
              <a:rPr dirty="0" sz="2050" spc="-2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lowercase</a:t>
            </a:r>
            <a:endParaRPr sz="2050">
              <a:latin typeface="Calibri"/>
              <a:cs typeface="Calibri"/>
            </a:endParaRPr>
          </a:p>
          <a:p>
            <a:pPr marL="389255" indent="-222250">
              <a:lnSpc>
                <a:spcPct val="100000"/>
              </a:lnSpc>
              <a:spcBef>
                <a:spcPts val="40"/>
              </a:spcBef>
              <a:buSzPct val="95121"/>
              <a:buAutoNum type="arabicPeriod"/>
              <a:tabLst>
                <a:tab pos="389255" algn="l"/>
              </a:tabLst>
            </a:pPr>
            <a:r>
              <a:rPr dirty="0" sz="2050">
                <a:latin typeface="Calibri"/>
                <a:cs typeface="Calibri"/>
              </a:rPr>
              <a:t>Remove</a:t>
            </a:r>
            <a:r>
              <a:rPr dirty="0" sz="2050" spc="95">
                <a:latin typeface="Calibri"/>
                <a:cs typeface="Calibri"/>
              </a:rPr>
              <a:t> </a:t>
            </a:r>
            <a:r>
              <a:rPr dirty="0" sz="2050" spc="75">
                <a:latin typeface="Calibri"/>
                <a:cs typeface="Calibri"/>
              </a:rPr>
              <a:t>special</a:t>
            </a:r>
            <a:r>
              <a:rPr dirty="0" sz="2050" spc="-6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characters</a:t>
            </a:r>
            <a:endParaRPr sz="2050">
              <a:latin typeface="Calibri"/>
              <a:cs typeface="Calibri"/>
            </a:endParaRPr>
          </a:p>
          <a:p>
            <a:pPr marL="389255" indent="-202565">
              <a:lnSpc>
                <a:spcPct val="100000"/>
              </a:lnSpc>
              <a:spcBef>
                <a:spcPts val="10"/>
              </a:spcBef>
              <a:buSzPct val="95121"/>
              <a:buAutoNum type="arabicPeriod"/>
              <a:tabLst>
                <a:tab pos="389255" algn="l"/>
              </a:tabLst>
            </a:pPr>
            <a:r>
              <a:rPr dirty="0" sz="2050">
                <a:latin typeface="Calibri"/>
                <a:cs typeface="Calibri"/>
              </a:rPr>
              <a:t>Remove</a:t>
            </a:r>
            <a:r>
              <a:rPr dirty="0" sz="2050" spc="13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stopwords</a:t>
            </a:r>
            <a:endParaRPr sz="2050">
              <a:latin typeface="Calibri"/>
              <a:cs typeface="Calibri"/>
            </a:endParaRPr>
          </a:p>
          <a:p>
            <a:pPr marL="378460" marR="7513320" indent="-208279">
              <a:lnSpc>
                <a:spcPts val="2500"/>
              </a:lnSpc>
              <a:spcBef>
                <a:spcPts val="60"/>
              </a:spcBef>
              <a:buSzPct val="95121"/>
              <a:buAutoNum type="arabicPeriod"/>
              <a:tabLst>
                <a:tab pos="389255" algn="l"/>
              </a:tabLst>
            </a:pPr>
            <a:r>
              <a:rPr dirty="0" sz="2050">
                <a:latin typeface="Calibri"/>
                <a:cs typeface="Calibri"/>
              </a:rPr>
              <a:t>The</a:t>
            </a:r>
            <a:r>
              <a:rPr dirty="0" sz="2050" spc="18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cleaned</a:t>
            </a:r>
            <a:r>
              <a:rPr dirty="0" sz="2050" spc="2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text</a:t>
            </a:r>
            <a:r>
              <a:rPr dirty="0" sz="2050" spc="1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2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converted</a:t>
            </a:r>
            <a:r>
              <a:rPr dirty="0" sz="2050" spc="3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into</a:t>
            </a:r>
            <a:r>
              <a:rPr dirty="0" sz="2050" spc="12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numerical</a:t>
            </a:r>
            <a:r>
              <a:rPr dirty="0" sz="2050" spc="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form</a:t>
            </a:r>
            <a:r>
              <a:rPr dirty="0" sz="2050" spc="114">
                <a:latin typeface="Calibri"/>
                <a:cs typeface="Calibri"/>
              </a:rPr>
              <a:t> </a:t>
            </a:r>
            <a:r>
              <a:rPr dirty="0" sz="2050" spc="55">
                <a:latin typeface="Calibri"/>
                <a:cs typeface="Calibri"/>
              </a:rPr>
              <a:t>using</a:t>
            </a:r>
            <a:r>
              <a:rPr dirty="0" sz="2050" spc="11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TF-IDF,</a:t>
            </a:r>
            <a:r>
              <a:rPr dirty="0" sz="2050" spc="1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which</a:t>
            </a:r>
            <a:r>
              <a:rPr dirty="0" sz="2050" spc="155">
                <a:latin typeface="Calibri"/>
                <a:cs typeface="Calibri"/>
              </a:rPr>
              <a:t> </a:t>
            </a:r>
            <a:r>
              <a:rPr dirty="0" sz="2050" spc="40">
                <a:latin typeface="Calibri"/>
                <a:cs typeface="Calibri"/>
              </a:rPr>
              <a:t>highlights </a:t>
            </a:r>
            <a:r>
              <a:rPr dirty="0" sz="2050" spc="40">
                <a:latin typeface="Calibri"/>
                <a:cs typeface="Calibri"/>
              </a:rPr>
              <a:t>	</a:t>
            </a:r>
            <a:r>
              <a:rPr dirty="0" sz="2050">
                <a:latin typeface="Calibri"/>
                <a:cs typeface="Calibri"/>
              </a:rPr>
              <a:t>important</a:t>
            </a:r>
            <a:r>
              <a:rPr dirty="0" sz="2050" spc="44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words.</a:t>
            </a:r>
            <a:endParaRPr sz="2050">
              <a:latin typeface="Calibri"/>
              <a:cs typeface="Calibri"/>
            </a:endParaRPr>
          </a:p>
          <a:p>
            <a:pPr marL="372745" indent="-208279">
              <a:lnSpc>
                <a:spcPts val="2355"/>
              </a:lnSpc>
              <a:buSzPct val="95121"/>
              <a:buAutoNum type="arabicPeriod"/>
              <a:tabLst>
                <a:tab pos="372745" algn="l"/>
              </a:tabLst>
            </a:pPr>
            <a:r>
              <a:rPr dirty="0" sz="2050">
                <a:latin typeface="Calibri"/>
                <a:cs typeface="Calibri"/>
              </a:rPr>
              <a:t>Three</a:t>
            </a:r>
            <a:r>
              <a:rPr dirty="0" sz="2050" spc="2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algorithms</a:t>
            </a:r>
            <a:r>
              <a:rPr dirty="0" sz="2050" spc="29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are</a:t>
            </a:r>
            <a:r>
              <a:rPr dirty="0" sz="2050" spc="17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used:</a:t>
            </a:r>
            <a:endParaRPr sz="2050">
              <a:latin typeface="Calibri"/>
              <a:cs typeface="Calibri"/>
            </a:endParaRPr>
          </a:p>
          <a:p>
            <a:pPr marL="389255" indent="-376555">
              <a:lnSpc>
                <a:spcPts val="2455"/>
              </a:lnSpc>
              <a:spcBef>
                <a:spcPts val="35"/>
              </a:spcBef>
              <a:buSzPct val="95121"/>
              <a:buAutoNum type="arabicPeriod"/>
              <a:tabLst>
                <a:tab pos="389255" algn="l"/>
              </a:tabLst>
            </a:pPr>
            <a:r>
              <a:rPr dirty="0" sz="2050" spc="70">
                <a:latin typeface="Calibri"/>
                <a:cs typeface="Calibri"/>
              </a:rPr>
              <a:t>Logistic</a:t>
            </a:r>
            <a:r>
              <a:rPr dirty="0" sz="2050" spc="25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Regression</a:t>
            </a:r>
            <a:r>
              <a:rPr dirty="0" sz="2050" spc="21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(simple</a:t>
            </a:r>
            <a:r>
              <a:rPr dirty="0" sz="2050" spc="19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16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fast)</a:t>
            </a:r>
            <a:endParaRPr sz="2050">
              <a:latin typeface="Calibri"/>
              <a:cs typeface="Calibri"/>
            </a:endParaRPr>
          </a:p>
          <a:p>
            <a:pPr marL="399415" indent="-344170">
              <a:lnSpc>
                <a:spcPts val="2455"/>
              </a:lnSpc>
              <a:buSzPct val="95121"/>
              <a:buAutoNum type="arabicPeriod"/>
              <a:tabLst>
                <a:tab pos="399415" algn="l"/>
              </a:tabLst>
            </a:pPr>
            <a:r>
              <a:rPr dirty="0" sz="2050">
                <a:latin typeface="Calibri"/>
                <a:cs typeface="Calibri"/>
              </a:rPr>
              <a:t>Support</a:t>
            </a:r>
            <a:r>
              <a:rPr dirty="0" sz="2050" spc="27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Vector</a:t>
            </a:r>
            <a:r>
              <a:rPr dirty="0" sz="2050" spc="18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Machine</a:t>
            </a:r>
            <a:r>
              <a:rPr dirty="0" sz="2050" spc="18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(SVM)</a:t>
            </a:r>
            <a:r>
              <a:rPr dirty="0" sz="2050" spc="21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(high</a:t>
            </a:r>
            <a:r>
              <a:rPr dirty="0" sz="2050" spc="140">
                <a:latin typeface="Calibri"/>
                <a:cs typeface="Calibri"/>
              </a:rPr>
              <a:t> </a:t>
            </a:r>
            <a:r>
              <a:rPr dirty="0" sz="2050" spc="55">
                <a:latin typeface="Calibri"/>
                <a:cs typeface="Calibri"/>
              </a:rPr>
              <a:t>accuracy)</a:t>
            </a:r>
            <a:endParaRPr sz="205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10"/>
              </a:spcBef>
            </a:pPr>
            <a:r>
              <a:rPr dirty="0" sz="2050" spc="-55">
                <a:latin typeface="Calibri"/>
                <a:cs typeface="Calibri"/>
              </a:rPr>
              <a:t>12.</a:t>
            </a:r>
            <a:r>
              <a:rPr dirty="0" sz="2050" spc="-16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K-Nearest</a:t>
            </a:r>
            <a:r>
              <a:rPr dirty="0" sz="2050" spc="23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Neighbors</a:t>
            </a:r>
            <a:r>
              <a:rPr dirty="0" sz="2050" spc="204">
                <a:latin typeface="Calibri"/>
                <a:cs typeface="Calibri"/>
              </a:rPr>
              <a:t> </a:t>
            </a:r>
            <a:r>
              <a:rPr dirty="0" sz="2050" spc="60">
                <a:latin typeface="Calibri"/>
                <a:cs typeface="Calibri"/>
              </a:rPr>
              <a:t>(KNN)</a:t>
            </a:r>
            <a:r>
              <a:rPr dirty="0" sz="2050" spc="10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(based</a:t>
            </a:r>
            <a:r>
              <a:rPr dirty="0" sz="2050" spc="175">
                <a:latin typeface="Calibri"/>
                <a:cs typeface="Calibri"/>
              </a:rPr>
              <a:t> </a:t>
            </a:r>
            <a:r>
              <a:rPr dirty="0" sz="2050" spc="60">
                <a:latin typeface="Calibri"/>
                <a:cs typeface="Calibri"/>
              </a:rPr>
              <a:t>on</a:t>
            </a:r>
            <a:r>
              <a:rPr dirty="0" sz="2050" spc="2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similarity)</a:t>
            </a:r>
            <a:endParaRPr sz="205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  <a:spcBef>
                <a:spcPts val="35"/>
              </a:spcBef>
            </a:pPr>
            <a:r>
              <a:rPr dirty="0" sz="2050">
                <a:latin typeface="Calibri"/>
                <a:cs typeface="Calibri"/>
              </a:rPr>
              <a:t>13.The</a:t>
            </a:r>
            <a:r>
              <a:rPr dirty="0" sz="2050" spc="18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dataset</a:t>
            </a:r>
            <a:r>
              <a:rPr dirty="0" sz="2050" spc="14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is</a:t>
            </a:r>
            <a:r>
              <a:rPr dirty="0" sz="2050" spc="155">
                <a:latin typeface="Calibri"/>
                <a:cs typeface="Calibri"/>
              </a:rPr>
              <a:t> </a:t>
            </a:r>
            <a:r>
              <a:rPr dirty="0" sz="2050" spc="65">
                <a:latin typeface="Calibri"/>
                <a:cs typeface="Calibri"/>
              </a:rPr>
              <a:t>split</a:t>
            </a:r>
            <a:r>
              <a:rPr dirty="0" sz="2050" spc="9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into</a:t>
            </a:r>
            <a:r>
              <a:rPr dirty="0" sz="2050" spc="12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training</a:t>
            </a:r>
            <a:r>
              <a:rPr dirty="0" sz="2050" spc="22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175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testing</a:t>
            </a:r>
            <a:r>
              <a:rPr dirty="0" sz="2050" spc="145">
                <a:latin typeface="Calibri"/>
                <a:cs typeface="Calibri"/>
              </a:rPr>
              <a:t> </a:t>
            </a:r>
            <a:r>
              <a:rPr dirty="0" sz="2050" spc="65">
                <a:latin typeface="Calibri"/>
                <a:cs typeface="Calibri"/>
              </a:rPr>
              <a:t>data</a:t>
            </a:r>
            <a:r>
              <a:rPr dirty="0" sz="2050" spc="-10">
                <a:latin typeface="Calibri"/>
                <a:cs typeface="Calibri"/>
              </a:rPr>
              <a:t> </a:t>
            </a:r>
            <a:r>
              <a:rPr dirty="0" sz="2050" spc="50">
                <a:latin typeface="Calibri"/>
                <a:cs typeface="Calibri"/>
              </a:rPr>
              <a:t>to</a:t>
            </a:r>
            <a:r>
              <a:rPr dirty="0" sz="2050" spc="8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evaluate</a:t>
            </a:r>
            <a:r>
              <a:rPr dirty="0" sz="2050" spc="16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performance.</a:t>
            </a:r>
            <a:endParaRPr sz="2050">
              <a:latin typeface="Calibri"/>
              <a:cs typeface="Calibri"/>
            </a:endParaRPr>
          </a:p>
          <a:p>
            <a:pPr marL="12276455" marR="2345055" indent="-1091565">
              <a:lnSpc>
                <a:spcPct val="96900"/>
              </a:lnSpc>
              <a:spcBef>
                <a:spcPts val="2010"/>
              </a:spcBef>
            </a:pPr>
            <a:r>
              <a:rPr dirty="0" sz="2200">
                <a:latin typeface="Calibri"/>
                <a:cs typeface="Calibri"/>
              </a:rPr>
              <a:t>Models</a:t>
            </a:r>
            <a:r>
              <a:rPr dirty="0" sz="2200" spc="1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evaluated</a:t>
            </a:r>
            <a:r>
              <a:rPr dirty="0" sz="2200" spc="1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using: </a:t>
            </a:r>
            <a:r>
              <a:rPr dirty="0" sz="2300" spc="-10">
                <a:latin typeface="Calibri"/>
                <a:cs typeface="Calibri"/>
              </a:rPr>
              <a:t>Accuracy</a:t>
            </a:r>
            <a:r>
              <a:rPr dirty="0" sz="2300" spc="5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Precision</a:t>
            </a:r>
            <a:endParaRPr sz="2200">
              <a:latin typeface="Calibri"/>
              <a:cs typeface="Calibri"/>
            </a:endParaRPr>
          </a:p>
          <a:p>
            <a:pPr algn="ctr" marL="8849995">
              <a:lnSpc>
                <a:spcPts val="2580"/>
              </a:lnSpc>
            </a:pPr>
            <a:r>
              <a:rPr dirty="0" sz="2250" spc="45">
                <a:latin typeface="Calibri"/>
                <a:cs typeface="Calibri"/>
              </a:rPr>
              <a:t>Recall</a:t>
            </a:r>
            <a:endParaRPr sz="2250">
              <a:latin typeface="Calibri"/>
              <a:cs typeface="Calibri"/>
            </a:endParaRPr>
          </a:p>
          <a:p>
            <a:pPr algn="ctr" marL="8826500">
              <a:lnSpc>
                <a:spcPts val="2670"/>
              </a:lnSpc>
            </a:pPr>
            <a:r>
              <a:rPr dirty="0" sz="2300" spc="-50">
                <a:latin typeface="Calibri"/>
                <a:cs typeface="Calibri"/>
              </a:rPr>
              <a:t>F1-</a:t>
            </a:r>
            <a:r>
              <a:rPr dirty="0" sz="2300" spc="-10">
                <a:latin typeface="Calibri"/>
                <a:cs typeface="Calibri"/>
              </a:rPr>
              <a:t>score</a:t>
            </a:r>
            <a:endParaRPr sz="2300">
              <a:latin typeface="Calibri"/>
              <a:cs typeface="Calibri"/>
            </a:endParaRPr>
          </a:p>
          <a:p>
            <a:pPr algn="ctr" marL="8817610">
              <a:lnSpc>
                <a:spcPts val="2615"/>
              </a:lnSpc>
            </a:pPr>
            <a:r>
              <a:rPr dirty="0" sz="2200">
                <a:latin typeface="Calibri"/>
                <a:cs typeface="Calibri"/>
              </a:rPr>
              <a:t>Among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2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models,</a:t>
            </a:r>
            <a:r>
              <a:rPr dirty="0" sz="2200" spc="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SVM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gives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best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performance.</a:t>
            </a:r>
            <a:endParaRPr sz="2200">
              <a:latin typeface="Calibri"/>
              <a:cs typeface="Calibri"/>
            </a:endParaRPr>
          </a:p>
          <a:p>
            <a:pPr algn="ctr" marL="8840470">
              <a:lnSpc>
                <a:spcPct val="100000"/>
              </a:lnSpc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70">
                <a:latin typeface="Calibri"/>
                <a:cs typeface="Calibri"/>
              </a:rPr>
              <a:t>final</a:t>
            </a:r>
            <a:r>
              <a:rPr dirty="0" sz="2200" spc="-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105">
                <a:latin typeface="Calibri"/>
                <a:cs typeface="Calibri"/>
              </a:rPr>
              <a:t> </a:t>
            </a:r>
            <a:r>
              <a:rPr dirty="0" sz="2200" spc="55">
                <a:latin typeface="Calibri"/>
                <a:cs typeface="Calibri"/>
              </a:rPr>
              <a:t>can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45">
                <a:latin typeface="Calibri"/>
                <a:cs typeface="Calibri"/>
              </a:rPr>
              <a:t>predict</a:t>
            </a:r>
            <a:r>
              <a:rPr dirty="0" sz="2200" spc="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whether</a:t>
            </a:r>
            <a:r>
              <a:rPr dirty="0" sz="2200" spc="1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message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spam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not.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1108"/>
            <a:ext cx="18092928" cy="1008589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465093" y="630237"/>
            <a:ext cx="11877675" cy="5907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736590">
              <a:lnSpc>
                <a:spcPct val="100000"/>
              </a:lnSpc>
              <a:spcBef>
                <a:spcPts val="100"/>
              </a:spcBef>
            </a:pPr>
            <a:r>
              <a:rPr dirty="0" sz="2400" spc="55">
                <a:latin typeface="Calibri"/>
                <a:cs typeface="Calibri"/>
              </a:rPr>
              <a:t>Key</a:t>
            </a:r>
            <a:r>
              <a:rPr dirty="0" sz="2400" spc="229">
                <a:latin typeface="Calibri"/>
                <a:cs typeface="Calibri"/>
              </a:rPr>
              <a:t> </a:t>
            </a:r>
            <a:r>
              <a:rPr dirty="0" sz="2400" spc="80">
                <a:latin typeface="Calibri"/>
                <a:cs typeface="Calibri"/>
              </a:rPr>
              <a:t>Points: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>
              <a:latin typeface="Calibri"/>
              <a:cs typeface="Calibri"/>
            </a:endParaRPr>
          </a:p>
          <a:p>
            <a:pPr algn="ctr" marR="5737860">
              <a:lnSpc>
                <a:spcPts val="3085"/>
              </a:lnSpc>
            </a:pPr>
            <a:r>
              <a:rPr dirty="0" sz="2600">
                <a:latin typeface="Calibri"/>
                <a:cs typeface="Calibri"/>
              </a:rPr>
              <a:t>Simple</a:t>
            </a:r>
            <a:r>
              <a:rPr dirty="0" sz="2600" spc="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fast</a:t>
            </a:r>
            <a:endParaRPr sz="2600">
              <a:latin typeface="Calibri"/>
              <a:cs typeface="Calibri"/>
            </a:endParaRPr>
          </a:p>
          <a:p>
            <a:pPr algn="ctr" marL="499109" marR="6228080">
              <a:lnSpc>
                <a:spcPts val="3100"/>
              </a:lnSpc>
              <a:spcBef>
                <a:spcPts val="85"/>
              </a:spcBef>
            </a:pPr>
            <a:r>
              <a:rPr dirty="0" sz="2600" spc="-50">
                <a:latin typeface="Calibri"/>
                <a:cs typeface="Calibri"/>
              </a:rPr>
              <a:t>Works</a:t>
            </a:r>
            <a:r>
              <a:rPr dirty="0" sz="2600" spc="60">
                <a:latin typeface="Calibri"/>
                <a:cs typeface="Calibri"/>
              </a:rPr>
              <a:t> </a:t>
            </a:r>
            <a:r>
              <a:rPr dirty="0" sz="2600" spc="-125">
                <a:latin typeface="Calibri"/>
                <a:cs typeface="Calibri"/>
              </a:rPr>
              <a:t>weft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linearly</a:t>
            </a:r>
            <a:r>
              <a:rPr dirty="0" sz="2600" spc="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separable</a:t>
            </a:r>
            <a:r>
              <a:rPr dirty="0" sz="2600" spc="13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data </a:t>
            </a:r>
            <a:r>
              <a:rPr dirty="0" sz="2600">
                <a:latin typeface="Calibri"/>
                <a:cs typeface="Calibri"/>
              </a:rPr>
              <a:t>Easy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0">
                <a:latin typeface="Calibri"/>
                <a:cs typeface="Calibri"/>
              </a:rPr>
              <a:t> interpret</a:t>
            </a:r>
            <a:endParaRPr sz="2600">
              <a:latin typeface="Calibri"/>
              <a:cs typeface="Calibri"/>
            </a:endParaRPr>
          </a:p>
          <a:p>
            <a:pPr marL="12700" marR="146685">
              <a:lnSpc>
                <a:spcPct val="100499"/>
              </a:lnSpc>
              <a:spcBef>
                <a:spcPts val="3075"/>
              </a:spcBef>
            </a:pP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-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this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 spc="-40">
                <a:latin typeface="Calibri"/>
                <a:cs typeface="Calibri"/>
              </a:rPr>
              <a:t>project,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spc="-55">
                <a:latin typeface="Calibri"/>
                <a:cs typeface="Calibri"/>
              </a:rPr>
              <a:t>multiple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machine</a:t>
            </a:r>
            <a:r>
              <a:rPr dirty="0" sz="195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learning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classification</a:t>
            </a:r>
            <a:r>
              <a:rPr dirty="0" sz="1950" spc="-10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algorithms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are</a:t>
            </a:r>
            <a:r>
              <a:rPr dirty="0" sz="1950" spc="-8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used</a:t>
            </a:r>
            <a:r>
              <a:rPr dirty="0" sz="1950" spc="-7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to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identify</a:t>
            </a:r>
            <a:r>
              <a:rPr dirty="0" sz="1950" spc="100"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whether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an</a:t>
            </a:r>
            <a:r>
              <a:rPr dirty="0" sz="1950" spc="-85">
                <a:latin typeface="Calibri"/>
                <a:cs typeface="Calibri"/>
              </a:rPr>
              <a:t> </a:t>
            </a:r>
            <a:r>
              <a:rPr dirty="0" sz="1950" spc="-55">
                <a:latin typeface="Calibri"/>
                <a:cs typeface="Calibri"/>
              </a:rPr>
              <a:t>email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is</a:t>
            </a:r>
            <a:r>
              <a:rPr dirty="0" sz="1950" spc="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spam</a:t>
            </a:r>
            <a:r>
              <a:rPr dirty="0" sz="1950" spc="-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or</a:t>
            </a:r>
            <a:r>
              <a:rPr dirty="0" sz="1950" spc="-5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not. </a:t>
            </a:r>
            <a:r>
              <a:rPr dirty="0" sz="1950">
                <a:latin typeface="Calibri"/>
                <a:cs typeface="Calibri"/>
              </a:rPr>
              <a:t>Each</a:t>
            </a:r>
            <a:r>
              <a:rPr dirty="0" sz="1950" spc="-11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algorithm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follows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-11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different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approach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to</a:t>
            </a:r>
            <a:r>
              <a:rPr dirty="0" sz="1950" spc="-80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learn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patterns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from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the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data</a:t>
            </a:r>
            <a:r>
              <a:rPr dirty="0" sz="1950" spc="-3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and</a:t>
            </a:r>
            <a:r>
              <a:rPr dirty="0" sz="1950" spc="-65"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make</a:t>
            </a:r>
            <a:r>
              <a:rPr dirty="0" sz="1950" spc="-6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predictions.</a:t>
            </a:r>
            <a:endParaRPr sz="1950">
              <a:latin typeface="Calibri"/>
              <a:cs typeface="Calibri"/>
            </a:endParaRPr>
          </a:p>
          <a:p>
            <a:pPr marL="18415" marR="5080" indent="-3175">
              <a:lnSpc>
                <a:spcPct val="111400"/>
              </a:lnSpc>
              <a:spcBef>
                <a:spcPts val="2225"/>
              </a:spcBef>
            </a:pPr>
            <a:r>
              <a:rPr dirty="0" sz="1750">
                <a:latin typeface="Arial MT"/>
                <a:cs typeface="Arial MT"/>
              </a:rPr>
              <a:t>Using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multiple</a:t>
            </a:r>
            <a:r>
              <a:rPr dirty="0" sz="1750" spc="5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algorithms</a:t>
            </a:r>
            <a:r>
              <a:rPr dirty="0" sz="1750" spc="114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helps</a:t>
            </a:r>
            <a:r>
              <a:rPr dirty="0" sz="1750" spc="-6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in</a:t>
            </a:r>
            <a:r>
              <a:rPr dirty="0" sz="1750" spc="-6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comparing</a:t>
            </a:r>
            <a:r>
              <a:rPr dirty="0" sz="1750" spc="3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their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performance</a:t>
            </a:r>
            <a:r>
              <a:rPr dirty="0" sz="1750" spc="15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and</a:t>
            </a:r>
            <a:r>
              <a:rPr dirty="0" sz="1750" spc="-1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selecting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the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most</a:t>
            </a:r>
            <a:r>
              <a:rPr dirty="0" sz="1750" spc="-1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accurate</a:t>
            </a:r>
            <a:r>
              <a:rPr dirty="0" sz="1750" spc="11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and</a:t>
            </a:r>
            <a:r>
              <a:rPr dirty="0" sz="1750" spc="-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efficient</a:t>
            </a:r>
            <a:r>
              <a:rPr dirty="0" sz="1750" spc="10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model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for </a:t>
            </a:r>
            <a:r>
              <a:rPr dirty="0" sz="1750">
                <a:latin typeface="Arial MT"/>
                <a:cs typeface="Arial MT"/>
              </a:rPr>
              <a:t>spam</a:t>
            </a:r>
            <a:r>
              <a:rPr dirty="0" sz="1750" spc="-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detection.</a:t>
            </a:r>
            <a:r>
              <a:rPr dirty="0" sz="1750" spc="-125">
                <a:latin typeface="Arial MT"/>
                <a:cs typeface="Arial MT"/>
              </a:rPr>
              <a:t> </a:t>
            </a:r>
            <a:r>
              <a:rPr dirty="0" sz="1750" spc="-35">
                <a:latin typeface="Arial MT"/>
                <a:cs typeface="Arial MT"/>
              </a:rPr>
              <a:t>These </a:t>
            </a:r>
            <a:r>
              <a:rPr dirty="0" sz="1750">
                <a:latin typeface="Arial MT"/>
                <a:cs typeface="Arial MT"/>
              </a:rPr>
              <a:t>algorithms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are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trained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on</a:t>
            </a:r>
            <a:r>
              <a:rPr dirty="0" sz="1750" spc="-9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preprocessed</a:t>
            </a:r>
            <a:r>
              <a:rPr dirty="0" sz="1750" spc="6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text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data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and</a:t>
            </a:r>
            <a:r>
              <a:rPr dirty="0" sz="1750" spc="-65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evaluated</a:t>
            </a:r>
            <a:r>
              <a:rPr dirty="0" sz="1750" spc="2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using</a:t>
            </a:r>
            <a:r>
              <a:rPr dirty="0" sz="1750" spc="-8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standard</a:t>
            </a:r>
            <a:r>
              <a:rPr dirty="0" sz="1750" spc="4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performance metrics.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75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</a:pPr>
            <a:r>
              <a:rPr dirty="0" sz="1950" spc="-40">
                <a:latin typeface="Calibri"/>
                <a:cs typeface="Calibri"/>
              </a:rPr>
              <a:t>The following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are</a:t>
            </a:r>
            <a:r>
              <a:rPr dirty="0" sz="1950" spc="-8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the</a:t>
            </a:r>
            <a:r>
              <a:rPr dirty="0" sz="1950" spc="-45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machine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 spc="-30">
                <a:latin typeface="Calibri"/>
                <a:cs typeface="Calibri"/>
              </a:rPr>
              <a:t>learning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algorithms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used</a:t>
            </a:r>
            <a:r>
              <a:rPr dirty="0" sz="1950" spc="-7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-10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this</a:t>
            </a:r>
            <a:r>
              <a:rPr dirty="0" sz="1950" spc="-7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project:</a:t>
            </a:r>
            <a:endParaRPr sz="1950">
              <a:latin typeface="Calibri"/>
              <a:cs typeface="Calibri"/>
            </a:endParaRPr>
          </a:p>
          <a:p>
            <a:pPr marL="109855">
              <a:lnSpc>
                <a:spcPts val="2320"/>
              </a:lnSpc>
              <a:spcBef>
                <a:spcPts val="10"/>
              </a:spcBef>
            </a:pPr>
            <a:r>
              <a:rPr dirty="0" sz="1950" spc="-335">
                <a:latin typeface="Calibri"/>
                <a:cs typeface="Calibri"/>
              </a:rPr>
              <a:t>1.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Logistic</a:t>
            </a:r>
            <a:r>
              <a:rPr dirty="0" sz="1950" spc="6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Regression</a:t>
            </a:r>
            <a:endParaRPr sz="1950">
              <a:latin typeface="Calibri"/>
              <a:cs typeface="Calibri"/>
            </a:endParaRPr>
          </a:p>
          <a:p>
            <a:pPr marL="12700" marR="5786120" indent="3810">
              <a:lnSpc>
                <a:spcPts val="2300"/>
              </a:lnSpc>
              <a:spcBef>
                <a:spcPts val="95"/>
              </a:spcBef>
              <a:tabLst>
                <a:tab pos="1748155" algn="l"/>
              </a:tabLst>
            </a:pP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supervised</a:t>
            </a:r>
            <a:r>
              <a:rPr dirty="0" sz="1950" spc="-30">
                <a:latin typeface="Calibri"/>
                <a:cs typeface="Calibri"/>
              </a:rPr>
              <a:t> learning</a:t>
            </a:r>
            <a:r>
              <a:rPr dirty="0" sz="1950">
                <a:latin typeface="Calibri"/>
                <a:cs typeface="Calibri"/>
              </a:rPr>
              <a:t> </a:t>
            </a:r>
            <a:r>
              <a:rPr dirty="0" sz="1950" spc="-35">
                <a:latin typeface="Calibri"/>
                <a:cs typeface="Calibri"/>
              </a:rPr>
              <a:t>algorithm</a:t>
            </a:r>
            <a:r>
              <a:rPr dirty="0" sz="1950" spc="-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used</a:t>
            </a:r>
            <a:r>
              <a:rPr dirty="0" sz="1950" spc="-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for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binary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classification </a:t>
            </a:r>
            <a:r>
              <a:rPr dirty="0" sz="1950">
                <a:latin typeface="Calibri"/>
                <a:cs typeface="Calibri"/>
              </a:rPr>
              <a:t>Predicts</a:t>
            </a:r>
            <a:r>
              <a:rPr dirty="0" sz="1950" spc="-3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proba</a:t>
            </a:r>
            <a:r>
              <a:rPr dirty="0" sz="1950">
                <a:latin typeface="Calibri"/>
                <a:cs typeface="Calibri"/>
              </a:rPr>
              <a:t>	ty</a:t>
            </a:r>
            <a:r>
              <a:rPr dirty="0" sz="1950" spc="-40">
                <a:latin typeface="Calibri"/>
                <a:cs typeface="Calibri"/>
              </a:rPr>
              <a:t> between</a:t>
            </a:r>
            <a:r>
              <a:rPr dirty="0" sz="1950" spc="114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0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 spc="-60">
                <a:latin typeface="Calibri"/>
                <a:cs typeface="Calibri"/>
              </a:rPr>
              <a:t>and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 spc="-595">
                <a:latin typeface="Calibri"/>
                <a:cs typeface="Calibri"/>
              </a:rPr>
              <a:t>1</a:t>
            </a:r>
            <a:r>
              <a:rPr dirty="0" sz="1950" spc="1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using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-7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sigmoid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function</a:t>
            </a:r>
            <a:endParaRPr sz="1950">
              <a:latin typeface="Calibri"/>
              <a:cs typeface="Calibri"/>
            </a:endParaRPr>
          </a:p>
          <a:p>
            <a:pPr marL="15240">
              <a:lnSpc>
                <a:spcPts val="2285"/>
              </a:lnSpc>
            </a:pPr>
            <a:r>
              <a:rPr dirty="0" sz="1950">
                <a:latin typeface="Calibri"/>
                <a:cs typeface="Calibri"/>
              </a:rPr>
              <a:t>Classifies </a:t>
            </a:r>
            <a:r>
              <a:rPr dirty="0" sz="1950" spc="-25">
                <a:latin typeface="Calibri"/>
                <a:cs typeface="Calibri"/>
              </a:rPr>
              <a:t>data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into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two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classes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 spc="-135">
                <a:latin typeface="Calibri"/>
                <a:cs typeface="Calibri"/>
              </a:rPr>
              <a:t>(e.g.,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spam</a:t>
            </a:r>
            <a:r>
              <a:rPr dirty="0" sz="1950" spc="65">
                <a:latin typeface="Calibri"/>
                <a:cs typeface="Calibri"/>
              </a:rPr>
              <a:t> </a:t>
            </a:r>
            <a:r>
              <a:rPr dirty="0" sz="1950" spc="-180">
                <a:latin typeface="Calibri"/>
                <a:cs typeface="Calibri"/>
              </a:rPr>
              <a:t>/</a:t>
            </a:r>
            <a:r>
              <a:rPr dirty="0" sz="1950" spc="-10">
                <a:latin typeface="Calibri"/>
                <a:cs typeface="Calibri"/>
              </a:rPr>
              <a:t> not</a:t>
            </a:r>
            <a:r>
              <a:rPr dirty="0" sz="1950" spc="-2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spam)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256381" y="6882119"/>
            <a:ext cx="2703195" cy="2468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320"/>
              </a:lnSpc>
              <a:spcBef>
                <a:spcPts val="95"/>
              </a:spcBef>
            </a:pPr>
            <a:r>
              <a:rPr dirty="0" sz="9750" spc="-595">
                <a:latin typeface="Arial MT"/>
                <a:cs typeface="Arial MT"/>
              </a:rPr>
              <a:t>escri</a:t>
            </a:r>
            <a:endParaRPr sz="9750">
              <a:latin typeface="Arial MT"/>
              <a:cs typeface="Arial MT"/>
            </a:endParaRPr>
          </a:p>
          <a:p>
            <a:pPr marL="224154">
              <a:lnSpc>
                <a:spcPts val="9920"/>
              </a:lnSpc>
            </a:pPr>
            <a:r>
              <a:rPr dirty="0" sz="10250" spc="254">
                <a:latin typeface="Calibri"/>
                <a:cs typeface="Calibri"/>
              </a:rPr>
              <a:t>e</a:t>
            </a:r>
            <a:r>
              <a:rPr dirty="0" sz="10250" spc="-1305">
                <a:latin typeface="Calibri"/>
                <a:cs typeface="Calibri"/>
              </a:rPr>
              <a:t> </a:t>
            </a:r>
            <a:r>
              <a:rPr dirty="0" sz="10250" spc="-305">
                <a:latin typeface="Calibri"/>
                <a:cs typeface="Calibri"/>
              </a:rPr>
              <a:t>mo</a:t>
            </a:r>
            <a:endParaRPr sz="10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9917"/>
            <a:ext cx="4578096" cy="925708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5840" y="3522443"/>
            <a:ext cx="1078991" cy="119446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667018" y="1161703"/>
            <a:ext cx="6844665" cy="222567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350"/>
              </a:spcBef>
            </a:pPr>
            <a:r>
              <a:rPr dirty="0" sz="1850" spc="50">
                <a:latin typeface="Arial MT"/>
                <a:cs typeface="Arial MT"/>
              </a:rPr>
              <a:t>2.</a:t>
            </a:r>
            <a:r>
              <a:rPr dirty="0" sz="1850" spc="-235">
                <a:latin typeface="Arial MT"/>
                <a:cs typeface="Arial MT"/>
              </a:rPr>
              <a:t> </a:t>
            </a:r>
            <a:r>
              <a:rPr dirty="0" sz="1850" spc="75">
                <a:latin typeface="Arial MT"/>
                <a:cs typeface="Arial MT"/>
              </a:rPr>
              <a:t>Support</a:t>
            </a:r>
            <a:r>
              <a:rPr dirty="0" sz="1850" spc="1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Vector</a:t>
            </a:r>
            <a:r>
              <a:rPr dirty="0" sz="1850" spc="65">
                <a:latin typeface="Arial MT"/>
                <a:cs typeface="Arial MT"/>
              </a:rPr>
              <a:t> </a:t>
            </a:r>
            <a:r>
              <a:rPr dirty="0" sz="1850" spc="55">
                <a:latin typeface="Arial MT"/>
                <a:cs typeface="Arial MT"/>
              </a:rPr>
              <a:t>Machine</a:t>
            </a:r>
            <a:r>
              <a:rPr dirty="0" sz="1850" spc="5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(SVM)</a:t>
            </a:r>
            <a:endParaRPr sz="185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250"/>
              </a:spcBef>
            </a:pPr>
            <a:r>
              <a:rPr dirty="0" sz="1850" spc="-80">
                <a:latin typeface="Arial MT"/>
                <a:cs typeface="Arial MT"/>
              </a:rPr>
              <a:t>A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supervised</a:t>
            </a:r>
            <a:r>
              <a:rPr dirty="0" sz="185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learning</a:t>
            </a:r>
            <a:r>
              <a:rPr dirty="0" sz="1850" spc="-85"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algorithm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used</a:t>
            </a:r>
            <a:r>
              <a:rPr dirty="0" sz="1850" spc="-85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for</a:t>
            </a:r>
            <a:r>
              <a:rPr dirty="0" sz="1850" spc="160">
                <a:latin typeface="Arial MT"/>
                <a:cs typeface="Arial MT"/>
              </a:rPr>
              <a:t> </a:t>
            </a:r>
            <a:r>
              <a:rPr dirty="0" sz="1850" spc="70">
                <a:latin typeface="Arial MT"/>
                <a:cs typeface="Arial MT"/>
              </a:rPr>
              <a:t>classification</a:t>
            </a:r>
            <a:endParaRPr sz="1850">
              <a:latin typeface="Arial MT"/>
              <a:cs typeface="Arial MT"/>
            </a:endParaRPr>
          </a:p>
          <a:p>
            <a:pPr marL="14604" marR="5080" indent="-2540">
              <a:lnSpc>
                <a:spcPts val="2500"/>
              </a:lnSpc>
              <a:spcBef>
                <a:spcPts val="100"/>
              </a:spcBef>
            </a:pPr>
            <a:r>
              <a:rPr dirty="0" sz="1850">
                <a:latin typeface="Arial MT"/>
                <a:cs typeface="Arial MT"/>
              </a:rPr>
              <a:t>Finds</a:t>
            </a:r>
            <a:r>
              <a:rPr dirty="0" sz="1850" spc="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the</a:t>
            </a:r>
            <a:r>
              <a:rPr dirty="0" sz="1850" spc="180"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optimal</a:t>
            </a:r>
            <a:r>
              <a:rPr dirty="0" sz="1850" spc="65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hgperplane</a:t>
            </a:r>
            <a:r>
              <a:rPr dirty="0" sz="1850" spc="145">
                <a:latin typeface="Arial MT"/>
                <a:cs typeface="Arial MT"/>
              </a:rPr>
              <a:t> </a:t>
            </a:r>
            <a:r>
              <a:rPr dirty="0" sz="1850" spc="110">
                <a:latin typeface="Arial MT"/>
                <a:cs typeface="Arial MT"/>
              </a:rPr>
              <a:t>that</a:t>
            </a:r>
            <a:r>
              <a:rPr dirty="0" sz="1850" spc="9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separates</a:t>
            </a:r>
            <a:r>
              <a:rPr dirty="0" sz="1850" spc="18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data</a:t>
            </a:r>
            <a:r>
              <a:rPr dirty="0" sz="1850" spc="-10">
                <a:latin typeface="Arial MT"/>
                <a:cs typeface="Arial MT"/>
              </a:rPr>
              <a:t> </a:t>
            </a:r>
            <a:r>
              <a:rPr dirty="0" sz="1850" spc="105">
                <a:latin typeface="Arial MT"/>
                <a:cs typeface="Arial MT"/>
              </a:rPr>
              <a:t>into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classes </a:t>
            </a:r>
            <a:r>
              <a:rPr dirty="0" sz="1850">
                <a:latin typeface="Arial MT"/>
                <a:cs typeface="Arial MT"/>
              </a:rPr>
              <a:t>Key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 spc="40">
                <a:latin typeface="Arial MT"/>
                <a:cs typeface="Arial MT"/>
              </a:rPr>
              <a:t>Points:</a:t>
            </a:r>
            <a:endParaRPr sz="18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dirty="0" sz="1850" spc="50">
                <a:latin typeface="Arial MT"/>
                <a:cs typeface="Arial MT"/>
              </a:rPr>
              <a:t>Works </a:t>
            </a:r>
            <a:r>
              <a:rPr dirty="0" sz="1850" spc="75">
                <a:latin typeface="Arial MT"/>
                <a:cs typeface="Arial MT"/>
              </a:rPr>
              <a:t>well</a:t>
            </a:r>
            <a:r>
              <a:rPr dirty="0" sz="1850" spc="10">
                <a:latin typeface="Arial MT"/>
                <a:cs typeface="Arial MT"/>
              </a:rPr>
              <a:t> </a:t>
            </a:r>
            <a:r>
              <a:rPr dirty="0" sz="1850" spc="114">
                <a:latin typeface="Arial MT"/>
                <a:cs typeface="Arial MT"/>
              </a:rPr>
              <a:t>with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high-</a:t>
            </a:r>
            <a:r>
              <a:rPr dirty="0" sz="1850" spc="75">
                <a:latin typeface="Arial MT"/>
                <a:cs typeface="Arial MT"/>
              </a:rPr>
              <a:t>dimensional</a:t>
            </a:r>
            <a:r>
              <a:rPr dirty="0" sz="1850" spc="-11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data</a:t>
            </a:r>
            <a:r>
              <a:rPr dirty="0" sz="1850" spc="-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(like</a:t>
            </a:r>
            <a:r>
              <a:rPr dirty="0" sz="1850" spc="-55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text)</a:t>
            </a:r>
            <a:endParaRPr sz="1850">
              <a:latin typeface="Arial MT"/>
              <a:cs typeface="Arial MT"/>
            </a:endParaRPr>
          </a:p>
          <a:p>
            <a:pPr marL="13335" marR="1753235" indent="-635">
              <a:lnSpc>
                <a:spcPct val="111300"/>
              </a:lnSpc>
              <a:spcBef>
                <a:spcPts val="25"/>
              </a:spcBef>
            </a:pPr>
            <a:r>
              <a:rPr dirty="0" sz="1850">
                <a:latin typeface="Arial MT"/>
                <a:cs typeface="Arial MT"/>
              </a:rPr>
              <a:t>Uses</a:t>
            </a:r>
            <a:r>
              <a:rPr dirty="0" sz="1850" spc="5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kernel</a:t>
            </a:r>
            <a:r>
              <a:rPr dirty="0" sz="1850" spc="65">
                <a:latin typeface="Arial MT"/>
                <a:cs typeface="Arial MT"/>
              </a:rPr>
              <a:t> </a:t>
            </a:r>
            <a:r>
              <a:rPr dirty="0" sz="1850" spc="90">
                <a:latin typeface="Arial MT"/>
                <a:cs typeface="Arial MT"/>
              </a:rPr>
              <a:t>functions</a:t>
            </a:r>
            <a:r>
              <a:rPr dirty="0" sz="1850" spc="1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(linear,</a:t>
            </a:r>
            <a:r>
              <a:rPr dirty="0" sz="1850" spc="-110">
                <a:latin typeface="Arial MT"/>
                <a:cs typeface="Arial MT"/>
              </a:rPr>
              <a:t> </a:t>
            </a:r>
            <a:r>
              <a:rPr dirty="0" sz="1850" spc="60">
                <a:latin typeface="Arial MT"/>
                <a:cs typeface="Arial MT"/>
              </a:rPr>
              <a:t>polynomial,</a:t>
            </a:r>
            <a:r>
              <a:rPr dirty="0" sz="1850" spc="-125">
                <a:latin typeface="Arial MT"/>
                <a:cs typeface="Arial MT"/>
              </a:rPr>
              <a:t> </a:t>
            </a:r>
            <a:r>
              <a:rPr dirty="0" sz="1850" spc="-60">
                <a:latin typeface="Arial MT"/>
                <a:cs typeface="Arial MT"/>
              </a:rPr>
              <a:t>RBF) </a:t>
            </a:r>
            <a:r>
              <a:rPr dirty="0" sz="1850">
                <a:latin typeface="Arial MT"/>
                <a:cs typeface="Arial MT"/>
              </a:rPr>
              <a:t>Provides</a:t>
            </a:r>
            <a:r>
              <a:rPr dirty="0" sz="1850" spc="220">
                <a:latin typeface="Arial MT"/>
                <a:cs typeface="Arial MT"/>
              </a:rPr>
              <a:t> </a:t>
            </a:r>
            <a:r>
              <a:rPr dirty="0" sz="1850" spc="70">
                <a:latin typeface="Arial MT"/>
                <a:cs typeface="Arial MT"/>
              </a:rPr>
              <a:t>high </a:t>
            </a:r>
            <a:r>
              <a:rPr dirty="0" sz="1850" spc="45">
                <a:latin typeface="Arial MT"/>
                <a:cs typeface="Arial MT"/>
              </a:rPr>
              <a:t>accuracy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59390" y="4306305"/>
            <a:ext cx="4876165" cy="222885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350"/>
              </a:spcBef>
            </a:pPr>
            <a:r>
              <a:rPr dirty="0" sz="1850" spc="-85">
                <a:latin typeface="Arial MT"/>
                <a:cs typeface="Arial MT"/>
              </a:rPr>
              <a:t>Z.</a:t>
            </a:r>
            <a:r>
              <a:rPr dirty="0" sz="1850" spc="-1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K-Nearest</a:t>
            </a:r>
            <a:r>
              <a:rPr dirty="0" sz="1850" spc="18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Neighbors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(KNN)</a:t>
            </a:r>
            <a:endParaRPr sz="1850">
              <a:latin typeface="Arial MT"/>
              <a:cs typeface="Arial MT"/>
            </a:endParaRPr>
          </a:p>
          <a:p>
            <a:pPr marL="13335" marR="5080" indent="5715">
              <a:lnSpc>
                <a:spcPct val="111300"/>
              </a:lnSpc>
            </a:pPr>
            <a:r>
              <a:rPr dirty="0" sz="1850" spc="-80">
                <a:latin typeface="Arial MT"/>
                <a:cs typeface="Arial MT"/>
              </a:rPr>
              <a:t>A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lazy</a:t>
            </a:r>
            <a:r>
              <a:rPr dirty="0" sz="1850" spc="9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learning</a:t>
            </a:r>
            <a:r>
              <a:rPr dirty="0" sz="1850" spc="-100"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algorithm</a:t>
            </a:r>
            <a:r>
              <a:rPr dirty="0" sz="1850" spc="1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(no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 spc="85">
                <a:latin typeface="Arial MT"/>
                <a:cs typeface="Arial MT"/>
              </a:rPr>
              <a:t>training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phase) </a:t>
            </a:r>
            <a:r>
              <a:rPr dirty="0" sz="1850">
                <a:latin typeface="Arial MT"/>
                <a:cs typeface="Arial MT"/>
              </a:rPr>
              <a:t>Classifies</a:t>
            </a:r>
            <a:r>
              <a:rPr dirty="0" sz="1850" spc="135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data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 spc="55">
                <a:latin typeface="Arial MT"/>
                <a:cs typeface="Arial MT"/>
              </a:rPr>
              <a:t>based</a:t>
            </a:r>
            <a:r>
              <a:rPr dirty="0" sz="1850">
                <a:latin typeface="Arial MT"/>
                <a:cs typeface="Arial MT"/>
              </a:rPr>
              <a:t> </a:t>
            </a:r>
            <a:r>
              <a:rPr dirty="0" sz="1850" spc="75">
                <a:latin typeface="Arial MT"/>
                <a:cs typeface="Arial MT"/>
              </a:rPr>
              <a:t>on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 spc="55">
                <a:latin typeface="Arial MT"/>
                <a:cs typeface="Arial MT"/>
              </a:rPr>
              <a:t>nearest</a:t>
            </a:r>
            <a:r>
              <a:rPr dirty="0" sz="1850" spc="90">
                <a:latin typeface="Arial MT"/>
                <a:cs typeface="Arial MT"/>
              </a:rPr>
              <a:t> </a:t>
            </a:r>
            <a:r>
              <a:rPr dirty="0" sz="1850" spc="60">
                <a:latin typeface="Arial MT"/>
                <a:cs typeface="Arial MT"/>
              </a:rPr>
              <a:t>neighbors</a:t>
            </a:r>
            <a:endParaRPr sz="18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latin typeface="Arial MT"/>
                <a:cs typeface="Arial MT"/>
              </a:rPr>
              <a:t>Keg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60">
                <a:latin typeface="Arial MT"/>
                <a:cs typeface="Arial MT"/>
              </a:rPr>
              <a:t>Points:</a:t>
            </a:r>
            <a:endParaRPr sz="1800">
              <a:latin typeface="Arial MT"/>
              <a:cs typeface="Arial MT"/>
            </a:endParaRPr>
          </a:p>
          <a:p>
            <a:pPr marL="13970" marR="2047875" indent="-1905">
              <a:lnSpc>
                <a:spcPts val="2470"/>
              </a:lnSpc>
              <a:spcBef>
                <a:spcPts val="110"/>
              </a:spcBef>
            </a:pPr>
            <a:r>
              <a:rPr dirty="0" sz="1850">
                <a:latin typeface="Arial MT"/>
                <a:cs typeface="Arial MT"/>
              </a:rPr>
              <a:t>Uses </a:t>
            </a:r>
            <a:r>
              <a:rPr dirty="0" sz="1850" spc="60">
                <a:latin typeface="Arial MT"/>
                <a:cs typeface="Arial MT"/>
              </a:rPr>
              <a:t>distance</a:t>
            </a:r>
            <a:r>
              <a:rPr dirty="0" sz="1850" spc="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(Euclidean) </a:t>
            </a:r>
            <a:r>
              <a:rPr dirty="0" sz="1850">
                <a:latin typeface="Arial MT"/>
                <a:cs typeface="Arial MT"/>
              </a:rPr>
              <a:t>Simple</a:t>
            </a:r>
            <a:r>
              <a:rPr dirty="0" sz="1850" spc="7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265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understand</a:t>
            </a:r>
            <a:endParaRPr sz="18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80"/>
              </a:spcBef>
            </a:pPr>
            <a:r>
              <a:rPr dirty="0" sz="1850">
                <a:latin typeface="Arial MT"/>
                <a:cs typeface="Arial MT"/>
              </a:rPr>
              <a:t>Slow</a:t>
            </a:r>
            <a:r>
              <a:rPr dirty="0" sz="1850" spc="1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for</a:t>
            </a:r>
            <a:r>
              <a:rPr dirty="0" sz="1850" spc="37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large</a:t>
            </a:r>
            <a:r>
              <a:rPr dirty="0" sz="1850" spc="95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datasets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533710" y="7444816"/>
            <a:ext cx="4803775" cy="222567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350"/>
              </a:spcBef>
            </a:pPr>
            <a:r>
              <a:rPr dirty="0" sz="1850">
                <a:latin typeface="Calibri"/>
                <a:cs typeface="Calibri"/>
              </a:rPr>
              <a:t>4.</a:t>
            </a:r>
            <a:r>
              <a:rPr dirty="0" sz="1850" spc="120">
                <a:latin typeface="Calibri"/>
                <a:cs typeface="Calibri"/>
              </a:rPr>
              <a:t> </a:t>
            </a:r>
            <a:r>
              <a:rPr dirty="0" sz="1850" spc="110">
                <a:latin typeface="Calibri"/>
                <a:cs typeface="Calibri"/>
              </a:rPr>
              <a:t>Perceptron</a:t>
            </a:r>
            <a:endParaRPr sz="1850">
              <a:latin typeface="Calibri"/>
              <a:cs typeface="Calibri"/>
            </a:endParaRPr>
          </a:p>
          <a:p>
            <a:pPr marL="12700" marR="5080" indent="6350">
              <a:lnSpc>
                <a:spcPct val="111300"/>
              </a:lnSpc>
            </a:pPr>
            <a:r>
              <a:rPr dirty="0" sz="1850" spc="-80">
                <a:latin typeface="Arial MT"/>
                <a:cs typeface="Arial MT"/>
              </a:rPr>
              <a:t>A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basic</a:t>
            </a:r>
            <a:r>
              <a:rPr dirty="0" sz="1850" spc="65">
                <a:latin typeface="Arial MT"/>
                <a:cs typeface="Arial MT"/>
              </a:rPr>
              <a:t> </a:t>
            </a:r>
            <a:r>
              <a:rPr dirty="0" sz="1850" spc="55">
                <a:latin typeface="Arial MT"/>
                <a:cs typeface="Arial MT"/>
              </a:rPr>
              <a:t>neural</a:t>
            </a:r>
            <a:r>
              <a:rPr dirty="0" sz="1850">
                <a:latin typeface="Arial MT"/>
                <a:cs typeface="Arial MT"/>
              </a:rPr>
              <a:t> </a:t>
            </a:r>
            <a:r>
              <a:rPr dirty="0" sz="1850" spc="100">
                <a:latin typeface="Arial MT"/>
                <a:cs typeface="Arial MT"/>
              </a:rPr>
              <a:t>network</a:t>
            </a:r>
            <a:r>
              <a:rPr dirty="0" sz="1850" spc="150">
                <a:latin typeface="Arial MT"/>
                <a:cs typeface="Arial MT"/>
              </a:rPr>
              <a:t> </a:t>
            </a:r>
            <a:r>
              <a:rPr dirty="0" sz="1850" spc="55">
                <a:latin typeface="Arial MT"/>
                <a:cs typeface="Arial MT"/>
              </a:rPr>
              <a:t>model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(single-</a:t>
            </a:r>
            <a:r>
              <a:rPr dirty="0" sz="1850" spc="-10">
                <a:latin typeface="Arial MT"/>
                <a:cs typeface="Arial MT"/>
              </a:rPr>
              <a:t>lager) </a:t>
            </a:r>
            <a:r>
              <a:rPr dirty="0" sz="1850">
                <a:latin typeface="Arial MT"/>
                <a:cs typeface="Arial MT"/>
              </a:rPr>
              <a:t>Used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for</a:t>
            </a:r>
            <a:r>
              <a:rPr dirty="0" sz="1850" spc="260"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binarg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 spc="70">
                <a:latin typeface="Arial MT"/>
                <a:cs typeface="Arial MT"/>
              </a:rPr>
              <a:t>classification</a:t>
            </a:r>
            <a:endParaRPr sz="18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latin typeface="Arial MT"/>
                <a:cs typeface="Arial MT"/>
              </a:rPr>
              <a:t>Keg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60">
                <a:latin typeface="Arial MT"/>
                <a:cs typeface="Arial MT"/>
              </a:rPr>
              <a:t>Points:</a:t>
            </a:r>
            <a:endParaRPr sz="1800">
              <a:latin typeface="Arial MT"/>
              <a:cs typeface="Arial MT"/>
            </a:endParaRPr>
          </a:p>
          <a:p>
            <a:pPr marL="13335" marR="309880" indent="-1270">
              <a:lnSpc>
                <a:spcPct val="111300"/>
              </a:lnSpc>
              <a:spcBef>
                <a:spcPts val="10"/>
              </a:spcBef>
              <a:tabLst>
                <a:tab pos="2399665" algn="l"/>
              </a:tabLst>
            </a:pPr>
            <a:r>
              <a:rPr dirty="0" sz="1850">
                <a:latin typeface="Arial MT"/>
                <a:cs typeface="Arial MT"/>
              </a:rPr>
              <a:t>Uses</a:t>
            </a:r>
            <a:r>
              <a:rPr dirty="0" sz="1850" spc="1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weighted</a:t>
            </a:r>
            <a:r>
              <a:rPr dirty="0" sz="1850" spc="70">
                <a:latin typeface="Arial MT"/>
                <a:cs typeface="Arial MT"/>
              </a:rPr>
              <a:t> </a:t>
            </a:r>
            <a:r>
              <a:rPr dirty="0" sz="1850" spc="-20">
                <a:latin typeface="Arial MT"/>
                <a:cs typeface="Arial MT"/>
              </a:rPr>
              <a:t>sum‹</a:t>
            </a: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70">
                <a:latin typeface="Arial MT"/>
                <a:cs typeface="Arial MT"/>
              </a:rPr>
              <a:t>activation</a:t>
            </a:r>
            <a:r>
              <a:rPr dirty="0" sz="1850" spc="85">
                <a:latin typeface="Arial MT"/>
                <a:cs typeface="Arial MT"/>
              </a:rPr>
              <a:t> </a:t>
            </a:r>
            <a:r>
              <a:rPr dirty="0" sz="1850" spc="80">
                <a:latin typeface="Arial MT"/>
                <a:cs typeface="Arial MT"/>
              </a:rPr>
              <a:t>function </a:t>
            </a:r>
            <a:r>
              <a:rPr dirty="0" sz="1850">
                <a:latin typeface="Arial MT"/>
                <a:cs typeface="Arial MT"/>
              </a:rPr>
              <a:t>Learns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 spc="85">
                <a:latin typeface="Arial MT"/>
                <a:cs typeface="Arial MT"/>
              </a:rPr>
              <a:t>bg</a:t>
            </a:r>
            <a:r>
              <a:rPr dirty="0" sz="1850" spc="-70">
                <a:latin typeface="Arial MT"/>
                <a:cs typeface="Arial MT"/>
              </a:rPr>
              <a:t> </a:t>
            </a:r>
            <a:r>
              <a:rPr dirty="0" sz="1850" spc="75">
                <a:latin typeface="Arial MT"/>
                <a:cs typeface="Arial MT"/>
              </a:rPr>
              <a:t>adjusting</a:t>
            </a:r>
            <a:r>
              <a:rPr dirty="0" sz="1850" spc="-5">
                <a:latin typeface="Arial MT"/>
                <a:cs typeface="Arial MT"/>
              </a:rPr>
              <a:t> </a:t>
            </a:r>
            <a:r>
              <a:rPr dirty="0" sz="1850" spc="60">
                <a:latin typeface="Arial MT"/>
                <a:cs typeface="Arial MT"/>
              </a:rPr>
              <a:t>weights</a:t>
            </a:r>
            <a:endParaRPr sz="1850">
              <a:latin typeface="Arial MT"/>
              <a:cs typeface="Arial MT"/>
            </a:endParaRPr>
          </a:p>
          <a:p>
            <a:pPr marL="15875">
              <a:lnSpc>
                <a:spcPct val="100000"/>
              </a:lnSpc>
              <a:spcBef>
                <a:spcPts val="250"/>
              </a:spcBef>
            </a:pPr>
            <a:r>
              <a:rPr dirty="0" sz="1850" spc="50">
                <a:latin typeface="Arial MT"/>
                <a:cs typeface="Arial MT"/>
              </a:rPr>
              <a:t>Works</a:t>
            </a:r>
            <a:r>
              <a:rPr dirty="0" sz="1850" spc="45">
                <a:latin typeface="Arial MT"/>
                <a:cs typeface="Arial MT"/>
              </a:rPr>
              <a:t> </a:t>
            </a:r>
            <a:r>
              <a:rPr dirty="0" sz="1850" spc="55">
                <a:latin typeface="Arial MT"/>
                <a:cs typeface="Arial MT"/>
              </a:rPr>
              <a:t>onlg</a:t>
            </a:r>
            <a:r>
              <a:rPr dirty="0" sz="1850" spc="10">
                <a:latin typeface="Arial MT"/>
                <a:cs typeface="Arial MT"/>
              </a:rPr>
              <a:t> </a:t>
            </a:r>
            <a:r>
              <a:rPr dirty="0" sz="1850" spc="50">
                <a:latin typeface="Arial MT"/>
                <a:cs typeface="Arial MT"/>
              </a:rPr>
              <a:t>for</a:t>
            </a:r>
            <a:r>
              <a:rPr dirty="0" sz="1850" spc="165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linearly</a:t>
            </a:r>
            <a:r>
              <a:rPr dirty="0" sz="1850" spc="1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separable</a:t>
            </a:r>
            <a:r>
              <a:rPr dirty="0" sz="1850" spc="170">
                <a:latin typeface="Arial MT"/>
                <a:cs typeface="Arial MT"/>
              </a:rPr>
              <a:t> </a:t>
            </a:r>
            <a:r>
              <a:rPr dirty="0" sz="1850" spc="45">
                <a:latin typeface="Arial MT"/>
                <a:cs typeface="Arial MT"/>
              </a:rPr>
              <a:t>data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7360" y="0"/>
            <a:ext cx="5120640" cy="1028090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16997" y="994366"/>
            <a:ext cx="6809105" cy="5329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F2BF9"/>
                </a:solidFill>
                <a:latin typeface="Arial MT"/>
                <a:cs typeface="Arial MT"/>
              </a:rPr>
              <a:t>Borcelle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5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</a:pPr>
            <a:r>
              <a:rPr dirty="0" sz="1850">
                <a:latin typeface="Arial MT"/>
                <a:cs typeface="Arial MT"/>
              </a:rPr>
              <a:t>5.</a:t>
            </a:r>
            <a:r>
              <a:rPr dirty="0" sz="1850" spc="-18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Decision</a:t>
            </a:r>
            <a:r>
              <a:rPr dirty="0" sz="1850" spc="10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Tree</a:t>
            </a:r>
            <a:r>
              <a:rPr dirty="0" sz="1850" spc="4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Classifier</a:t>
            </a:r>
            <a:endParaRPr sz="1850">
              <a:latin typeface="Arial MT"/>
              <a:cs typeface="Arial MT"/>
            </a:endParaRPr>
          </a:p>
          <a:p>
            <a:pPr marL="14604" marR="1749425" indent="4445">
              <a:lnSpc>
                <a:spcPct val="112799"/>
              </a:lnSpc>
              <a:spcBef>
                <a:spcPts val="25"/>
              </a:spcBef>
            </a:pP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60">
                <a:latin typeface="Arial MT"/>
                <a:cs typeface="Arial MT"/>
              </a:rPr>
              <a:t>tree-</a:t>
            </a:r>
            <a:r>
              <a:rPr dirty="0" sz="1800" spc="80">
                <a:latin typeface="Arial MT"/>
                <a:cs typeface="Arial MT"/>
              </a:rPr>
              <a:t>based</a:t>
            </a:r>
            <a:r>
              <a:rPr dirty="0" sz="1800" spc="85">
                <a:latin typeface="Arial MT"/>
                <a:cs typeface="Arial MT"/>
              </a:rPr>
              <a:t> </a:t>
            </a:r>
            <a:r>
              <a:rPr dirty="0" sz="1800" spc="80">
                <a:latin typeface="Arial MT"/>
                <a:cs typeface="Arial MT"/>
              </a:rPr>
              <a:t>supervised</a:t>
            </a:r>
            <a:r>
              <a:rPr dirty="0" sz="1800" spc="90">
                <a:latin typeface="Arial MT"/>
                <a:cs typeface="Arial MT"/>
              </a:rPr>
              <a:t> </a:t>
            </a:r>
            <a:r>
              <a:rPr dirty="0" sz="1800" spc="80">
                <a:latin typeface="Arial MT"/>
                <a:cs typeface="Arial MT"/>
              </a:rPr>
              <a:t>learning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 spc="95">
                <a:latin typeface="Arial MT"/>
                <a:cs typeface="Arial MT"/>
              </a:rPr>
              <a:t>algorithm </a:t>
            </a:r>
            <a:r>
              <a:rPr dirty="0" sz="1850" spc="60">
                <a:latin typeface="Arial MT"/>
                <a:cs typeface="Arial MT"/>
              </a:rPr>
              <a:t>Splits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data</a:t>
            </a:r>
            <a:r>
              <a:rPr dirty="0" sz="1850" spc="-60">
                <a:latin typeface="Arial MT"/>
                <a:cs typeface="Arial MT"/>
              </a:rPr>
              <a:t> </a:t>
            </a:r>
            <a:r>
              <a:rPr dirty="0" sz="1850" spc="90">
                <a:latin typeface="Arial MT"/>
                <a:cs typeface="Arial MT"/>
              </a:rPr>
              <a:t>into</a:t>
            </a:r>
            <a:r>
              <a:rPr dirty="0" sz="1850" spc="-1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branches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based</a:t>
            </a:r>
            <a:r>
              <a:rPr dirty="0" sz="1850" spc="55">
                <a:latin typeface="Arial MT"/>
                <a:cs typeface="Arial MT"/>
              </a:rPr>
              <a:t> on</a:t>
            </a:r>
            <a:r>
              <a:rPr dirty="0" sz="1850" spc="-80">
                <a:latin typeface="Arial MT"/>
                <a:cs typeface="Arial MT"/>
              </a:rPr>
              <a:t> </a:t>
            </a:r>
            <a:r>
              <a:rPr dirty="0" sz="1850" spc="70">
                <a:latin typeface="Arial MT"/>
                <a:cs typeface="Arial MT"/>
              </a:rPr>
              <a:t>conditions </a:t>
            </a:r>
            <a:r>
              <a:rPr dirty="0" sz="1800">
                <a:latin typeface="Arial MT"/>
                <a:cs typeface="Arial MT"/>
              </a:rPr>
              <a:t>Keg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60">
                <a:latin typeface="Arial MT"/>
                <a:cs typeface="Arial MT"/>
              </a:rPr>
              <a:t>Points:</a:t>
            </a:r>
            <a:endParaRPr sz="18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35"/>
              </a:spcBef>
            </a:pPr>
            <a:r>
              <a:rPr dirty="0" sz="1800">
                <a:latin typeface="Arial MT"/>
                <a:cs typeface="Arial MT"/>
              </a:rPr>
              <a:t>Easg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229">
                <a:latin typeface="Arial MT"/>
                <a:cs typeface="Arial MT"/>
              </a:rPr>
              <a:t> </a:t>
            </a:r>
            <a:r>
              <a:rPr dirty="0" sz="1800" spc="90">
                <a:latin typeface="Arial MT"/>
                <a:cs typeface="Arial MT"/>
              </a:rPr>
              <a:t>understand</a:t>
            </a:r>
            <a:r>
              <a:rPr dirty="0" sz="1800" spc="85">
                <a:latin typeface="Arial MT"/>
                <a:cs typeface="Arial MT"/>
              </a:rPr>
              <a:t> 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45">
                <a:latin typeface="Arial MT"/>
                <a:cs typeface="Arial MT"/>
              </a:rPr>
              <a:t>visualize</a:t>
            </a:r>
            <a:endParaRPr sz="1800">
              <a:latin typeface="Arial MT"/>
              <a:cs typeface="Arial MT"/>
            </a:endParaRPr>
          </a:p>
          <a:p>
            <a:pPr marL="13335" marR="1845310" indent="-1270">
              <a:lnSpc>
                <a:spcPct val="111300"/>
              </a:lnSpc>
              <a:spcBef>
                <a:spcPts val="10"/>
              </a:spcBef>
            </a:pPr>
            <a:r>
              <a:rPr dirty="0" sz="1850">
                <a:latin typeface="Arial MT"/>
                <a:cs typeface="Arial MT"/>
              </a:rPr>
              <a:t>Handles</a:t>
            </a:r>
            <a:r>
              <a:rPr dirty="0" sz="1850" spc="5">
                <a:latin typeface="Arial MT"/>
                <a:cs typeface="Arial MT"/>
              </a:rPr>
              <a:t> </a:t>
            </a:r>
            <a:r>
              <a:rPr dirty="0" sz="1850" spc="120">
                <a:latin typeface="Arial MT"/>
                <a:cs typeface="Arial MT"/>
              </a:rPr>
              <a:t>both</a:t>
            </a:r>
            <a:r>
              <a:rPr dirty="0" sz="1850" spc="-7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numerical</a:t>
            </a:r>
            <a:r>
              <a:rPr dirty="0" sz="1850" spc="55">
                <a:latin typeface="Arial MT"/>
                <a:cs typeface="Arial MT"/>
              </a:rPr>
              <a:t> and</a:t>
            </a:r>
            <a:r>
              <a:rPr dirty="0" sz="1850" spc="-50">
                <a:latin typeface="Arial MT"/>
                <a:cs typeface="Arial MT"/>
              </a:rPr>
              <a:t> </a:t>
            </a:r>
            <a:r>
              <a:rPr dirty="0" sz="1850" spc="60">
                <a:latin typeface="Arial MT"/>
                <a:cs typeface="Arial MT"/>
              </a:rPr>
              <a:t>categorical </a:t>
            </a:r>
            <a:r>
              <a:rPr dirty="0" sz="1850" spc="45">
                <a:latin typeface="Arial MT"/>
                <a:cs typeface="Arial MT"/>
              </a:rPr>
              <a:t>data </a:t>
            </a:r>
            <a:r>
              <a:rPr dirty="0" sz="1850" spc="-20">
                <a:latin typeface="Arial MT"/>
                <a:cs typeface="Arial MT"/>
              </a:rPr>
              <a:t>Can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lead</a:t>
            </a:r>
            <a:r>
              <a:rPr dirty="0" sz="1850" spc="-6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135">
                <a:latin typeface="Arial MT"/>
                <a:cs typeface="Arial MT"/>
              </a:rPr>
              <a:t> </a:t>
            </a:r>
            <a:r>
              <a:rPr dirty="0" sz="1850" spc="95">
                <a:latin typeface="Arial MT"/>
                <a:cs typeface="Arial MT"/>
              </a:rPr>
              <a:t>overfitting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 spc="60">
                <a:latin typeface="Arial MT"/>
                <a:cs typeface="Arial MT"/>
              </a:rPr>
              <a:t>if</a:t>
            </a:r>
            <a:r>
              <a:rPr dirty="0" sz="1850" spc="125">
                <a:latin typeface="Arial MT"/>
                <a:cs typeface="Arial MT"/>
              </a:rPr>
              <a:t> </a:t>
            </a:r>
            <a:r>
              <a:rPr dirty="0" sz="1850" spc="114">
                <a:latin typeface="Arial MT"/>
                <a:cs typeface="Arial MT"/>
              </a:rPr>
              <a:t>not</a:t>
            </a:r>
            <a:r>
              <a:rPr dirty="0" sz="1850" spc="-40">
                <a:latin typeface="Arial MT"/>
                <a:cs typeface="Arial MT"/>
              </a:rPr>
              <a:t> </a:t>
            </a:r>
            <a:r>
              <a:rPr dirty="0" sz="1850" spc="65">
                <a:latin typeface="Arial MT"/>
                <a:cs typeface="Arial MT"/>
              </a:rPr>
              <a:t>controlled</a:t>
            </a:r>
            <a:endParaRPr sz="1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850">
              <a:latin typeface="Arial MT"/>
              <a:cs typeface="Arial MT"/>
            </a:endParaRPr>
          </a:p>
          <a:p>
            <a:pPr marL="186690">
              <a:lnSpc>
                <a:spcPts val="2450"/>
              </a:lnSpc>
            </a:pPr>
            <a:r>
              <a:rPr dirty="0" sz="2300" spc="-95">
                <a:latin typeface="Calibri"/>
                <a:cs typeface="Calibri"/>
              </a:rPr>
              <a:t>&amp;K-</a:t>
            </a:r>
            <a:r>
              <a:rPr dirty="0" sz="2300" spc="-20">
                <a:latin typeface="Calibri"/>
                <a:cs typeface="Calibri"/>
              </a:rPr>
              <a:t>NeighbomCIassîfier</a:t>
            </a:r>
            <a:endParaRPr sz="2300">
              <a:latin typeface="Calibri"/>
              <a:cs typeface="Calibri"/>
            </a:endParaRPr>
          </a:p>
          <a:p>
            <a:pPr marL="137160" marR="5080" indent="285750">
              <a:lnSpc>
                <a:spcPct val="80000"/>
              </a:lnSpc>
              <a:spcBef>
                <a:spcPts val="240"/>
              </a:spcBef>
            </a:pPr>
            <a:r>
              <a:rPr dirty="0" sz="2300" spc="-80">
                <a:latin typeface="Calibri"/>
                <a:cs typeface="Calibri"/>
              </a:rPr>
              <a:t>SameasK-</a:t>
            </a:r>
            <a:r>
              <a:rPr dirty="0" sz="2300" spc="-65">
                <a:latin typeface="Calibri"/>
                <a:cs typeface="Calibri"/>
              </a:rPr>
              <a:t>NœrestNeîghbom(KNN)ÿustdi61ëmrknamingin </a:t>
            </a:r>
            <a:r>
              <a:rPr dirty="0" sz="2300" spc="-10">
                <a:latin typeface="Calibri"/>
                <a:cs typeface="Calibri"/>
              </a:rPr>
              <a:t>libmûœlikesklœrrg</a:t>
            </a:r>
            <a:endParaRPr sz="2300">
              <a:latin typeface="Calibri"/>
              <a:cs typeface="Calibri"/>
            </a:endParaRPr>
          </a:p>
          <a:p>
            <a:pPr marL="140970" marR="935355" indent="-635">
              <a:lnSpc>
                <a:spcPct val="78200"/>
              </a:lnSpc>
              <a:spcBef>
                <a:spcPts val="50"/>
              </a:spcBef>
            </a:pPr>
            <a:r>
              <a:rPr dirty="0" sz="2300" spc="-10">
                <a:latin typeface="Calibri"/>
                <a:cs typeface="Calibri"/>
              </a:rPr>
              <a:t>KeyPoints: </a:t>
            </a:r>
            <a:r>
              <a:rPr dirty="0" sz="2300" spc="-40">
                <a:latin typeface="Calibri"/>
                <a:cs typeface="Calibri"/>
              </a:rPr>
              <a:t>Cîassifîesbasedonmajorîtydassofnœrestneighbom </a:t>
            </a:r>
            <a:r>
              <a:rPr dirty="0" sz="2300" spc="-10">
                <a:latin typeface="Calibri"/>
                <a:cs typeface="Calibri"/>
              </a:rPr>
              <a:t>Usesdistanoemetrics</a:t>
            </a:r>
            <a:endParaRPr sz="2300">
              <a:latin typeface="Calibri"/>
              <a:cs typeface="Calibri"/>
            </a:endParaRPr>
          </a:p>
          <a:p>
            <a:pPr marL="140970">
              <a:lnSpc>
                <a:spcPts val="2185"/>
              </a:lnSpc>
            </a:pPr>
            <a:r>
              <a:rPr dirty="0" sz="2300" spc="-20">
                <a:latin typeface="Calibri"/>
                <a:cs typeface="Calibri"/>
              </a:rPr>
              <a:t>Noe»pIicitCainingphase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7583" y="5405550"/>
            <a:ext cx="6870192" cy="488144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407" y="3114132"/>
            <a:ext cx="890016" cy="65817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48288" y="2906930"/>
            <a:ext cx="1207007" cy="87756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16256" y="2906930"/>
            <a:ext cx="725423" cy="87756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9184" y="365650"/>
            <a:ext cx="2261616" cy="182216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9023" y="597231"/>
            <a:ext cx="2261616" cy="182216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3407" y="1023824"/>
            <a:ext cx="6534911" cy="181606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011690" y="3081914"/>
            <a:ext cx="4364990" cy="2598420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1490"/>
              </a:spcBef>
            </a:pPr>
            <a:r>
              <a:rPr dirty="0" sz="2050" spc="-315">
                <a:latin typeface="Calibri"/>
                <a:cs typeface="Calibri"/>
              </a:rPr>
              <a:t>1.</a:t>
            </a:r>
            <a:r>
              <a:rPr dirty="0" sz="2050" spc="9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Accuracy</a:t>
            </a:r>
            <a:endParaRPr sz="2050">
              <a:latin typeface="Calibri"/>
              <a:cs typeface="Calibri"/>
            </a:endParaRPr>
          </a:p>
          <a:p>
            <a:pPr marL="12700" marR="5080" indent="4445">
              <a:lnSpc>
                <a:spcPct val="98300"/>
              </a:lnSpc>
              <a:spcBef>
                <a:spcPts val="1255"/>
              </a:spcBef>
            </a:pPr>
            <a:r>
              <a:rPr dirty="0" sz="1800">
                <a:latin typeface="Calibri"/>
                <a:cs typeface="Calibri"/>
              </a:rPr>
              <a:t>Measures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20">
                <a:latin typeface="Calibri"/>
                <a:cs typeface="Calibri"/>
              </a:rPr>
              <a:t>overall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correctness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model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0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ratio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correct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predictions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total </a:t>
            </a:r>
            <a:r>
              <a:rPr dirty="0" sz="1900" spc="-10">
                <a:latin typeface="Calibri"/>
                <a:cs typeface="Calibri"/>
              </a:rPr>
              <a:t>predictions</a:t>
            </a:r>
            <a:endParaRPr sz="1900">
              <a:latin typeface="Calibri"/>
              <a:cs typeface="Calibri"/>
            </a:endParaRPr>
          </a:p>
          <a:p>
            <a:pPr marL="267335">
              <a:lnSpc>
                <a:spcPts val="2140"/>
              </a:lnSpc>
            </a:pPr>
            <a:r>
              <a:rPr dirty="0" sz="1800" spc="-10">
                <a:latin typeface="Calibri"/>
                <a:cs typeface="Calibri"/>
              </a:rPr>
              <a:t>Formula:</a:t>
            </a:r>
            <a:endParaRPr sz="18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dirty="0" sz="1750">
                <a:latin typeface="Calibri"/>
                <a:cs typeface="Calibri"/>
              </a:rPr>
              <a:t>Accuracy</a:t>
            </a:r>
            <a:r>
              <a:rPr dirty="0" sz="1750" spc="-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=</a:t>
            </a:r>
            <a:r>
              <a:rPr dirty="0" sz="1750" spc="-1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(TP</a:t>
            </a:r>
            <a:r>
              <a:rPr dirty="0" sz="1750" spc="1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+</a:t>
            </a:r>
            <a:r>
              <a:rPr dirty="0" sz="1750" spc="2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TN)</a:t>
            </a:r>
            <a:r>
              <a:rPr dirty="0" sz="1750" spc="-55">
                <a:latin typeface="Calibri"/>
                <a:cs typeface="Calibri"/>
              </a:rPr>
              <a:t> </a:t>
            </a:r>
            <a:r>
              <a:rPr dirty="0" sz="1750" spc="-155">
                <a:latin typeface="Calibri"/>
                <a:cs typeface="Calibri"/>
              </a:rPr>
              <a:t>/</a:t>
            </a:r>
            <a:r>
              <a:rPr dirty="0" sz="1750" spc="2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(TP</a:t>
            </a:r>
            <a:r>
              <a:rPr dirty="0" sz="1750" spc="-25"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0E0E0E"/>
                </a:solidFill>
                <a:latin typeface="Calibri"/>
                <a:cs typeface="Calibri"/>
              </a:rPr>
              <a:t>+</a:t>
            </a:r>
            <a:r>
              <a:rPr dirty="0" sz="1750" spc="65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TN</a:t>
            </a:r>
            <a:r>
              <a:rPr dirty="0" sz="1750" spc="40">
                <a:latin typeface="Calibri"/>
                <a:cs typeface="Calibri"/>
              </a:rPr>
              <a:t> </a:t>
            </a:r>
            <a:r>
              <a:rPr dirty="0" sz="1750" spc="-175">
                <a:latin typeface="Calibri"/>
                <a:cs typeface="Calibri"/>
              </a:rPr>
              <a:t>+</a:t>
            </a:r>
            <a:r>
              <a:rPr dirty="0" sz="1750" spc="5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FP</a:t>
            </a:r>
            <a:r>
              <a:rPr dirty="0" sz="1750" spc="385">
                <a:latin typeface="Calibri"/>
                <a:cs typeface="Calibri"/>
              </a:rPr>
              <a:t> </a:t>
            </a:r>
            <a:r>
              <a:rPr dirty="0" sz="1750">
                <a:solidFill>
                  <a:srgbClr val="1A1A1A"/>
                </a:solidFill>
                <a:latin typeface="Calibri"/>
                <a:cs typeface="Calibri"/>
              </a:rPr>
              <a:t>+</a:t>
            </a:r>
            <a:r>
              <a:rPr dirty="0" sz="1750" spc="3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FN)</a:t>
            </a:r>
            <a:endParaRPr sz="175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Meaning:</a:t>
            </a:r>
            <a:endParaRPr sz="18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dirty="0" sz="1800" spc="-10">
                <a:latin typeface="Calibri"/>
                <a:cs typeface="Calibri"/>
              </a:rPr>
              <a:t>Higher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accuracy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 spc="80">
                <a:latin typeface="Calibri"/>
                <a:cs typeface="Calibri"/>
              </a:rPr>
              <a:t>+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better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model </a:t>
            </a:r>
            <a:r>
              <a:rPr dirty="0" sz="1800" spc="-10">
                <a:latin typeface="Calibri"/>
                <a:cs typeface="Calibri"/>
              </a:rPr>
              <a:t>performance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10539" y="6679995"/>
            <a:ext cx="4561205" cy="2517140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850">
                <a:latin typeface="Calibri"/>
                <a:cs typeface="Calibri"/>
              </a:rPr>
              <a:t>2.</a:t>
            </a:r>
            <a:r>
              <a:rPr dirty="0" sz="1850" spc="-114">
                <a:latin typeface="Calibri"/>
                <a:cs typeface="Calibri"/>
              </a:rPr>
              <a:t> </a:t>
            </a:r>
            <a:r>
              <a:rPr dirty="0" sz="1850" spc="-10">
                <a:latin typeface="Calibri"/>
                <a:cs typeface="Calibri"/>
              </a:rPr>
              <a:t>Precision</a:t>
            </a:r>
            <a:endParaRPr sz="185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  <a:spcBef>
                <a:spcPts val="1045"/>
              </a:spcBef>
            </a:pPr>
            <a:r>
              <a:rPr dirty="0" sz="1850" spc="-25">
                <a:latin typeface="Calibri"/>
                <a:cs typeface="Calibri"/>
              </a:rPr>
              <a:t>Measures</a:t>
            </a:r>
            <a:r>
              <a:rPr dirty="0" sz="1850" spc="-60">
                <a:latin typeface="Calibri"/>
                <a:cs typeface="Calibri"/>
              </a:rPr>
              <a:t> </a:t>
            </a:r>
            <a:r>
              <a:rPr dirty="0" sz="1850" spc="-70">
                <a:latin typeface="Calibri"/>
                <a:cs typeface="Calibri"/>
              </a:rPr>
              <a:t>how</a:t>
            </a:r>
            <a:r>
              <a:rPr dirty="0" sz="1850" spc="-35">
                <a:latin typeface="Calibri"/>
                <a:cs typeface="Calibri"/>
              </a:rPr>
              <a:t> </a:t>
            </a:r>
            <a:r>
              <a:rPr dirty="0" sz="1850" spc="-25">
                <a:latin typeface="Calibri"/>
                <a:cs typeface="Calibri"/>
              </a:rPr>
              <a:t>many</a:t>
            </a:r>
            <a:r>
              <a:rPr dirty="0" sz="1850" spc="5">
                <a:latin typeface="Calibri"/>
                <a:cs typeface="Calibri"/>
              </a:rPr>
              <a:t> </a:t>
            </a:r>
            <a:r>
              <a:rPr dirty="0" sz="1850" spc="-40">
                <a:latin typeface="Calibri"/>
                <a:cs typeface="Calibri"/>
              </a:rPr>
              <a:t>predicted</a:t>
            </a:r>
            <a:r>
              <a:rPr dirty="0" sz="1850" spc="45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spam</a:t>
            </a:r>
            <a:endParaRPr sz="1850">
              <a:latin typeface="Calibri"/>
              <a:cs typeface="Calibri"/>
            </a:endParaRPr>
          </a:p>
          <a:p>
            <a:pPr marL="512445" marR="1647825" indent="-254000">
              <a:lnSpc>
                <a:spcPct val="100000"/>
              </a:lnSpc>
              <a:spcBef>
                <a:spcPts val="35"/>
              </a:spcBef>
            </a:pPr>
            <a:r>
              <a:rPr dirty="0" sz="1800">
                <a:latin typeface="Calibri"/>
                <a:cs typeface="Calibri"/>
              </a:rPr>
              <a:t>messages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actually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spam </a:t>
            </a:r>
            <a:r>
              <a:rPr dirty="0" sz="1800" spc="-10">
                <a:latin typeface="Calibri"/>
                <a:cs typeface="Calibri"/>
              </a:rPr>
              <a:t>Formula:</a:t>
            </a:r>
            <a:endParaRPr sz="1800">
              <a:latin typeface="Calibri"/>
              <a:cs typeface="Calibri"/>
            </a:endParaRPr>
          </a:p>
          <a:p>
            <a:pPr marL="256540">
              <a:lnSpc>
                <a:spcPct val="100000"/>
              </a:lnSpc>
              <a:spcBef>
                <a:spcPts val="50"/>
              </a:spcBef>
            </a:pPr>
            <a:r>
              <a:rPr dirty="0" sz="1750">
                <a:latin typeface="Calibri"/>
                <a:cs typeface="Calibri"/>
              </a:rPr>
              <a:t>Precision</a:t>
            </a:r>
            <a:r>
              <a:rPr dirty="0" sz="1750" spc="7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=</a:t>
            </a:r>
            <a:r>
              <a:rPr dirty="0" sz="1750" spc="9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TP</a:t>
            </a:r>
            <a:r>
              <a:rPr dirty="0" sz="1750" spc="55">
                <a:latin typeface="Calibri"/>
                <a:cs typeface="Calibri"/>
              </a:rPr>
              <a:t> </a:t>
            </a:r>
            <a:r>
              <a:rPr dirty="0" sz="1750" spc="-155">
                <a:latin typeface="Calibri"/>
                <a:cs typeface="Calibri"/>
              </a:rPr>
              <a:t>/</a:t>
            </a:r>
            <a:r>
              <a:rPr dirty="0" sz="1750" spc="4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(TP</a:t>
            </a:r>
            <a:r>
              <a:rPr dirty="0" sz="1750" spc="60">
                <a:latin typeface="Calibri"/>
                <a:cs typeface="Calibri"/>
              </a:rPr>
              <a:t> </a:t>
            </a:r>
            <a:r>
              <a:rPr dirty="0" sz="1750" spc="-175">
                <a:latin typeface="Calibri"/>
                <a:cs typeface="Calibri"/>
              </a:rPr>
              <a:t>+</a:t>
            </a:r>
            <a:r>
              <a:rPr dirty="0" sz="1750" spc="80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FP)</a:t>
            </a:r>
            <a:endParaRPr sz="1750">
              <a:latin typeface="Calibri"/>
              <a:cs typeface="Calibri"/>
            </a:endParaRPr>
          </a:p>
          <a:p>
            <a:pPr marL="255904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Calibri"/>
                <a:cs typeface="Calibri"/>
              </a:rPr>
              <a:t>Meaning:</a:t>
            </a:r>
            <a:endParaRPr sz="1800">
              <a:latin typeface="Calibri"/>
              <a:cs typeface="Calibri"/>
            </a:endParaRPr>
          </a:p>
          <a:p>
            <a:pPr marL="259079" marR="5080" indent="-3175">
              <a:lnSpc>
                <a:spcPts val="2210"/>
              </a:lnSpc>
              <a:spcBef>
                <a:spcPts val="30"/>
              </a:spcBef>
            </a:pPr>
            <a:r>
              <a:rPr dirty="0" sz="1800">
                <a:latin typeface="Calibri"/>
                <a:cs typeface="Calibri"/>
              </a:rPr>
              <a:t>High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precision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fewer</a:t>
            </a:r>
            <a:r>
              <a:rPr dirty="0" sz="1800">
                <a:latin typeface="Calibri"/>
                <a:cs typeface="Calibri"/>
              </a:rPr>
              <a:t> false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alarms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(important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spam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detection)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030779" y="482961"/>
            <a:ext cx="5664200" cy="25622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760"/>
              </a:lnSpc>
              <a:spcBef>
                <a:spcPts val="95"/>
              </a:spcBef>
            </a:pPr>
            <a:r>
              <a:rPr dirty="0" sz="11000" spc="-705">
                <a:latin typeface="Calibri"/>
                <a:cs typeface="Calibri"/>
              </a:rPr>
              <a:t>er</a:t>
            </a:r>
            <a:r>
              <a:rPr dirty="0" sz="11000" spc="-105">
                <a:latin typeface="Calibri"/>
                <a:cs typeface="Calibri"/>
              </a:rPr>
              <a:t> </a:t>
            </a:r>
            <a:r>
              <a:rPr dirty="0" sz="11000" spc="-869">
                <a:latin typeface="Calibri"/>
                <a:cs typeface="Calibri"/>
              </a:rPr>
              <a:t>ormance</a:t>
            </a:r>
            <a:endParaRPr sz="11000">
              <a:latin typeface="Calibri"/>
              <a:cs typeface="Calibri"/>
            </a:endParaRPr>
          </a:p>
          <a:p>
            <a:pPr algn="ctr" marR="450850">
              <a:lnSpc>
                <a:spcPts val="8220"/>
              </a:lnSpc>
            </a:pPr>
            <a:r>
              <a:rPr dirty="0" sz="8050">
                <a:latin typeface="Calibri"/>
                <a:cs typeface="Calibri"/>
              </a:rPr>
              <a:t>FICS</a:t>
            </a:r>
            <a:r>
              <a:rPr dirty="0" sz="8050" spc="-330">
                <a:latin typeface="Calibri"/>
                <a:cs typeface="Calibri"/>
              </a:rPr>
              <a:t> </a:t>
            </a:r>
            <a:r>
              <a:rPr dirty="0" sz="8050">
                <a:latin typeface="Calibri"/>
                <a:cs typeface="Calibri"/>
              </a:rPr>
              <a:t>O</a:t>
            </a:r>
            <a:endParaRPr sz="8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224" y="2480336"/>
            <a:ext cx="8101583" cy="6776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/>
              <a:t>3</a:t>
            </a:r>
            <a:r>
              <a:rPr dirty="0" spc="-360"/>
              <a:t> </a:t>
            </a:r>
            <a:r>
              <a:rPr dirty="0" spc="-170"/>
              <a:t>FI-</a:t>
            </a:r>
            <a:r>
              <a:rPr dirty="0" spc="-190"/>
              <a:t>Score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824543" y="1748522"/>
            <a:ext cx="4904740" cy="4318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2890" marR="1304925" indent="-25019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Harmonic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mean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precision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recall Formula: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30"/>
              </a:spcBef>
            </a:pPr>
            <a:r>
              <a:rPr dirty="0" sz="1800" spc="-50">
                <a:latin typeface="Calibri"/>
                <a:cs typeface="Calibri"/>
              </a:rPr>
              <a:t>F1-</a:t>
            </a:r>
            <a:r>
              <a:rPr dirty="0" sz="1800" spc="-10">
                <a:latin typeface="Calibri"/>
                <a:cs typeface="Calibri"/>
              </a:rPr>
              <a:t>score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70">
                <a:latin typeface="Calibri"/>
                <a:cs typeface="Calibri"/>
              </a:rPr>
              <a:t>=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50">
                <a:latin typeface="Calibri"/>
                <a:cs typeface="Calibri"/>
              </a:rPr>
              <a:t>2</a:t>
            </a:r>
            <a:r>
              <a:rPr dirty="0" sz="1800" spc="-120">
                <a:latin typeface="Calibri"/>
                <a:cs typeface="Calibri"/>
              </a:rPr>
              <a:t> </a:t>
            </a:r>
            <a:r>
              <a:rPr dirty="0" sz="1800" spc="-160">
                <a:latin typeface="Calibri"/>
                <a:cs typeface="Calibri"/>
              </a:rPr>
              <a:t>*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(Precision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225">
                <a:latin typeface="Calibri"/>
                <a:cs typeface="Calibri"/>
              </a:rPr>
              <a:t>*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Recall)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90">
                <a:latin typeface="Calibri"/>
                <a:cs typeface="Calibri"/>
              </a:rPr>
              <a:t>/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(Precision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204">
                <a:latin typeface="Calibri"/>
                <a:cs typeface="Calibri"/>
              </a:rPr>
              <a:t>+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Recall) Meaning: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85"/>
              </a:lnSpc>
            </a:pPr>
            <a:r>
              <a:rPr dirty="0" sz="1850">
                <a:latin typeface="Calibri"/>
                <a:cs typeface="Calibri"/>
              </a:rPr>
              <a:t>Balances</a:t>
            </a:r>
            <a:r>
              <a:rPr dirty="0" sz="1850" spc="-100">
                <a:latin typeface="Calibri"/>
                <a:cs typeface="Calibri"/>
              </a:rPr>
              <a:t> </a:t>
            </a:r>
            <a:r>
              <a:rPr dirty="0" sz="1850" spc="-10">
                <a:latin typeface="Calibri"/>
                <a:cs typeface="Calibri"/>
              </a:rPr>
              <a:t>precision</a:t>
            </a:r>
            <a:r>
              <a:rPr dirty="0" sz="1850" spc="-60">
                <a:latin typeface="Calibri"/>
                <a:cs typeface="Calibri"/>
              </a:rPr>
              <a:t> </a:t>
            </a:r>
            <a:r>
              <a:rPr dirty="0" sz="1850" spc="-40">
                <a:latin typeface="Calibri"/>
                <a:cs typeface="Calibri"/>
              </a:rPr>
              <a:t>and</a:t>
            </a:r>
            <a:r>
              <a:rPr dirty="0" sz="1850" spc="-65">
                <a:latin typeface="Calibri"/>
                <a:cs typeface="Calibri"/>
              </a:rPr>
              <a:t> </a:t>
            </a:r>
            <a:r>
              <a:rPr dirty="0" sz="1850" spc="-10">
                <a:latin typeface="Calibri"/>
                <a:cs typeface="Calibri"/>
              </a:rPr>
              <a:t>recall</a:t>
            </a:r>
            <a:endParaRPr sz="1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85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</a:pPr>
            <a:r>
              <a:rPr dirty="0" sz="1900" spc="50">
                <a:latin typeface="Arial MT"/>
                <a:cs typeface="Arial MT"/>
              </a:rPr>
              <a:t>4.</a:t>
            </a:r>
            <a:r>
              <a:rPr dirty="0" sz="1900" spc="-195">
                <a:latin typeface="Arial MT"/>
                <a:cs typeface="Arial MT"/>
              </a:rPr>
              <a:t> </a:t>
            </a:r>
            <a:r>
              <a:rPr dirty="0" sz="1900" spc="70">
                <a:latin typeface="Arial MT"/>
                <a:cs typeface="Arial MT"/>
              </a:rPr>
              <a:t>Confusion</a:t>
            </a:r>
            <a:r>
              <a:rPr dirty="0" sz="1900" spc="5">
                <a:latin typeface="Arial MT"/>
                <a:cs typeface="Arial MT"/>
              </a:rPr>
              <a:t> </a:t>
            </a:r>
            <a:r>
              <a:rPr dirty="0" sz="1900" spc="110">
                <a:latin typeface="Arial MT"/>
                <a:cs typeface="Arial MT"/>
              </a:rPr>
              <a:t>Matrix</a:t>
            </a:r>
            <a:endParaRPr sz="1900">
              <a:latin typeface="Arial MT"/>
              <a:cs typeface="Arial MT"/>
            </a:endParaRPr>
          </a:p>
          <a:p>
            <a:pPr marL="65405" marR="777875" indent="-45085">
              <a:lnSpc>
                <a:spcPts val="2210"/>
              </a:lnSpc>
              <a:spcBef>
                <a:spcPts val="60"/>
              </a:spcBef>
            </a:pPr>
            <a:r>
              <a:rPr dirty="0" sz="1600" spc="-185">
                <a:latin typeface="Arial MT"/>
                <a:cs typeface="Arial MT"/>
              </a:rPr>
              <a:t>A</a:t>
            </a:r>
            <a:r>
              <a:rPr dirty="0" sz="1600" spc="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table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used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 spc="55">
                <a:latin typeface="Arial MT"/>
                <a:cs typeface="Arial MT"/>
              </a:rPr>
              <a:t>to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visualize</a:t>
            </a:r>
            <a:r>
              <a:rPr dirty="0" sz="1600" spc="9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model</a:t>
            </a:r>
            <a:r>
              <a:rPr dirty="0" sz="1600" spc="12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performance </a:t>
            </a:r>
            <a:r>
              <a:rPr dirty="0" sz="1600">
                <a:latin typeface="Arial MT"/>
                <a:cs typeface="Arial MT"/>
              </a:rPr>
              <a:t>Predicted</a:t>
            </a:r>
            <a:r>
              <a:rPr dirty="0" sz="1600" spc="18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Spam</a:t>
            </a:r>
            <a:r>
              <a:rPr dirty="0" sz="1600" spc="8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Predicted</a:t>
            </a:r>
            <a:r>
              <a:rPr dirty="0" sz="1600" spc="15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Ham</a:t>
            </a:r>
            <a:endParaRPr sz="16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114"/>
              </a:spcBef>
            </a:pPr>
            <a:r>
              <a:rPr dirty="0" sz="1600">
                <a:latin typeface="Arial MT"/>
                <a:cs typeface="Arial MT"/>
              </a:rPr>
              <a:t>Actual</a:t>
            </a:r>
            <a:r>
              <a:rPr dirty="0" sz="1600" spc="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Spam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125">
                <a:latin typeface="Arial MT"/>
                <a:cs typeface="Arial MT"/>
              </a:rPr>
              <a:t>TP</a:t>
            </a:r>
            <a:r>
              <a:rPr dirty="0" sz="1600" spc="1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FN</a:t>
            </a:r>
            <a:endParaRPr sz="16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240"/>
              </a:spcBef>
            </a:pPr>
            <a:r>
              <a:rPr dirty="0" sz="1600">
                <a:latin typeface="Arial MT"/>
                <a:cs typeface="Arial MT"/>
              </a:rPr>
              <a:t>Actual Ham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FP</a:t>
            </a:r>
            <a:r>
              <a:rPr dirty="0" sz="1600" spc="-25">
                <a:latin typeface="Arial MT"/>
                <a:cs typeface="Arial MT"/>
              </a:rPr>
              <a:t> TN</a:t>
            </a:r>
            <a:endParaRPr sz="1600">
              <a:latin typeface="Arial MT"/>
              <a:cs typeface="Arial MT"/>
            </a:endParaRPr>
          </a:p>
          <a:p>
            <a:pPr marL="17145" marR="1419225" indent="247650">
              <a:lnSpc>
                <a:spcPts val="2210"/>
              </a:lnSpc>
              <a:spcBef>
                <a:spcPts val="70"/>
              </a:spcBef>
            </a:pPr>
            <a:r>
              <a:rPr dirty="0" sz="1600">
                <a:latin typeface="Arial MT"/>
                <a:cs typeface="Arial MT"/>
              </a:rPr>
              <a:t>Typical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Results</a:t>
            </a:r>
            <a:r>
              <a:rPr dirty="0" sz="1600" spc="35">
                <a:latin typeface="Arial MT"/>
                <a:cs typeface="Arial MT"/>
              </a:rPr>
              <a:t> </a:t>
            </a:r>
            <a:r>
              <a:rPr dirty="0" sz="1600" spc="-30">
                <a:latin typeface="Arial MT"/>
                <a:cs typeface="Arial MT"/>
              </a:rPr>
              <a:t>(Your</a:t>
            </a:r>
            <a:r>
              <a:rPr dirty="0" sz="1600" spc="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Project) </a:t>
            </a:r>
            <a:r>
              <a:rPr dirty="0" sz="1600">
                <a:latin typeface="Arial MT"/>
                <a:cs typeface="Arial MT"/>
              </a:rPr>
              <a:t>Logistic</a:t>
            </a:r>
            <a:r>
              <a:rPr dirty="0" sz="1600" spc="1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Regression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+</a:t>
            </a:r>
            <a:r>
              <a:rPr dirty="0" sz="1600" spc="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-</a:t>
            </a:r>
            <a:r>
              <a:rPr dirty="0" sz="1600" spc="90">
                <a:latin typeface="Arial MT"/>
                <a:cs typeface="Arial MT"/>
              </a:rPr>
              <a:t>95%</a:t>
            </a:r>
            <a:r>
              <a:rPr dirty="0" sz="1600" spc="7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Accuracy</a:t>
            </a:r>
            <a:endParaRPr sz="16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65"/>
              </a:spcBef>
              <a:tabLst>
                <a:tab pos="2745105" algn="l"/>
              </a:tabLst>
            </a:pPr>
            <a:r>
              <a:rPr dirty="0" sz="1550" spc="-10">
                <a:latin typeface="Arial MT"/>
                <a:cs typeface="Arial MT"/>
              </a:rPr>
              <a:t>SVM</a:t>
            </a:r>
            <a:r>
              <a:rPr dirty="0" sz="1550" spc="-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 spc="-40">
                <a:latin typeface="Arial MT"/>
                <a:cs typeface="Arial MT"/>
              </a:rPr>
              <a:t>-</a:t>
            </a:r>
            <a:r>
              <a:rPr dirty="0" sz="1550" spc="-65">
                <a:latin typeface="Arial MT"/>
                <a:cs typeface="Arial MT"/>
              </a:rPr>
              <a:t>97—</a:t>
            </a:r>
            <a:r>
              <a:rPr dirty="0" sz="1550">
                <a:latin typeface="Arial MT"/>
                <a:cs typeface="Arial MT"/>
              </a:rPr>
              <a:t>99%</a:t>
            </a:r>
            <a:r>
              <a:rPr dirty="0" sz="1550" spc="-2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Accuracy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(Best)</a:t>
            </a:r>
            <a:endParaRPr sz="15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325"/>
              </a:spcBef>
            </a:pPr>
            <a:r>
              <a:rPr dirty="0" sz="1550">
                <a:latin typeface="Arial MT"/>
                <a:cs typeface="Arial MT"/>
              </a:rPr>
              <a:t>KNN</a:t>
            </a:r>
            <a:r>
              <a:rPr dirty="0" sz="1550" spc="-35">
                <a:latin typeface="Arial MT"/>
                <a:cs typeface="Arial MT"/>
              </a:rPr>
              <a:t> </a:t>
            </a:r>
            <a:r>
              <a:rPr dirty="0" sz="1550" spc="-190">
                <a:latin typeface="Arial MT"/>
                <a:cs typeface="Arial MT"/>
              </a:rPr>
              <a:t>-</a:t>
            </a:r>
            <a:r>
              <a:rPr dirty="0" sz="1550" spc="-315">
                <a:latin typeface="Arial MT"/>
                <a:cs typeface="Arial MT"/>
              </a:rPr>
              <a:t>+</a:t>
            </a:r>
            <a:r>
              <a:rPr dirty="0" sz="1550" spc="3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-90—</a:t>
            </a:r>
            <a:r>
              <a:rPr dirty="0" sz="1550">
                <a:latin typeface="Arial MT"/>
                <a:cs typeface="Arial MT"/>
              </a:rPr>
              <a:t>95%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Accuracy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5647" y="3260393"/>
            <a:ext cx="7991856" cy="477784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143" y="1200556"/>
            <a:ext cx="792480" cy="88365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5775" y="1029917"/>
            <a:ext cx="2023872" cy="12858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4991" y="1036012"/>
            <a:ext cx="1920239" cy="10482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971019" y="5153335"/>
            <a:ext cx="217170" cy="953769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590"/>
              </a:lnSpc>
            </a:pPr>
            <a:r>
              <a:rPr dirty="0" sz="1350" spc="-70">
                <a:solidFill>
                  <a:srgbClr val="242424"/>
                </a:solidFill>
                <a:latin typeface="Arial MT"/>
                <a:cs typeface="Arial MT"/>
              </a:rPr>
              <a:t>Accuracy</a:t>
            </a:r>
            <a:r>
              <a:rPr dirty="0" sz="1350" spc="1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350" spc="-110">
                <a:solidFill>
                  <a:srgbClr val="414141"/>
                </a:solidFill>
                <a:latin typeface="Arial MT"/>
                <a:cs typeface="Arial MT"/>
              </a:rPr>
              <a:t>(36)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35863" y="3140537"/>
            <a:ext cx="2781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95">
                <a:solidFill>
                  <a:srgbClr val="212121"/>
                </a:solidFill>
                <a:latin typeface="Courier New"/>
                <a:cs typeface="Courier New"/>
              </a:rPr>
              <a:t>100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26051" y="4097834"/>
            <a:ext cx="191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1F1F1F"/>
                </a:solidFill>
                <a:latin typeface="Consolas"/>
                <a:cs typeface="Consolas"/>
              </a:rPr>
              <a:t>98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26360" y="5048782"/>
            <a:ext cx="1898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solidFill>
                  <a:srgbClr val="1C1C1C"/>
                </a:solidFill>
                <a:latin typeface="Cambria"/>
                <a:cs typeface="Cambria"/>
              </a:rPr>
              <a:t>9b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326051" y="6925540"/>
            <a:ext cx="187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Cambria"/>
                <a:cs typeface="Cambria"/>
              </a:rPr>
              <a:t>92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25740" y="7869886"/>
            <a:ext cx="18796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5">
                <a:solidFill>
                  <a:srgbClr val="2F2F2F"/>
                </a:solidFill>
                <a:latin typeface="Consolas"/>
                <a:cs typeface="Consolas"/>
              </a:rPr>
              <a:t>90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96652" y="5155176"/>
            <a:ext cx="541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31313"/>
                </a:solidFill>
                <a:latin typeface="Calibri"/>
                <a:cs typeface="Calibri"/>
              </a:rPr>
              <a:t>95.43°A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77489" y="7949364"/>
            <a:ext cx="159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F2F2F"/>
                </a:solidFill>
                <a:latin typeface="Cambria"/>
                <a:cs typeface="Cambria"/>
              </a:rPr>
              <a:t>u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83375" y="2968631"/>
            <a:ext cx="33591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181818"/>
                </a:solidFill>
                <a:latin typeface="Calibri"/>
                <a:cs typeface="Calibri"/>
              </a:rPr>
              <a:t>Model</a:t>
            </a:r>
            <a:r>
              <a:rPr dirty="0" sz="1550" spc="29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Accuracy</a:t>
            </a:r>
            <a:r>
              <a:rPr dirty="0" sz="1550" spc="385"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161616"/>
                </a:solidFill>
                <a:latin typeface="Calibri"/>
                <a:cs typeface="Calibri"/>
              </a:rPr>
              <a:t>Comparison</a:t>
            </a:r>
            <a:r>
              <a:rPr dirty="0" sz="1550" spc="37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550">
                <a:solidFill>
                  <a:srgbClr val="0E0E0E"/>
                </a:solidFill>
                <a:latin typeface="Calibri"/>
                <a:cs typeface="Calibri"/>
              </a:rPr>
              <a:t>(90-</a:t>
            </a:r>
            <a:r>
              <a:rPr dirty="0" sz="1550" spc="-10">
                <a:solidFill>
                  <a:srgbClr val="0E0E0E"/>
                </a:solidFill>
                <a:latin typeface="Calibri"/>
                <a:cs typeface="Calibri"/>
              </a:rPr>
              <a:t>100%)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00716" y="4018356"/>
            <a:ext cx="55054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2F2F2F"/>
                </a:solidFill>
                <a:latin typeface="Cambria"/>
                <a:cs typeface="Cambria"/>
              </a:rPr>
              <a:t>97.85%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915343" y="8015892"/>
            <a:ext cx="3086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242424"/>
                </a:solidFill>
                <a:latin typeface="Consolas"/>
                <a:cs typeface="Consolas"/>
              </a:rPr>
              <a:t>SVM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292011" y="6760488"/>
            <a:ext cx="570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60">
                <a:solidFill>
                  <a:srgbClr val="212121"/>
                </a:solidFill>
                <a:latin typeface="Courier New"/>
                <a:cs typeface="Courier New"/>
              </a:rPr>
              <a:t>9K02%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317666" y="8004517"/>
            <a:ext cx="509905" cy="4337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dirty="0" sz="1250" spc="-25">
                <a:solidFill>
                  <a:srgbClr val="0E0E0E"/>
                </a:solidFill>
                <a:latin typeface="Cambria"/>
                <a:cs typeface="Cambria"/>
              </a:rPr>
              <a:t>KNN</a:t>
            </a:r>
            <a:endParaRPr sz="12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00" spc="-10">
                <a:solidFill>
                  <a:srgbClr val="161616"/>
                </a:solidFill>
                <a:latin typeface="Cambria"/>
                <a:cs typeface="Cambria"/>
              </a:rPr>
              <a:t>Models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799947" y="4219462"/>
            <a:ext cx="54546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1A1A1A"/>
                </a:solidFill>
                <a:latin typeface="Cambria"/>
                <a:cs typeface="Cambria"/>
              </a:rPr>
              <a:t>97.40%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88593" y="8019194"/>
            <a:ext cx="76390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2A2A2A"/>
                </a:solidFill>
                <a:latin typeface="Cambria"/>
                <a:cs typeface="Cambria"/>
              </a:rPr>
              <a:t>Perceptron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291241" y="5023644"/>
            <a:ext cx="57023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60">
                <a:solidFill>
                  <a:srgbClr val="181818"/>
                </a:solidFill>
                <a:latin typeface="Courier New"/>
                <a:cs typeface="Courier New"/>
              </a:rPr>
              <a:t>9570%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102570" y="8012845"/>
            <a:ext cx="9607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282828"/>
                </a:solidFill>
                <a:latin typeface="Cambria"/>
                <a:cs typeface="Cambria"/>
              </a:rPr>
              <a:t>Decision</a:t>
            </a:r>
            <a:r>
              <a:rPr dirty="0" sz="1300" spc="9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Cambria"/>
                <a:cs typeface="Cambria"/>
              </a:rPr>
              <a:t>Tree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9567" y="2242663"/>
            <a:ext cx="7455408" cy="55822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614226" y="4395230"/>
            <a:ext cx="281305" cy="130302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30">
                <a:solidFill>
                  <a:srgbClr val="1C1C1C"/>
                </a:solidFill>
                <a:latin typeface="Arial MT"/>
                <a:cs typeface="Arial MT"/>
              </a:rPr>
              <a:t>Accuracy</a:t>
            </a:r>
            <a:r>
              <a:rPr dirty="0" sz="1800" spc="-7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800" spc="-465">
                <a:solidFill>
                  <a:srgbClr val="3A3A3A"/>
                </a:solidFill>
                <a:latin typeface="Arial MT"/>
                <a:cs typeface="Arial MT"/>
              </a:rPr>
              <a:t>(</a:t>
            </a:r>
            <a:r>
              <a:rPr dirty="0" sz="1800" spc="229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800" spc="-200">
                <a:solidFill>
                  <a:srgbClr val="3A3A3A"/>
                </a:solidFill>
                <a:latin typeface="Arial MT"/>
                <a:cs typeface="Arial MT"/>
              </a:rPr>
              <a:t>•a)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3216" y="7904170"/>
            <a:ext cx="213359" cy="15235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5971092" y="2077100"/>
            <a:ext cx="39941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45">
                <a:solidFill>
                  <a:srgbClr val="181818"/>
                </a:solidFill>
                <a:latin typeface="Courier New"/>
                <a:cs typeface="Courier New"/>
              </a:rPr>
              <a:t>100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87473" y="3180150"/>
            <a:ext cx="2952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solidFill>
                  <a:srgbClr val="282828"/>
                </a:solidFill>
                <a:latin typeface="Courier New"/>
                <a:cs typeface="Courier New"/>
              </a:rPr>
              <a:t>98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08713" y="4289801"/>
            <a:ext cx="260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5">
                <a:solidFill>
                  <a:srgbClr val="0F0F0F"/>
                </a:solidFill>
                <a:latin typeface="Cambria"/>
                <a:cs typeface="Cambria"/>
              </a:rPr>
              <a:t>96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63321" y="4408637"/>
            <a:ext cx="774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"/>
                <a:cs typeface="Cambria"/>
              </a:rPr>
              <a:t>95.43%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08713" y="6489805"/>
            <a:ext cx="2559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solidFill>
                  <a:srgbClr val="1A1A1A"/>
                </a:solidFill>
                <a:latin typeface="Cambria"/>
                <a:cs typeface="Cambria"/>
              </a:rPr>
              <a:t>92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87473" y="7561874"/>
            <a:ext cx="2952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solidFill>
                  <a:srgbClr val="2B2B2B"/>
                </a:solidFill>
                <a:latin typeface="Courier New"/>
                <a:cs typeface="Courier New"/>
              </a:rPr>
              <a:t>90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931781" y="3083657"/>
            <a:ext cx="7753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32323"/>
                </a:solidFill>
                <a:latin typeface="Cambria"/>
                <a:cs typeface="Cambria"/>
              </a:rPr>
              <a:t>97.85%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84546" y="7793201"/>
            <a:ext cx="44005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80">
                <a:solidFill>
                  <a:srgbClr val="262626"/>
                </a:solidFill>
                <a:latin typeface="Courier New"/>
                <a:cs typeface="Courier New"/>
              </a:rPr>
              <a:t>SVM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98691" y="6276254"/>
            <a:ext cx="77914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30">
                <a:solidFill>
                  <a:srgbClr val="151515"/>
                </a:solidFill>
                <a:latin typeface="Cambria"/>
                <a:cs typeface="Cambria"/>
              </a:rPr>
              <a:t>92.02%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844431" y="7824941"/>
            <a:ext cx="3397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>
                <a:latin typeface="Calibri"/>
                <a:cs typeface="Calibri"/>
              </a:rPr>
              <a:t>MN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429869" y="3336567"/>
            <a:ext cx="9017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181818"/>
                </a:solidFill>
                <a:latin typeface="Cambria"/>
                <a:cs typeface="Cambria"/>
              </a:rPr>
              <a:t>97.40</a:t>
            </a:r>
            <a:r>
              <a:rPr dirty="0" baseline="37037" sz="1350" spc="-15">
                <a:solidFill>
                  <a:srgbClr val="181818"/>
                </a:solidFill>
                <a:latin typeface="Cambria"/>
                <a:cs typeface="Cambria"/>
              </a:rPr>
              <a:t>0</a:t>
            </a:r>
            <a:r>
              <a:rPr dirty="0" sz="1700" spc="-10">
                <a:solidFill>
                  <a:srgbClr val="181818"/>
                </a:solidFill>
                <a:latin typeface="Cambria"/>
                <a:cs typeface="Cambria"/>
              </a:rPr>
              <a:t>/a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268229" y="7793201"/>
            <a:ext cx="1105535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40">
                <a:solidFill>
                  <a:srgbClr val="212121"/>
                </a:solidFill>
                <a:latin typeface="Calibri"/>
                <a:cs typeface="Calibri"/>
              </a:rPr>
              <a:t>Perceptron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872" y="2510807"/>
            <a:ext cx="2115312" cy="151136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720" y="2833800"/>
            <a:ext cx="944880" cy="118836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159" y="731302"/>
            <a:ext cx="2090927" cy="155401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0527" y="1109143"/>
            <a:ext cx="963168" cy="120665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03903" y="1103048"/>
            <a:ext cx="963168" cy="118227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25567" y="731302"/>
            <a:ext cx="963167" cy="155401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46464" y="48754"/>
            <a:ext cx="9241536" cy="10238245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1237488" y="5472586"/>
            <a:ext cx="957580" cy="189230"/>
          </a:xfrm>
          <a:custGeom>
            <a:avLst/>
            <a:gdLst/>
            <a:ahLst/>
            <a:cxnLst/>
            <a:rect l="l" t="t" r="r" b="b"/>
            <a:pathLst>
              <a:path w="957580" h="189229">
                <a:moveTo>
                  <a:pt x="957072" y="188976"/>
                </a:moveTo>
                <a:lnTo>
                  <a:pt x="0" y="188976"/>
                </a:lnTo>
                <a:lnTo>
                  <a:pt x="0" y="0"/>
                </a:lnTo>
                <a:lnTo>
                  <a:pt x="957072" y="0"/>
                </a:lnTo>
                <a:lnTo>
                  <a:pt x="957072" y="188976"/>
                </a:lnTo>
                <a:close/>
              </a:path>
            </a:pathLst>
          </a:custGeom>
          <a:solidFill>
            <a:srgbClr val="002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273552" y="5472586"/>
            <a:ext cx="1274445" cy="238125"/>
          </a:xfrm>
          <a:custGeom>
            <a:avLst/>
            <a:gdLst/>
            <a:ahLst/>
            <a:cxnLst/>
            <a:rect l="l" t="t" r="r" b="b"/>
            <a:pathLst>
              <a:path w="1274445" h="238125">
                <a:moveTo>
                  <a:pt x="1274064" y="237744"/>
                </a:moveTo>
                <a:lnTo>
                  <a:pt x="0" y="237744"/>
                </a:lnTo>
                <a:lnTo>
                  <a:pt x="0" y="0"/>
                </a:lnTo>
                <a:lnTo>
                  <a:pt x="1274064" y="0"/>
                </a:lnTo>
                <a:lnTo>
                  <a:pt x="1274064" y="237744"/>
                </a:lnTo>
                <a:close/>
              </a:path>
            </a:pathLst>
          </a:custGeom>
          <a:solidFill>
            <a:srgbClr val="012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626864" y="5496963"/>
            <a:ext cx="226060" cy="165100"/>
          </a:xfrm>
          <a:custGeom>
            <a:avLst/>
            <a:gdLst/>
            <a:ahLst/>
            <a:cxnLst/>
            <a:rect l="l" t="t" r="r" b="b"/>
            <a:pathLst>
              <a:path w="226060" h="165100">
                <a:moveTo>
                  <a:pt x="225552" y="164592"/>
                </a:moveTo>
                <a:lnTo>
                  <a:pt x="0" y="164592"/>
                </a:lnTo>
                <a:lnTo>
                  <a:pt x="0" y="0"/>
                </a:lnTo>
                <a:lnTo>
                  <a:pt x="225552" y="0"/>
                </a:lnTo>
                <a:lnTo>
                  <a:pt x="225552" y="164592"/>
                </a:lnTo>
                <a:close/>
              </a:path>
            </a:pathLst>
          </a:custGeom>
          <a:solidFill>
            <a:srgbClr val="0023F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874775" y="4759566"/>
          <a:ext cx="6666230" cy="2969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235"/>
                <a:gridCol w="408305"/>
                <a:gridCol w="411480"/>
                <a:gridCol w="539750"/>
                <a:gridCol w="445134"/>
                <a:gridCol w="365760"/>
                <a:gridCol w="457199"/>
                <a:gridCol w="740410"/>
                <a:gridCol w="57785"/>
                <a:gridCol w="1572894"/>
                <a:gridCol w="337185"/>
              </a:tblGrid>
              <a:tr h="37274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  <a:lnT w="9525">
                      <a:solidFill>
                        <a:srgbClr val="132FDB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 gridSpan="11">
                  <a:txBody>
                    <a:bodyPr/>
                    <a:lstStyle/>
                    <a:p>
                      <a:pPr marL="118110">
                        <a:lnSpc>
                          <a:spcPts val="1820"/>
                        </a:lnSpc>
                      </a:pPr>
                      <a:r>
                        <a:rPr dirty="0" sz="2100">
                          <a:solidFill>
                            <a:srgbClr val="F9F9F9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dirty="0" sz="2100" spc="220">
                          <a:solidFill>
                            <a:srgbClr val="F9F9F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0A2ABA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dirty="0" sz="2100" spc="325">
                          <a:solidFill>
                            <a:srgbClr val="0A2AB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7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successfully</a:t>
                      </a:r>
                      <a:r>
                        <a:rPr dirty="0" sz="2100" spc="39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1F3BC6"/>
                          </a:solidFill>
                          <a:latin typeface="Calibri"/>
                          <a:cs typeface="Calibri"/>
                        </a:rPr>
                        <a:t>demonstrdtes</a:t>
                      </a:r>
                      <a:r>
                        <a:rPr dirty="0" sz="2100" spc="475">
                          <a:solidFill>
                            <a:srgbClr val="1F3BC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0F26C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2100" spc="225">
                          <a:solidFill>
                            <a:srgbClr val="0F26C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>
                          <a:solidFill>
                            <a:srgbClr val="2831D4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2100" spc="229">
                          <a:solidFill>
                            <a:srgbClr val="2831D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100" spc="-25">
                          <a:solidFill>
                            <a:srgbClr val="D4E2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80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6385">
                <a:tc gridSpan="2">
                  <a:txBody>
                    <a:bodyPr/>
                    <a:lstStyle/>
                    <a:p>
                      <a:pPr marL="346075">
                        <a:lnSpc>
                          <a:spcPts val="1870"/>
                        </a:lnSpc>
                      </a:pPr>
                      <a:r>
                        <a:rPr dirty="0" sz="21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machine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B w="85318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889"/>
                        </a:lnSpc>
                      </a:pPr>
                      <a:r>
                        <a:rPr dirty="0" sz="2250" spc="-10">
                          <a:solidFill>
                            <a:srgbClr val="0F2FBC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22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B w="85318">
                      <a:solidFill>
                        <a:srgbClr val="FFFFFF"/>
                      </a:solidFill>
                      <a:prstDash val="solid"/>
                    </a:lnB>
                    <a:solidFill>
                      <a:srgbClr val="0031FB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37465">
                        <a:lnSpc>
                          <a:spcPts val="1870"/>
                        </a:lnSpc>
                      </a:pPr>
                      <a:r>
                        <a:rPr dirty="0" sz="2150" spc="-40">
                          <a:solidFill>
                            <a:srgbClr val="001DB1"/>
                          </a:solidFill>
                          <a:latin typeface="Arial MT"/>
                          <a:cs typeface="Arial MT"/>
                        </a:rPr>
                        <a:t>techniaues </a:t>
                      </a:r>
                      <a:r>
                        <a:rPr dirty="0" sz="15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B w="85318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r>
                        <a:rPr dirty="0" sz="2100" spc="3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automatically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85318">
                      <a:solidFill>
                        <a:srgbClr val="FFFFFF"/>
                      </a:solidFill>
                      <a:prstDash val="solid"/>
                    </a:lnB>
                    <a:solidFill>
                      <a:srgbClr val="012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32FDB"/>
                      </a:solidFill>
                      <a:prstDash val="solid"/>
                    </a:lnR>
                    <a:lnB w="85318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86385">
                <a:tc gridSpan="11">
                  <a:txBody>
                    <a:bodyPr/>
                    <a:lstStyle/>
                    <a:p>
                      <a:pPr marL="179705">
                        <a:lnSpc>
                          <a:spcPts val="2155"/>
                        </a:lnSpc>
                      </a:pPr>
                      <a:r>
                        <a:rPr dirty="0" sz="2100" spc="-110">
                          <a:solidFill>
                            <a:srgbClr val="333DD1"/>
                          </a:solidFill>
                          <a:latin typeface="Cambria"/>
                          <a:cs typeface="Cambria"/>
                        </a:rPr>
                        <a:t>c(dSSif</a:t>
                      </a:r>
                      <a:r>
                        <a:rPr dirty="0" sz="2100" spc="-125">
                          <a:solidFill>
                            <a:srgbClr val="333DD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y</a:t>
                      </a:r>
                      <a:r>
                        <a:rPr dirty="0" sz="2100" spc="4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 spc="-65">
                          <a:solidFill>
                            <a:srgbClr val="283BBC"/>
                          </a:solidFill>
                          <a:latin typeface="Cambria"/>
                          <a:cs typeface="Cambria"/>
                        </a:rPr>
                        <a:t>emdi(s</a:t>
                      </a:r>
                      <a:r>
                        <a:rPr dirty="0" sz="2100" spc="100">
                          <a:solidFill>
                            <a:srgbClr val="283BB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>
                          <a:solidFill>
                            <a:srgbClr val="0C2889"/>
                          </a:solidFill>
                          <a:latin typeface="Cambria"/>
                          <a:cs typeface="Cambria"/>
                        </a:rPr>
                        <a:t>as</a:t>
                      </a:r>
                      <a:r>
                        <a:rPr dirty="0" sz="2100" spc="-40">
                          <a:solidFill>
                            <a:srgbClr val="0C288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 spc="6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Spim</a:t>
                      </a:r>
                      <a:r>
                        <a:rPr dirty="0" sz="2100" spc="114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>
                          <a:solidFill>
                            <a:srgbClr val="606EDA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2100" spc="90">
                          <a:solidFill>
                            <a:srgbClr val="606ED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>
                          <a:solidFill>
                            <a:srgbClr val="3B67CF"/>
                          </a:solidFill>
                          <a:latin typeface="Cambria"/>
                          <a:cs typeface="Cambria"/>
                        </a:rPr>
                        <a:t>not</a:t>
                      </a:r>
                      <a:r>
                        <a:rPr dirty="0" sz="2100" spc="45">
                          <a:solidFill>
                            <a:srgbClr val="3B6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spam.</a:t>
                      </a:r>
                      <a:r>
                        <a:rPr dirty="0" sz="2100" spc="135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 spc="-10">
                          <a:solidFill>
                            <a:srgbClr val="EDFBFF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dirty="0" sz="2100" spc="100">
                          <a:solidFill>
                            <a:srgbClr val="EDFB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2100" spc="-1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applying</a:t>
                      </a:r>
                      <a:endParaRPr sz="2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80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204">
                <a:tc gridSpan="11">
                  <a:txBody>
                    <a:bodyPr/>
                    <a:lstStyle/>
                    <a:p>
                      <a:pPr marL="117475">
                        <a:lnSpc>
                          <a:spcPts val="1820"/>
                        </a:lnSpc>
                      </a:pPr>
                      <a:r>
                        <a:rPr dirty="0" sz="2050" spc="-385">
                          <a:solidFill>
                            <a:srgbClr val="4967C3"/>
                          </a:solidFill>
                          <a:latin typeface="Arial MT"/>
                          <a:cs typeface="Arial MT"/>
                        </a:rPr>
                        <a:t>d¿Itči</a:t>
                      </a:r>
                      <a:r>
                        <a:rPr dirty="0" sz="2050" spc="165">
                          <a:solidFill>
                            <a:srgbClr val="4967C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3A4674"/>
                          </a:solidFill>
                          <a:latin typeface="Arial MT"/>
                          <a:cs typeface="Arial MT"/>
                        </a:rPr>
                        <a:t>preprocessing</a:t>
                      </a:r>
                      <a:r>
                        <a:rPr dirty="0" sz="2050" spc="-30">
                          <a:solidFill>
                            <a:srgbClr val="3A467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2050" spc="-10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TF-</a:t>
                      </a:r>
                      <a:r>
                        <a:rPr dirty="0" sz="205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IDF</a:t>
                      </a:r>
                      <a:r>
                        <a:rPr dirty="0" sz="2050" spc="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>
                          <a:solidFill>
                            <a:srgbClr val="F9F9F9"/>
                          </a:solidFill>
                          <a:latin typeface="Arial MT"/>
                          <a:cs typeface="Arial MT"/>
                        </a:rPr>
                        <a:t>fedture</a:t>
                      </a:r>
                      <a:r>
                        <a:rPr dirty="0" sz="2050" spc="-15">
                          <a:solidFill>
                            <a:srgbClr val="F9F9F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extraction,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805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6385">
                <a:tc gridSpan="11">
                  <a:txBody>
                    <a:bodyPr/>
                    <a:lstStyle/>
                    <a:p>
                      <a:pPr marL="370840">
                        <a:lnSpc>
                          <a:spcPts val="1889"/>
                        </a:lnSpc>
                      </a:pPr>
                      <a:r>
                        <a:rPr dirty="0" sz="2250" spc="-55">
                          <a:solidFill>
                            <a:srgbClr val="1105AE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2250" spc="-105">
                          <a:solidFill>
                            <a:srgbClr val="1105AE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text</a:t>
                      </a:r>
                      <a:r>
                        <a:rPr dirty="0" sz="2250" spc="-14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95">
                          <a:solidFill>
                            <a:srgbClr val="1C31A7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2250" spc="-60">
                          <a:solidFill>
                            <a:srgbClr val="1C31A7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24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22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effectively</a:t>
                      </a:r>
                      <a:r>
                        <a:rPr dirty="0" sz="2250" spc="-1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6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converted</a:t>
                      </a:r>
                      <a:r>
                        <a:rPr dirty="0" sz="2250" spc="-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2250" spc="-10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250" spc="-325">
                          <a:solidFill>
                            <a:srgbClr val="2442D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endParaRPr sz="22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B w="85318">
                      <a:solidFill>
                        <a:srgbClr val="FFFFFF"/>
                      </a:solidFill>
                      <a:prstDash val="solid"/>
                    </a:lnB>
                    <a:solidFill>
                      <a:srgbClr val="CFD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7490">
                <a:tc>
                  <a:txBody>
                    <a:bodyPr/>
                    <a:lstStyle/>
                    <a:p>
                      <a:pPr algn="r">
                        <a:lnSpc>
                          <a:spcPts val="1770"/>
                        </a:lnSpc>
                      </a:pPr>
                      <a:r>
                        <a:rPr dirty="0" sz="2050" spc="-25">
                          <a:solidFill>
                            <a:srgbClr val="07267E"/>
                          </a:solidFill>
                          <a:latin typeface="Courier New"/>
                          <a:cs typeface="Courier New"/>
                        </a:rPr>
                        <a:t>fo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T w="85318">
                      <a:solidFill>
                        <a:srgbClr val="FFFFFF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43840">
                        <a:lnSpc>
                          <a:spcPts val="1770"/>
                        </a:lnSpc>
                      </a:pPr>
                      <a:r>
                        <a:rPr dirty="0" sz="2050" spc="-110">
                          <a:solidFill>
                            <a:srgbClr val="07267E"/>
                          </a:solidFill>
                          <a:latin typeface="Courier New"/>
                          <a:cs typeface="Courier New"/>
                        </a:rPr>
                        <a:t>rmdt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R w="79248">
                      <a:solidFill>
                        <a:srgbClr val="FFFFFF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036E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6830">
                        <a:lnSpc>
                          <a:spcPts val="1770"/>
                        </a:lnSpc>
                      </a:pPr>
                      <a:r>
                        <a:rPr dirty="0" sz="21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suitable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79248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013C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1770"/>
                        </a:lnSpc>
                      </a:pPr>
                      <a:r>
                        <a:rPr dirty="0" sz="2050" spc="-25">
                          <a:solidFill>
                            <a:srgbClr val="112DD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02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70"/>
                        </a:lnSpc>
                      </a:pPr>
                      <a:r>
                        <a:rPr dirty="0" sz="2100" spc="50">
                          <a:solidFill>
                            <a:srgbClr val="0018B5"/>
                          </a:solidFill>
                          <a:latin typeface="Calibri"/>
                          <a:cs typeface="Calibri"/>
                        </a:rPr>
                        <a:t>mo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85318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8140">
                        <a:lnSpc>
                          <a:spcPts val="1770"/>
                        </a:lnSpc>
                      </a:pPr>
                      <a:r>
                        <a:rPr dirty="0" sz="2100" spc="-25">
                          <a:solidFill>
                            <a:srgbClr val="0018B5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A33C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925">
                        <a:lnSpc>
                          <a:spcPts val="1770"/>
                        </a:lnSpc>
                      </a:pPr>
                      <a:r>
                        <a:rPr dirty="0" sz="19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tr¿iining.</a:t>
                      </a:r>
                      <a:endParaRPr sz="19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  <a:lnT w="85318">
                      <a:solidFill>
                        <a:srgbClr val="FFFFFF"/>
                      </a:solidFill>
                      <a:prstDash val="solid"/>
                    </a:lnT>
                    <a:solidFill>
                      <a:srgbClr val="012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41680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32FDB"/>
                      </a:solidFill>
                      <a:prstDash val="solid"/>
                    </a:lnL>
                    <a:lnR w="9525">
                      <a:solidFill>
                        <a:srgbClr val="132FDB"/>
                      </a:solidFill>
                      <a:prstDash val="solid"/>
                    </a:lnR>
                    <a:lnB w="9525">
                      <a:solidFill>
                        <a:srgbClr val="132FD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1111052" y="8537709"/>
            <a:ext cx="5551805" cy="72834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2021205" marR="5080" indent="-2009139">
              <a:lnSpc>
                <a:spcPts val="2710"/>
              </a:lnSpc>
              <a:spcBef>
                <a:spcPts val="280"/>
              </a:spcBef>
            </a:pPr>
            <a:r>
              <a:rPr dirty="0" sz="2350" spc="-55">
                <a:latin typeface="Calibri"/>
                <a:cs typeface="Calibri"/>
              </a:rPr>
              <a:t>https://github.com/2403A51186/EMAIL-</a:t>
            </a:r>
            <a:r>
              <a:rPr dirty="0" sz="2350" spc="-30">
                <a:latin typeface="Calibri"/>
                <a:cs typeface="Calibri"/>
              </a:rPr>
              <a:t>SPAM- </a:t>
            </a:r>
            <a:r>
              <a:rPr dirty="0" sz="2350" spc="-10">
                <a:latin typeface="Calibri"/>
                <a:cs typeface="Calibri"/>
              </a:rPr>
              <a:t>DETECTION-</a:t>
            </a:r>
            <a:endParaRPr sz="2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BAIKANI SWAPNA</dc:creator>
  <cp:keywords>DAHGJVcNi7Q,BAHGJa8n1xA,0</cp:keywords>
  <dc:title>Blue and White Modern Email Marketing Presentation</dc:title>
  <dcterms:created xsi:type="dcterms:W3CDTF">2026-04-07T09:05:49Z</dcterms:created>
  <dcterms:modified xsi:type="dcterms:W3CDTF">2026-04-07T09:05:49Z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2026-04-07T00:00:00Z</vt:filetime>
  </property>
  <property fmtid="{D5CDD505-2E9C-101B-9397-08002B2CF9AE}" pid="5" name="Producer">
    <vt:lpwstr>iLovePDF</vt:lpwstr>
  </property>
</Properties>
</file>