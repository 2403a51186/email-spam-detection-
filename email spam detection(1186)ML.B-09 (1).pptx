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7" d="100"/>
          <a:sy n="47" d="100"/>
        </p:scale>
        <p:origin x="500" y="4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666882" y="1270128"/>
            <a:ext cx="1220470" cy="3911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4400" y="2366010"/>
            <a:ext cx="1645920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jp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jpg"/><Relationship Id="rId7" Type="http://schemas.openxmlformats.org/officeDocument/2006/relationships/image" Target="../media/image21.pn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jpg"/><Relationship Id="rId9" Type="http://schemas.openxmlformats.org/officeDocument/2006/relationships/image" Target="../media/image2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0.png"/><Relationship Id="rId7" Type="http://schemas.openxmlformats.org/officeDocument/2006/relationships/image" Target="../media/image34.jpg"/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jp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jpg"/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7723632" cy="102870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965936" y="9165668"/>
            <a:ext cx="524255" cy="9141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972543" y="3510255"/>
            <a:ext cx="4212336" cy="170637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239743" y="4497515"/>
            <a:ext cx="573023" cy="700832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2021311" y="2291416"/>
            <a:ext cx="2407919" cy="926317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4496287" y="2291416"/>
            <a:ext cx="115823" cy="91412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6843247" y="1029917"/>
            <a:ext cx="414528" cy="408311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3111759" y="6597215"/>
            <a:ext cx="3836670" cy="1428750"/>
          </a:xfrm>
          <a:prstGeom prst="rect">
            <a:avLst/>
          </a:prstGeom>
        </p:spPr>
        <p:txBody>
          <a:bodyPr vert="horz" wrap="square" lIns="0" tIns="99695" rIns="0" bIns="0" rtlCol="0">
            <a:spAutoFit/>
          </a:bodyPr>
          <a:lstStyle/>
          <a:p>
            <a:pPr marL="17145" marR="5080" indent="-5080">
              <a:lnSpc>
                <a:spcPts val="3450"/>
              </a:lnSpc>
              <a:spcBef>
                <a:spcPts val="785"/>
              </a:spcBef>
            </a:pPr>
            <a:r>
              <a:rPr sz="3450" spc="-215" dirty="0">
                <a:latin typeface="Calibri"/>
                <a:cs typeface="Calibri"/>
              </a:rPr>
              <a:t>Detect</a:t>
            </a:r>
            <a:r>
              <a:rPr sz="3450" spc="-110" dirty="0">
                <a:latin typeface="Calibri"/>
                <a:cs typeface="Calibri"/>
              </a:rPr>
              <a:t> </a:t>
            </a:r>
            <a:r>
              <a:rPr sz="3450" spc="-240" dirty="0">
                <a:latin typeface="Calibri"/>
                <a:cs typeface="Calibri"/>
              </a:rPr>
              <a:t>email</a:t>
            </a:r>
            <a:r>
              <a:rPr sz="3450" spc="-220" dirty="0">
                <a:latin typeface="Calibri"/>
                <a:cs typeface="Calibri"/>
              </a:rPr>
              <a:t> </a:t>
            </a:r>
            <a:r>
              <a:rPr sz="3450" spc="-125" dirty="0">
                <a:latin typeface="Calibri"/>
                <a:cs typeface="Calibri"/>
              </a:rPr>
              <a:t>spam</a:t>
            </a:r>
            <a:r>
              <a:rPr sz="3450" spc="-295" dirty="0">
                <a:latin typeface="Calibri"/>
                <a:cs typeface="Calibri"/>
              </a:rPr>
              <a:t> </a:t>
            </a:r>
            <a:r>
              <a:rPr sz="3450" spc="-145" dirty="0">
                <a:latin typeface="Calibri"/>
                <a:cs typeface="Calibri"/>
              </a:rPr>
              <a:t>usïng </a:t>
            </a:r>
            <a:r>
              <a:rPr sz="3400" spc="-254" dirty="0">
                <a:latin typeface="Calibri"/>
                <a:cs typeface="Calibri"/>
              </a:rPr>
              <a:t>multïple</a:t>
            </a:r>
            <a:r>
              <a:rPr sz="3400" spc="-25" dirty="0">
                <a:latin typeface="Calibri"/>
                <a:cs typeface="Calibri"/>
              </a:rPr>
              <a:t> </a:t>
            </a:r>
            <a:r>
              <a:rPr sz="3400" spc="-65" dirty="0">
                <a:latin typeface="Calibri"/>
                <a:cs typeface="Calibri"/>
              </a:rPr>
              <a:t>classification </a:t>
            </a:r>
            <a:r>
              <a:rPr sz="3450" spc="-125" dirty="0">
                <a:latin typeface="Calibri"/>
                <a:cs typeface="Calibri"/>
              </a:rPr>
              <a:t>algorïthms</a:t>
            </a:r>
            <a:endParaRPr sz="34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8640" y="0"/>
            <a:ext cx="17739360" cy="9750711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77829" y="610430"/>
            <a:ext cx="6412230" cy="2106930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12700" marR="5080" indent="-635">
              <a:lnSpc>
                <a:spcPct val="81200"/>
              </a:lnSpc>
              <a:spcBef>
                <a:spcPts val="705"/>
              </a:spcBef>
            </a:pPr>
            <a:r>
              <a:rPr sz="2700" spc="-229" dirty="0">
                <a:latin typeface="Calibri"/>
                <a:cs typeface="Calibri"/>
              </a:rPr>
              <a:t>Email</a:t>
            </a:r>
            <a:r>
              <a:rPr sz="2700" spc="-135" dirty="0">
                <a:latin typeface="Calibri"/>
                <a:cs typeface="Calibri"/>
              </a:rPr>
              <a:t> </a:t>
            </a:r>
            <a:r>
              <a:rPr sz="2700" spc="-85" dirty="0">
                <a:latin typeface="Calibri"/>
                <a:cs typeface="Calibri"/>
              </a:rPr>
              <a:t>has</a:t>
            </a:r>
            <a:r>
              <a:rPr sz="2700" spc="-275" dirty="0">
                <a:latin typeface="Calibri"/>
                <a:cs typeface="Calibri"/>
              </a:rPr>
              <a:t> </a:t>
            </a:r>
            <a:r>
              <a:rPr sz="2700" spc="-190" dirty="0">
                <a:latin typeface="Calibri"/>
                <a:cs typeface="Calibri"/>
              </a:rPr>
              <a:t>become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spc="-100" dirty="0">
                <a:latin typeface="Calibri"/>
                <a:cs typeface="Calibri"/>
              </a:rPr>
              <a:t>oneofthemostwidely </a:t>
            </a:r>
            <a:r>
              <a:rPr sz="2700" spc="-10" dirty="0">
                <a:latin typeface="Calibri"/>
                <a:cs typeface="Calibri"/>
              </a:rPr>
              <a:t>usedDrms </a:t>
            </a:r>
            <a:r>
              <a:rPr sz="2700" spc="-160" dirty="0">
                <a:latin typeface="Calibri"/>
                <a:cs typeface="Calibri"/>
              </a:rPr>
              <a:t>of</a:t>
            </a:r>
            <a:r>
              <a:rPr sz="2700" spc="-130" dirty="0">
                <a:latin typeface="Calibri"/>
                <a:cs typeface="Calibri"/>
              </a:rPr>
              <a:t> </a:t>
            </a:r>
            <a:r>
              <a:rPr sz="2700" spc="-160" dirty="0">
                <a:latin typeface="Calibri"/>
                <a:cs typeface="Calibri"/>
              </a:rPr>
              <a:t>communicationintoday's</a:t>
            </a:r>
            <a:r>
              <a:rPr sz="2700" spc="-180" dirty="0">
                <a:latin typeface="Calibri"/>
                <a:cs typeface="Calibri"/>
              </a:rPr>
              <a:t> </a:t>
            </a:r>
            <a:r>
              <a:rPr sz="2700" spc="-160" dirty="0">
                <a:latin typeface="Calibri"/>
                <a:cs typeface="Calibri"/>
              </a:rPr>
              <a:t>digitaIworId.Howeverthe </a:t>
            </a:r>
            <a:r>
              <a:rPr sz="2700" spc="-165" dirty="0">
                <a:latin typeface="Calibri"/>
                <a:cs typeface="Calibri"/>
              </a:rPr>
              <a:t>increasing</a:t>
            </a:r>
            <a:r>
              <a:rPr sz="2700" spc="20" dirty="0">
                <a:latin typeface="Calibri"/>
                <a:cs typeface="Calibri"/>
              </a:rPr>
              <a:t> </a:t>
            </a:r>
            <a:r>
              <a:rPr sz="2700" spc="-125" dirty="0">
                <a:latin typeface="Calibri"/>
                <a:cs typeface="Calibri"/>
              </a:rPr>
              <a:t>numberofspammessages—</a:t>
            </a:r>
            <a:r>
              <a:rPr sz="2700" spc="-10" dirty="0">
                <a:latin typeface="Calibri"/>
                <a:cs typeface="Calibri"/>
              </a:rPr>
              <a:t>suchas </a:t>
            </a:r>
            <a:r>
              <a:rPr sz="2700" spc="-229" dirty="0">
                <a:latin typeface="Calibri"/>
                <a:cs typeface="Calibri"/>
              </a:rPr>
              <a:t>unwanted</a:t>
            </a:r>
            <a:r>
              <a:rPr sz="2700" spc="-80" dirty="0">
                <a:latin typeface="Calibri"/>
                <a:cs typeface="Calibri"/>
              </a:rPr>
              <a:t> </a:t>
            </a:r>
            <a:r>
              <a:rPr sz="2700" spc="-135" dirty="0">
                <a:latin typeface="Calibri"/>
                <a:cs typeface="Calibri"/>
              </a:rPr>
              <a:t>advertisements,phishingemaiIs,and </a:t>
            </a:r>
            <a:r>
              <a:rPr sz="2700" spc="-215" dirty="0">
                <a:latin typeface="Calibri"/>
                <a:cs typeface="Calibri"/>
              </a:rPr>
              <a:t>fraudulentcontent—</a:t>
            </a:r>
            <a:r>
              <a:rPr sz="2700" spc="-210" dirty="0">
                <a:latin typeface="Calibri"/>
                <a:cs typeface="Calibri"/>
              </a:rPr>
              <a:t>has</a:t>
            </a:r>
            <a:r>
              <a:rPr sz="2700" spc="-105" dirty="0">
                <a:latin typeface="Calibri"/>
                <a:cs typeface="Calibri"/>
              </a:rPr>
              <a:t> </a:t>
            </a:r>
            <a:r>
              <a:rPr sz="2700" spc="-190" dirty="0">
                <a:latin typeface="Calibri"/>
                <a:cs typeface="Calibri"/>
              </a:rPr>
              <a:t>created</a:t>
            </a:r>
            <a:r>
              <a:rPr sz="2700" spc="-65" dirty="0">
                <a:latin typeface="Calibri"/>
                <a:cs typeface="Calibri"/>
              </a:rPr>
              <a:t> </a:t>
            </a:r>
            <a:r>
              <a:rPr sz="2700" spc="-90" dirty="0">
                <a:latin typeface="Calibri"/>
                <a:cs typeface="Calibri"/>
              </a:rPr>
              <a:t>seriouschallengesDr </a:t>
            </a:r>
            <a:r>
              <a:rPr sz="2700" spc="-10" dirty="0">
                <a:latin typeface="Calibri"/>
                <a:cs typeface="Calibri"/>
              </a:rPr>
              <a:t>users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-16810" y="3502127"/>
            <a:ext cx="7468234" cy="105283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8415" marR="5080" indent="-6350" algn="just">
              <a:lnSpc>
                <a:spcPct val="107100"/>
              </a:lnSpc>
              <a:spcBef>
                <a:spcPts val="85"/>
              </a:spcBef>
            </a:pPr>
            <a:r>
              <a:rPr sz="2100" dirty="0">
                <a:latin typeface="Calibri"/>
                <a:cs typeface="Calibri"/>
              </a:rPr>
              <a:t>Manual</a:t>
            </a:r>
            <a:r>
              <a:rPr sz="2100" spc="23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filtering</a:t>
            </a:r>
            <a:r>
              <a:rPr sz="2100" spc="23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of</a:t>
            </a:r>
            <a:r>
              <a:rPr sz="2100" spc="204" dirty="0">
                <a:latin typeface="Calibri"/>
                <a:cs typeface="Calibri"/>
              </a:rPr>
              <a:t> </a:t>
            </a:r>
            <a:r>
              <a:rPr sz="2100" spc="65" dirty="0">
                <a:latin typeface="Calibri"/>
                <a:cs typeface="Calibri"/>
              </a:rPr>
              <a:t>spam</a:t>
            </a:r>
            <a:r>
              <a:rPr sz="2100" spc="19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emails</a:t>
            </a:r>
            <a:r>
              <a:rPr sz="2100" spc="17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is</a:t>
            </a:r>
            <a:r>
              <a:rPr sz="2100" spc="25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time-consuming</a:t>
            </a:r>
            <a:r>
              <a:rPr sz="2100" spc="114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and</a:t>
            </a:r>
            <a:r>
              <a:rPr sz="2100" spc="140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inefficient. To</a:t>
            </a:r>
            <a:r>
              <a:rPr sz="2100" spc="114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overcome</a:t>
            </a:r>
            <a:r>
              <a:rPr sz="2100" spc="21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this</a:t>
            </a:r>
            <a:r>
              <a:rPr sz="2100" spc="12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issue,</a:t>
            </a:r>
            <a:r>
              <a:rPr sz="2100" spc="10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machine</a:t>
            </a:r>
            <a:r>
              <a:rPr sz="2100" spc="26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learning</a:t>
            </a:r>
            <a:r>
              <a:rPr sz="2100" spc="229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techniques</a:t>
            </a:r>
            <a:r>
              <a:rPr sz="2100" spc="335" dirty="0">
                <a:latin typeface="Calibri"/>
                <a:cs typeface="Calibri"/>
              </a:rPr>
              <a:t> </a:t>
            </a:r>
            <a:r>
              <a:rPr sz="2100" spc="75" dirty="0">
                <a:latin typeface="Calibri"/>
                <a:cs typeface="Calibri"/>
              </a:rPr>
              <a:t>can</a:t>
            </a:r>
            <a:r>
              <a:rPr sz="2100" spc="12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be</a:t>
            </a:r>
            <a:r>
              <a:rPr sz="2100" spc="85" dirty="0">
                <a:latin typeface="Calibri"/>
                <a:cs typeface="Calibri"/>
              </a:rPr>
              <a:t> </a:t>
            </a:r>
            <a:r>
              <a:rPr sz="2100" spc="-20" dirty="0">
                <a:latin typeface="Calibri"/>
                <a:cs typeface="Calibri"/>
              </a:rPr>
              <a:t>used </a:t>
            </a:r>
            <a:r>
              <a:rPr sz="2100" dirty="0">
                <a:latin typeface="Calibri"/>
                <a:cs typeface="Calibri"/>
              </a:rPr>
              <a:t>to</a:t>
            </a:r>
            <a:r>
              <a:rPr sz="2100" spc="13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automatically</a:t>
            </a:r>
            <a:r>
              <a:rPr sz="2100" spc="34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detect</a:t>
            </a:r>
            <a:r>
              <a:rPr sz="2100" spc="114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and</a:t>
            </a:r>
            <a:r>
              <a:rPr sz="2100" spc="150" dirty="0">
                <a:latin typeface="Calibri"/>
                <a:cs typeface="Calibri"/>
              </a:rPr>
              <a:t> </a:t>
            </a:r>
            <a:r>
              <a:rPr sz="2100" spc="55" dirty="0">
                <a:latin typeface="Calibri"/>
                <a:cs typeface="Calibri"/>
              </a:rPr>
              <a:t>classify</a:t>
            </a:r>
            <a:r>
              <a:rPr sz="2100" spc="34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emails</a:t>
            </a:r>
            <a:r>
              <a:rPr sz="2100" spc="13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as</a:t>
            </a:r>
            <a:r>
              <a:rPr sz="2100" spc="300" dirty="0">
                <a:latin typeface="Calibri"/>
                <a:cs typeface="Calibri"/>
              </a:rPr>
              <a:t> </a:t>
            </a:r>
            <a:r>
              <a:rPr sz="2100" spc="65" dirty="0">
                <a:latin typeface="Calibri"/>
                <a:cs typeface="Calibri"/>
              </a:rPr>
              <a:t>spam</a:t>
            </a:r>
            <a:r>
              <a:rPr sz="2100" spc="15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or</a:t>
            </a:r>
            <a:r>
              <a:rPr sz="2100" spc="13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not</a:t>
            </a:r>
            <a:r>
              <a:rPr sz="2100" spc="140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spam.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2991" y="5761802"/>
            <a:ext cx="11389360" cy="1389380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12700" marR="5080" indent="20320" algn="ctr">
              <a:lnSpc>
                <a:spcPts val="2640"/>
              </a:lnSpc>
              <a:spcBef>
                <a:spcPts val="335"/>
              </a:spcBef>
            </a:pPr>
            <a:r>
              <a:rPr sz="2350" spc="-50" dirty="0">
                <a:latin typeface="Calibri"/>
                <a:cs typeface="Calibri"/>
              </a:rPr>
              <a:t>This</a:t>
            </a:r>
            <a:r>
              <a:rPr sz="2350" spc="-85" dirty="0">
                <a:latin typeface="Calibri"/>
                <a:cs typeface="Calibri"/>
              </a:rPr>
              <a:t> </a:t>
            </a:r>
            <a:r>
              <a:rPr sz="2350" spc="-35" dirty="0">
                <a:latin typeface="Calibri"/>
                <a:cs typeface="Calibri"/>
              </a:rPr>
              <a:t>project</a:t>
            </a:r>
            <a:r>
              <a:rPr sz="2350" spc="-100" dirty="0">
                <a:latin typeface="Calibri"/>
                <a:cs typeface="Calibri"/>
              </a:rPr>
              <a:t> </a:t>
            </a:r>
            <a:r>
              <a:rPr sz="2350" spc="-25" dirty="0">
                <a:latin typeface="Calibri"/>
                <a:cs typeface="Calibri"/>
              </a:rPr>
              <a:t>focuses</a:t>
            </a:r>
            <a:r>
              <a:rPr sz="2350" spc="-110" dirty="0">
                <a:latin typeface="Calibri"/>
                <a:cs typeface="Calibri"/>
              </a:rPr>
              <a:t> </a:t>
            </a:r>
            <a:r>
              <a:rPr sz="2350" spc="-85" dirty="0">
                <a:latin typeface="Calibri"/>
                <a:cs typeface="Calibri"/>
              </a:rPr>
              <a:t>on</a:t>
            </a:r>
            <a:r>
              <a:rPr sz="2350" spc="-45" dirty="0">
                <a:latin typeface="Calibri"/>
                <a:cs typeface="Calibri"/>
              </a:rPr>
              <a:t> </a:t>
            </a:r>
            <a:r>
              <a:rPr sz="2350" spc="-55" dirty="0">
                <a:latin typeface="Calibri"/>
                <a:cs typeface="Calibri"/>
              </a:rPr>
              <a:t>developing</a:t>
            </a:r>
            <a:r>
              <a:rPr sz="2350" spc="-85" dirty="0">
                <a:latin typeface="Calibri"/>
                <a:cs typeface="Calibri"/>
              </a:rPr>
              <a:t> </a:t>
            </a:r>
            <a:r>
              <a:rPr sz="2350" spc="-50" dirty="0">
                <a:latin typeface="Calibri"/>
                <a:cs typeface="Calibri"/>
              </a:rPr>
              <a:t>an</a:t>
            </a:r>
            <a:r>
              <a:rPr sz="2350" spc="-85" dirty="0">
                <a:latin typeface="Calibri"/>
                <a:cs typeface="Calibri"/>
              </a:rPr>
              <a:t> </a:t>
            </a:r>
            <a:r>
              <a:rPr sz="2350" spc="-45" dirty="0">
                <a:latin typeface="Calibri"/>
                <a:cs typeface="Calibri"/>
              </a:rPr>
              <a:t>Email</a:t>
            </a:r>
            <a:r>
              <a:rPr sz="2350" spc="-90" dirty="0">
                <a:latin typeface="Calibri"/>
                <a:cs typeface="Calibri"/>
              </a:rPr>
              <a:t> </a:t>
            </a:r>
            <a:r>
              <a:rPr sz="2350" spc="-30" dirty="0">
                <a:latin typeface="Calibri"/>
                <a:cs typeface="Calibri"/>
              </a:rPr>
              <a:t>Spam</a:t>
            </a:r>
            <a:r>
              <a:rPr sz="2350" spc="-100" dirty="0">
                <a:latin typeface="Calibri"/>
                <a:cs typeface="Calibri"/>
              </a:rPr>
              <a:t> </a:t>
            </a:r>
            <a:r>
              <a:rPr sz="2350" spc="-50" dirty="0">
                <a:latin typeface="Calibri"/>
                <a:cs typeface="Calibri"/>
              </a:rPr>
              <a:t>Detection</a:t>
            </a:r>
            <a:r>
              <a:rPr sz="2350" spc="10" dirty="0">
                <a:latin typeface="Calibri"/>
                <a:cs typeface="Calibri"/>
              </a:rPr>
              <a:t> </a:t>
            </a:r>
            <a:r>
              <a:rPr sz="2350" spc="-40" dirty="0">
                <a:latin typeface="Calibri"/>
                <a:cs typeface="Calibri"/>
              </a:rPr>
              <a:t>system</a:t>
            </a:r>
            <a:r>
              <a:rPr sz="2350" spc="5" dirty="0">
                <a:latin typeface="Calibri"/>
                <a:cs typeface="Calibri"/>
              </a:rPr>
              <a:t> </a:t>
            </a:r>
            <a:r>
              <a:rPr sz="2350" spc="-60" dirty="0">
                <a:latin typeface="Calibri"/>
                <a:cs typeface="Calibri"/>
              </a:rPr>
              <a:t>using</a:t>
            </a:r>
            <a:r>
              <a:rPr sz="2350" spc="-80" dirty="0">
                <a:latin typeface="Calibri"/>
                <a:cs typeface="Calibri"/>
              </a:rPr>
              <a:t> </a:t>
            </a:r>
            <a:r>
              <a:rPr sz="2350" spc="-45" dirty="0">
                <a:latin typeface="Calibri"/>
                <a:cs typeface="Calibri"/>
              </a:rPr>
              <a:t>multiple</a:t>
            </a:r>
            <a:r>
              <a:rPr sz="2350" spc="-15" dirty="0">
                <a:latin typeface="Calibri"/>
                <a:cs typeface="Calibri"/>
              </a:rPr>
              <a:t> </a:t>
            </a:r>
            <a:r>
              <a:rPr sz="2350" spc="-10" dirty="0">
                <a:latin typeface="Calibri"/>
                <a:cs typeface="Calibri"/>
              </a:rPr>
              <a:t>classification </a:t>
            </a:r>
            <a:r>
              <a:rPr sz="2350" spc="-50" dirty="0">
                <a:latin typeface="Calibri"/>
                <a:cs typeface="Calibri"/>
              </a:rPr>
              <a:t>algorithms</a:t>
            </a:r>
            <a:r>
              <a:rPr sz="2350" spc="-35" dirty="0">
                <a:latin typeface="Calibri"/>
                <a:cs typeface="Calibri"/>
              </a:rPr>
              <a:t> </a:t>
            </a:r>
            <a:r>
              <a:rPr sz="2350" spc="-20" dirty="0">
                <a:latin typeface="Calibri"/>
                <a:cs typeface="Calibri"/>
              </a:rPr>
              <a:t>such</a:t>
            </a:r>
            <a:r>
              <a:rPr sz="2350" spc="-95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as</a:t>
            </a:r>
            <a:r>
              <a:rPr sz="2350" spc="-114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Logistic</a:t>
            </a:r>
            <a:r>
              <a:rPr sz="2350" spc="-65" dirty="0">
                <a:latin typeface="Calibri"/>
                <a:cs typeface="Calibri"/>
              </a:rPr>
              <a:t> </a:t>
            </a:r>
            <a:r>
              <a:rPr sz="2350" spc="-60" dirty="0">
                <a:latin typeface="Calibri"/>
                <a:cs typeface="Calibri"/>
              </a:rPr>
              <a:t>Regression,</a:t>
            </a:r>
            <a:r>
              <a:rPr sz="2350" spc="40" dirty="0">
                <a:latin typeface="Calibri"/>
                <a:cs typeface="Calibri"/>
              </a:rPr>
              <a:t> </a:t>
            </a:r>
            <a:r>
              <a:rPr sz="2350" spc="-35" dirty="0">
                <a:latin typeface="Calibri"/>
                <a:cs typeface="Calibri"/>
              </a:rPr>
              <a:t>Support</a:t>
            </a:r>
            <a:r>
              <a:rPr sz="2350" spc="-5" dirty="0">
                <a:latin typeface="Calibri"/>
                <a:cs typeface="Calibri"/>
              </a:rPr>
              <a:t> </a:t>
            </a:r>
            <a:r>
              <a:rPr sz="2350" spc="-70" dirty="0">
                <a:latin typeface="Calibri"/>
                <a:cs typeface="Calibri"/>
              </a:rPr>
              <a:t>Vector</a:t>
            </a:r>
            <a:r>
              <a:rPr sz="2350" spc="-65" dirty="0">
                <a:latin typeface="Calibri"/>
                <a:cs typeface="Calibri"/>
              </a:rPr>
              <a:t> </a:t>
            </a:r>
            <a:r>
              <a:rPr sz="2350" spc="-100" dirty="0">
                <a:latin typeface="Calibri"/>
                <a:cs typeface="Calibri"/>
              </a:rPr>
              <a:t>Machine</a:t>
            </a:r>
            <a:r>
              <a:rPr sz="2350" spc="-35" dirty="0">
                <a:latin typeface="Calibri"/>
                <a:cs typeface="Calibri"/>
              </a:rPr>
              <a:t> </a:t>
            </a:r>
            <a:r>
              <a:rPr sz="2350" spc="-114" dirty="0">
                <a:latin typeface="Calibri"/>
                <a:cs typeface="Calibri"/>
              </a:rPr>
              <a:t>(SVM),</a:t>
            </a:r>
            <a:r>
              <a:rPr sz="2350" spc="-15" dirty="0">
                <a:latin typeface="Calibri"/>
                <a:cs typeface="Calibri"/>
              </a:rPr>
              <a:t> </a:t>
            </a:r>
            <a:r>
              <a:rPr sz="2350" spc="-50" dirty="0">
                <a:latin typeface="Calibri"/>
                <a:cs typeface="Calibri"/>
              </a:rPr>
              <a:t>and</a:t>
            </a:r>
            <a:r>
              <a:rPr sz="2350" spc="-80" dirty="0">
                <a:latin typeface="Calibri"/>
                <a:cs typeface="Calibri"/>
              </a:rPr>
              <a:t> </a:t>
            </a:r>
            <a:r>
              <a:rPr sz="2350" spc="-90" dirty="0">
                <a:latin typeface="Calibri"/>
                <a:cs typeface="Calibri"/>
              </a:rPr>
              <a:t>K-</a:t>
            </a:r>
            <a:r>
              <a:rPr sz="2350" spc="-80" dirty="0">
                <a:latin typeface="Calibri"/>
                <a:cs typeface="Calibri"/>
              </a:rPr>
              <a:t>Nearest</a:t>
            </a:r>
            <a:r>
              <a:rPr sz="2350" spc="-55" dirty="0">
                <a:latin typeface="Calibri"/>
                <a:cs typeface="Calibri"/>
              </a:rPr>
              <a:t> </a:t>
            </a:r>
            <a:r>
              <a:rPr sz="2350" spc="-10" dirty="0">
                <a:latin typeface="Calibri"/>
                <a:cs typeface="Calibri"/>
              </a:rPr>
              <a:t>Neighbors </a:t>
            </a:r>
            <a:r>
              <a:rPr sz="2350" spc="-85" dirty="0">
                <a:latin typeface="Calibri"/>
                <a:cs typeface="Calibri"/>
              </a:rPr>
              <a:t>(KNN).</a:t>
            </a:r>
            <a:r>
              <a:rPr sz="2350" spc="-50" dirty="0">
                <a:latin typeface="Calibri"/>
                <a:cs typeface="Calibri"/>
              </a:rPr>
              <a:t> </a:t>
            </a:r>
            <a:r>
              <a:rPr sz="2350" spc="-90" dirty="0">
                <a:latin typeface="Calibri"/>
                <a:cs typeface="Calibri"/>
              </a:rPr>
              <a:t>The</a:t>
            </a:r>
            <a:r>
              <a:rPr sz="2350" spc="-55" dirty="0">
                <a:latin typeface="Calibri"/>
                <a:cs typeface="Calibri"/>
              </a:rPr>
              <a:t> </a:t>
            </a:r>
            <a:r>
              <a:rPr sz="2350" spc="-40" dirty="0">
                <a:latin typeface="Calibri"/>
                <a:cs typeface="Calibri"/>
              </a:rPr>
              <a:t>system</a:t>
            </a:r>
            <a:r>
              <a:rPr sz="2350" spc="-95" dirty="0">
                <a:latin typeface="Calibri"/>
                <a:cs typeface="Calibri"/>
              </a:rPr>
              <a:t> </a:t>
            </a:r>
            <a:r>
              <a:rPr sz="2350" spc="-30" dirty="0">
                <a:latin typeface="Calibri"/>
                <a:cs typeface="Calibri"/>
              </a:rPr>
              <a:t>processes</a:t>
            </a:r>
            <a:r>
              <a:rPr sz="2350" spc="-80" dirty="0">
                <a:latin typeface="Calibri"/>
                <a:cs typeface="Calibri"/>
              </a:rPr>
              <a:t> </a:t>
            </a:r>
            <a:r>
              <a:rPr sz="2350" spc="-85" dirty="0">
                <a:latin typeface="Calibri"/>
                <a:cs typeface="Calibri"/>
              </a:rPr>
              <a:t>and</a:t>
            </a:r>
            <a:r>
              <a:rPr sz="2350" spc="-45" dirty="0">
                <a:latin typeface="Calibri"/>
                <a:cs typeface="Calibri"/>
              </a:rPr>
              <a:t> </a:t>
            </a:r>
            <a:r>
              <a:rPr sz="2350" spc="-55" dirty="0">
                <a:latin typeface="Calibri"/>
                <a:cs typeface="Calibri"/>
              </a:rPr>
              <a:t>analyzes</a:t>
            </a:r>
            <a:r>
              <a:rPr sz="2350" spc="-5" dirty="0">
                <a:latin typeface="Calibri"/>
                <a:cs typeface="Calibri"/>
              </a:rPr>
              <a:t> </a:t>
            </a:r>
            <a:r>
              <a:rPr sz="2350" spc="-50" dirty="0">
                <a:latin typeface="Calibri"/>
                <a:cs typeface="Calibri"/>
              </a:rPr>
              <a:t>email</a:t>
            </a:r>
            <a:r>
              <a:rPr sz="2350" spc="-125" dirty="0">
                <a:latin typeface="Calibri"/>
                <a:cs typeface="Calibri"/>
              </a:rPr>
              <a:t> </a:t>
            </a:r>
            <a:r>
              <a:rPr sz="2350" spc="-60" dirty="0">
                <a:latin typeface="Calibri"/>
                <a:cs typeface="Calibri"/>
              </a:rPr>
              <a:t>text,</a:t>
            </a:r>
            <a:r>
              <a:rPr sz="2350" spc="-75" dirty="0">
                <a:latin typeface="Calibri"/>
                <a:cs typeface="Calibri"/>
              </a:rPr>
              <a:t> </a:t>
            </a:r>
            <a:r>
              <a:rPr sz="2350" spc="-35" dirty="0">
                <a:latin typeface="Calibri"/>
                <a:cs typeface="Calibri"/>
              </a:rPr>
              <a:t>converts</a:t>
            </a:r>
            <a:r>
              <a:rPr sz="2350" spc="40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it</a:t>
            </a:r>
            <a:r>
              <a:rPr sz="2350" spc="-140" dirty="0">
                <a:latin typeface="Calibri"/>
                <a:cs typeface="Calibri"/>
              </a:rPr>
              <a:t> </a:t>
            </a:r>
            <a:r>
              <a:rPr sz="2350" spc="-45" dirty="0">
                <a:latin typeface="Calibri"/>
                <a:cs typeface="Calibri"/>
              </a:rPr>
              <a:t>into</a:t>
            </a:r>
            <a:r>
              <a:rPr sz="2350" spc="-65" dirty="0">
                <a:latin typeface="Calibri"/>
                <a:cs typeface="Calibri"/>
              </a:rPr>
              <a:t> </a:t>
            </a:r>
            <a:r>
              <a:rPr sz="2350" spc="-55" dirty="0">
                <a:latin typeface="Calibri"/>
                <a:cs typeface="Calibri"/>
              </a:rPr>
              <a:t>numerical</a:t>
            </a:r>
            <a:r>
              <a:rPr sz="2350" spc="-75" dirty="0">
                <a:latin typeface="Calibri"/>
                <a:cs typeface="Calibri"/>
              </a:rPr>
              <a:t> </a:t>
            </a:r>
            <a:r>
              <a:rPr sz="2350" spc="-70" dirty="0">
                <a:latin typeface="Calibri"/>
                <a:cs typeface="Calibri"/>
              </a:rPr>
              <a:t>form</a:t>
            </a:r>
            <a:r>
              <a:rPr sz="2350" spc="-60" dirty="0">
                <a:latin typeface="Calibri"/>
                <a:cs typeface="Calibri"/>
              </a:rPr>
              <a:t> </a:t>
            </a:r>
            <a:r>
              <a:rPr sz="2350" spc="-30" dirty="0">
                <a:latin typeface="Calibri"/>
                <a:cs typeface="Calibri"/>
              </a:rPr>
              <a:t>using</a:t>
            </a:r>
            <a:r>
              <a:rPr sz="2350" spc="5" dirty="0">
                <a:latin typeface="Calibri"/>
                <a:cs typeface="Calibri"/>
              </a:rPr>
              <a:t> </a:t>
            </a:r>
            <a:r>
              <a:rPr sz="2350" spc="-90" dirty="0">
                <a:latin typeface="Calibri"/>
                <a:cs typeface="Calibri"/>
              </a:rPr>
              <a:t>TF-</a:t>
            </a:r>
            <a:r>
              <a:rPr sz="2350" spc="-20" dirty="0">
                <a:latin typeface="Calibri"/>
                <a:cs typeface="Calibri"/>
              </a:rPr>
              <a:t>IDF, </a:t>
            </a:r>
            <a:r>
              <a:rPr sz="2350" spc="-60" dirty="0">
                <a:latin typeface="Calibri"/>
                <a:cs typeface="Calibri"/>
              </a:rPr>
              <a:t>and</a:t>
            </a:r>
            <a:r>
              <a:rPr sz="2350" spc="-75" dirty="0">
                <a:latin typeface="Calibri"/>
                <a:cs typeface="Calibri"/>
              </a:rPr>
              <a:t> </a:t>
            </a:r>
            <a:r>
              <a:rPr sz="2350" spc="-35" dirty="0">
                <a:latin typeface="Calibri"/>
                <a:cs typeface="Calibri"/>
              </a:rPr>
              <a:t>applies</a:t>
            </a:r>
            <a:r>
              <a:rPr sz="2350" spc="-85" dirty="0">
                <a:latin typeface="Calibri"/>
                <a:cs typeface="Calibri"/>
              </a:rPr>
              <a:t> </a:t>
            </a:r>
            <a:r>
              <a:rPr sz="2350" spc="-55" dirty="0">
                <a:latin typeface="Calibri"/>
                <a:cs typeface="Calibri"/>
              </a:rPr>
              <a:t>these</a:t>
            </a:r>
            <a:r>
              <a:rPr sz="2350" spc="-80" dirty="0">
                <a:latin typeface="Calibri"/>
                <a:cs typeface="Calibri"/>
              </a:rPr>
              <a:t> </a:t>
            </a:r>
            <a:r>
              <a:rPr sz="2350" spc="-50" dirty="0">
                <a:latin typeface="Calibri"/>
                <a:cs typeface="Calibri"/>
              </a:rPr>
              <a:t>algorithms</a:t>
            </a:r>
            <a:r>
              <a:rPr sz="2350" spc="20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fo</a:t>
            </a:r>
            <a:r>
              <a:rPr sz="2350" spc="-125" dirty="0">
                <a:latin typeface="Calibri"/>
                <a:cs typeface="Calibri"/>
              </a:rPr>
              <a:t> </a:t>
            </a:r>
            <a:r>
              <a:rPr sz="2350" spc="-25" dirty="0">
                <a:latin typeface="Calibri"/>
                <a:cs typeface="Calibri"/>
              </a:rPr>
              <a:t>accurately</a:t>
            </a:r>
            <a:r>
              <a:rPr sz="2350" spc="35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classify</a:t>
            </a:r>
            <a:r>
              <a:rPr sz="2350" spc="-15" dirty="0">
                <a:latin typeface="Calibri"/>
                <a:cs typeface="Calibri"/>
              </a:rPr>
              <a:t> </a:t>
            </a:r>
            <a:r>
              <a:rPr sz="2350" spc="-10" dirty="0">
                <a:latin typeface="Calibri"/>
                <a:cs typeface="Calibri"/>
              </a:rPr>
              <a:t>messages.</a:t>
            </a:r>
            <a:endParaRPr sz="23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459200" y="8458741"/>
            <a:ext cx="804671" cy="804433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30224" y="4790036"/>
            <a:ext cx="518159" cy="9750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090672" y="2084214"/>
            <a:ext cx="3810000" cy="81052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20128" y="2084214"/>
            <a:ext cx="932687" cy="804433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139439" y="1096954"/>
            <a:ext cx="1591056" cy="847092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791455" y="1060389"/>
            <a:ext cx="579120" cy="883658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381743" y="0"/>
            <a:ext cx="7876032" cy="4887543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013642" y="4047810"/>
            <a:ext cx="3256279" cy="4292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50" spc="-200" dirty="0">
                <a:latin typeface="Calibri"/>
                <a:cs typeface="Calibri"/>
              </a:rPr>
              <a:t>Email</a:t>
            </a:r>
            <a:r>
              <a:rPr sz="2650" spc="-120" dirty="0">
                <a:latin typeface="Calibri"/>
                <a:cs typeface="Calibri"/>
              </a:rPr>
              <a:t> </a:t>
            </a:r>
            <a:r>
              <a:rPr sz="2650" spc="-114" dirty="0">
                <a:latin typeface="Calibri"/>
                <a:cs typeface="Calibri"/>
              </a:rPr>
              <a:t>spam</a:t>
            </a:r>
            <a:r>
              <a:rPr sz="2650" spc="-225" dirty="0">
                <a:latin typeface="Calibri"/>
                <a:cs typeface="Calibri"/>
              </a:rPr>
              <a:t> </a:t>
            </a:r>
            <a:r>
              <a:rPr sz="2650" spc="-185" dirty="0">
                <a:latin typeface="Calibri"/>
                <a:cs typeface="Calibri"/>
              </a:rPr>
              <a:t>detection</a:t>
            </a:r>
            <a:r>
              <a:rPr sz="2650" spc="-105" dirty="0">
                <a:latin typeface="Calibri"/>
                <a:cs typeface="Calibri"/>
              </a:rPr>
              <a:t> </a:t>
            </a:r>
            <a:r>
              <a:rPr sz="2650" spc="-120" dirty="0">
                <a:latin typeface="Calibri"/>
                <a:cs typeface="Calibri"/>
              </a:rPr>
              <a:t>in</a:t>
            </a:r>
            <a:r>
              <a:rPr sz="2650" spc="-290" dirty="0">
                <a:latin typeface="Calibri"/>
                <a:cs typeface="Calibri"/>
              </a:rPr>
              <a:t> </a:t>
            </a:r>
            <a:r>
              <a:rPr sz="2650" spc="-114" dirty="0">
                <a:latin typeface="Calibri"/>
                <a:cs typeface="Calibri"/>
              </a:rPr>
              <a:t>ML</a:t>
            </a:r>
            <a:endParaRPr sz="265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333801" y="519272"/>
            <a:ext cx="2058035" cy="17094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11050" spc="-325" dirty="0" err="1">
                <a:latin typeface="Calibri"/>
                <a:cs typeface="Calibri"/>
              </a:rPr>
              <a:t>l</a:t>
            </a:r>
            <a:r>
              <a:rPr sz="11050" spc="-325" dirty="0" err="1">
                <a:latin typeface="Calibri"/>
                <a:cs typeface="Calibri"/>
              </a:rPr>
              <a:t>em</a:t>
            </a:r>
            <a:endParaRPr sz="11050" dirty="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837120" y="1498660"/>
            <a:ext cx="2229485" cy="1671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800" spc="-755" dirty="0">
                <a:latin typeface="Cambria"/>
                <a:cs typeface="Cambria"/>
              </a:rPr>
              <a:t>eme</a:t>
            </a:r>
            <a:endParaRPr sz="10800" dirty="0">
              <a:latin typeface="Cambria"/>
              <a:cs typeface="Cambr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147525" y="5686895"/>
            <a:ext cx="6250940" cy="1727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240" marR="5080" indent="-3175">
              <a:lnSpc>
                <a:spcPct val="106600"/>
              </a:lnSpc>
              <a:spcBef>
                <a:spcPts val="100"/>
              </a:spcBef>
            </a:pPr>
            <a:r>
              <a:rPr sz="2100" dirty="0">
                <a:latin typeface="Calibri"/>
                <a:cs typeface="Calibri"/>
              </a:rPr>
              <a:t>In</a:t>
            </a:r>
            <a:r>
              <a:rPr sz="2100" spc="7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todag's</a:t>
            </a:r>
            <a:r>
              <a:rPr sz="2100" spc="15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digital</a:t>
            </a:r>
            <a:r>
              <a:rPr sz="2100" spc="175" dirty="0">
                <a:latin typeface="Calibri"/>
                <a:cs typeface="Calibri"/>
              </a:rPr>
              <a:t> </a:t>
            </a:r>
            <a:r>
              <a:rPr sz="2100" spc="-20" dirty="0">
                <a:latin typeface="Calibri"/>
                <a:cs typeface="Calibri"/>
              </a:rPr>
              <a:t>world,</a:t>
            </a:r>
            <a:r>
              <a:rPr sz="2100" spc="4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email</a:t>
            </a:r>
            <a:r>
              <a:rPr sz="2100" spc="17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communication</a:t>
            </a:r>
            <a:r>
              <a:rPr sz="2100" spc="32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is</a:t>
            </a:r>
            <a:r>
              <a:rPr sz="2100" spc="240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widely </a:t>
            </a:r>
            <a:r>
              <a:rPr sz="2100" dirty="0">
                <a:latin typeface="Calibri"/>
                <a:cs typeface="Calibri"/>
              </a:rPr>
              <a:t>used,</a:t>
            </a:r>
            <a:r>
              <a:rPr sz="2100" spc="5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but</a:t>
            </a:r>
            <a:r>
              <a:rPr sz="2100" spc="14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it</a:t>
            </a:r>
            <a:r>
              <a:rPr sz="2100" spc="11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is</a:t>
            </a:r>
            <a:r>
              <a:rPr sz="2100" spc="29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also</a:t>
            </a:r>
            <a:r>
              <a:rPr sz="2100" spc="12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heavily</a:t>
            </a:r>
            <a:r>
              <a:rPr sz="2100" spc="34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affected</a:t>
            </a:r>
            <a:r>
              <a:rPr sz="2100" spc="204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bg</a:t>
            </a:r>
            <a:r>
              <a:rPr sz="2100" spc="180" dirty="0">
                <a:latin typeface="Calibri"/>
                <a:cs typeface="Calibri"/>
              </a:rPr>
              <a:t> </a:t>
            </a:r>
            <a:r>
              <a:rPr sz="2100" spc="75" dirty="0">
                <a:latin typeface="Calibri"/>
                <a:cs typeface="Calibri"/>
              </a:rPr>
              <a:t>spam</a:t>
            </a:r>
            <a:r>
              <a:rPr sz="2100" spc="130" dirty="0">
                <a:latin typeface="Calibri"/>
                <a:cs typeface="Calibri"/>
              </a:rPr>
              <a:t> </a:t>
            </a:r>
            <a:r>
              <a:rPr sz="2100" spc="40" dirty="0">
                <a:latin typeface="Calibri"/>
                <a:cs typeface="Calibri"/>
              </a:rPr>
              <a:t>messages, </a:t>
            </a:r>
            <a:r>
              <a:rPr sz="2100" dirty="0">
                <a:latin typeface="Calibri"/>
                <a:cs typeface="Calibri"/>
              </a:rPr>
              <a:t>which</a:t>
            </a:r>
            <a:r>
              <a:rPr sz="2100" spc="215" dirty="0">
                <a:latin typeface="Calibri"/>
                <a:cs typeface="Calibri"/>
              </a:rPr>
              <a:t> </a:t>
            </a:r>
            <a:r>
              <a:rPr sz="2100" spc="75" dirty="0">
                <a:latin typeface="Calibri"/>
                <a:cs typeface="Calibri"/>
              </a:rPr>
              <a:t>can</a:t>
            </a:r>
            <a:r>
              <a:rPr sz="2100" spc="11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be</a:t>
            </a:r>
            <a:r>
              <a:rPr sz="2100" spc="16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annoying,</a:t>
            </a:r>
            <a:r>
              <a:rPr sz="2100" spc="16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misleading,</a:t>
            </a:r>
            <a:r>
              <a:rPr sz="2100" spc="21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or</a:t>
            </a:r>
            <a:r>
              <a:rPr sz="2100" spc="14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even</a:t>
            </a:r>
            <a:r>
              <a:rPr sz="2100" spc="140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harmful.</a:t>
            </a:r>
            <a:endParaRPr sz="2100">
              <a:latin typeface="Calibri"/>
              <a:cs typeface="Calibri"/>
            </a:endParaRPr>
          </a:p>
          <a:p>
            <a:pPr marL="13335">
              <a:lnSpc>
                <a:spcPct val="100000"/>
              </a:lnSpc>
              <a:spcBef>
                <a:spcPts val="244"/>
              </a:spcBef>
            </a:pPr>
            <a:r>
              <a:rPr sz="2000" dirty="0">
                <a:latin typeface="Calibri"/>
                <a:cs typeface="Calibri"/>
              </a:rPr>
              <a:t>Manually</a:t>
            </a:r>
            <a:r>
              <a:rPr sz="2000" spc="3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filtering</a:t>
            </a:r>
            <a:r>
              <a:rPr sz="2000" spc="365" dirty="0">
                <a:latin typeface="Calibri"/>
                <a:cs typeface="Calibri"/>
              </a:rPr>
              <a:t> </a:t>
            </a:r>
            <a:r>
              <a:rPr sz="2000" spc="105" dirty="0">
                <a:latin typeface="Calibri"/>
                <a:cs typeface="Calibri"/>
              </a:rPr>
              <a:t>spam</a:t>
            </a:r>
            <a:r>
              <a:rPr sz="2000" spc="250" dirty="0">
                <a:latin typeface="Calibri"/>
                <a:cs typeface="Calibri"/>
              </a:rPr>
              <a:t> </a:t>
            </a:r>
            <a:r>
              <a:rPr sz="2000" spc="65" dirty="0">
                <a:latin typeface="Calibri"/>
                <a:cs typeface="Calibri"/>
              </a:rPr>
              <a:t>emails</a:t>
            </a:r>
            <a:r>
              <a:rPr sz="2000" spc="229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280" dirty="0">
                <a:latin typeface="Calibri"/>
                <a:cs typeface="Calibri"/>
              </a:rPr>
              <a:t> </a:t>
            </a:r>
            <a:r>
              <a:rPr sz="2000" spc="80" dirty="0">
                <a:latin typeface="Calibri"/>
                <a:cs typeface="Calibri"/>
              </a:rPr>
              <a:t>time-</a:t>
            </a:r>
            <a:r>
              <a:rPr sz="2000" spc="90" dirty="0">
                <a:latin typeface="Calibri"/>
                <a:cs typeface="Calibri"/>
              </a:rPr>
              <a:t>consuming</a:t>
            </a:r>
            <a:r>
              <a:rPr sz="2000" spc="105" dirty="0">
                <a:latin typeface="Calibri"/>
                <a:cs typeface="Calibri"/>
              </a:rPr>
              <a:t> </a:t>
            </a:r>
            <a:r>
              <a:rPr sz="2000" spc="50" dirty="0">
                <a:latin typeface="Calibri"/>
                <a:cs typeface="Calibri"/>
              </a:rPr>
              <a:t>and</a:t>
            </a:r>
            <a:endParaRPr sz="2000">
              <a:latin typeface="Calibri"/>
              <a:cs typeface="Calibri"/>
            </a:endParaRPr>
          </a:p>
          <a:p>
            <a:pPr marL="17780">
              <a:lnSpc>
                <a:spcPct val="100000"/>
              </a:lnSpc>
              <a:spcBef>
                <a:spcPts val="235"/>
              </a:spcBef>
            </a:pPr>
            <a:r>
              <a:rPr sz="2050" spc="-10" dirty="0">
                <a:latin typeface="Calibri"/>
                <a:cs typeface="Calibri"/>
              </a:rPr>
              <a:t>inefficient.</a:t>
            </a:r>
            <a:endParaRPr sz="205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13413" y="7960283"/>
            <a:ext cx="6321425" cy="159448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 indent="8255">
              <a:lnSpc>
                <a:spcPct val="101800"/>
              </a:lnSpc>
              <a:spcBef>
                <a:spcPts val="55"/>
              </a:spcBef>
            </a:pPr>
            <a:r>
              <a:rPr sz="2050" spc="-70" dirty="0">
                <a:latin typeface="Calibri"/>
                <a:cs typeface="Calibri"/>
              </a:rPr>
              <a:t>The</a:t>
            </a:r>
            <a:r>
              <a:rPr sz="2050" spc="-50" dirty="0">
                <a:latin typeface="Calibri"/>
                <a:cs typeface="Calibri"/>
              </a:rPr>
              <a:t> </a:t>
            </a:r>
            <a:r>
              <a:rPr sz="2050" spc="-10" dirty="0">
                <a:latin typeface="Calibri"/>
                <a:cs typeface="Calibri"/>
              </a:rPr>
              <a:t>project</a:t>
            </a:r>
            <a:r>
              <a:rPr sz="2050" spc="-95" dirty="0">
                <a:latin typeface="Calibri"/>
                <a:cs typeface="Calibri"/>
              </a:rPr>
              <a:t> </a:t>
            </a:r>
            <a:r>
              <a:rPr sz="2050" spc="-10" dirty="0">
                <a:latin typeface="Calibri"/>
                <a:cs typeface="Calibri"/>
              </a:rPr>
              <a:t>involves</a:t>
            </a:r>
            <a:r>
              <a:rPr sz="2050" spc="-5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preprocessing</a:t>
            </a:r>
            <a:r>
              <a:rPr sz="2050" spc="165" dirty="0">
                <a:latin typeface="Calibri"/>
                <a:cs typeface="Calibri"/>
              </a:rPr>
              <a:t> </a:t>
            </a:r>
            <a:r>
              <a:rPr sz="2050" spc="-35" dirty="0">
                <a:latin typeface="Calibri"/>
                <a:cs typeface="Calibri"/>
              </a:rPr>
              <a:t>textual</a:t>
            </a:r>
            <a:r>
              <a:rPr sz="2050" spc="-25" dirty="0">
                <a:latin typeface="Calibri"/>
                <a:cs typeface="Calibri"/>
              </a:rPr>
              <a:t> </a:t>
            </a:r>
            <a:r>
              <a:rPr sz="2050" spc="-70" dirty="0">
                <a:latin typeface="Calibri"/>
                <a:cs typeface="Calibri"/>
              </a:rPr>
              <a:t>data,</a:t>
            </a:r>
            <a:r>
              <a:rPr sz="2050" spc="-50" dirty="0">
                <a:latin typeface="Calibri"/>
                <a:cs typeface="Calibri"/>
              </a:rPr>
              <a:t> </a:t>
            </a:r>
            <a:r>
              <a:rPr sz="2050" spc="-10" dirty="0">
                <a:latin typeface="Calibri"/>
                <a:cs typeface="Calibri"/>
              </a:rPr>
              <a:t>converting</a:t>
            </a:r>
            <a:r>
              <a:rPr sz="2050" spc="509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it</a:t>
            </a:r>
            <a:r>
              <a:rPr sz="1950" spc="10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into</a:t>
            </a:r>
            <a:r>
              <a:rPr sz="1950" spc="9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numerical</a:t>
            </a:r>
            <a:r>
              <a:rPr sz="1950" spc="180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form</a:t>
            </a:r>
            <a:r>
              <a:rPr sz="1950" spc="6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using</a:t>
            </a:r>
            <a:r>
              <a:rPr sz="1950" spc="13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techniques</a:t>
            </a:r>
            <a:r>
              <a:rPr sz="1950" spc="150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like</a:t>
            </a:r>
            <a:r>
              <a:rPr sz="1950" spc="80" dirty="0">
                <a:latin typeface="Calibri"/>
                <a:cs typeface="Calibri"/>
              </a:rPr>
              <a:t> </a:t>
            </a:r>
            <a:r>
              <a:rPr sz="1950" spc="-55" dirty="0">
                <a:latin typeface="Calibri"/>
                <a:cs typeface="Calibri"/>
              </a:rPr>
              <a:t>TF-</a:t>
            </a:r>
            <a:r>
              <a:rPr sz="1950" spc="-10" dirty="0">
                <a:latin typeface="Calibri"/>
                <a:cs typeface="Calibri"/>
              </a:rPr>
              <a:t>IDF,</a:t>
            </a:r>
            <a:r>
              <a:rPr sz="1950" spc="55" dirty="0">
                <a:latin typeface="Calibri"/>
                <a:cs typeface="Calibri"/>
              </a:rPr>
              <a:t> </a:t>
            </a:r>
            <a:r>
              <a:rPr sz="1950" spc="-10" dirty="0">
                <a:latin typeface="Calibri"/>
                <a:cs typeface="Calibri"/>
              </a:rPr>
              <a:t>training </a:t>
            </a:r>
            <a:r>
              <a:rPr sz="2000" spc="-10" dirty="0">
                <a:latin typeface="Calibri"/>
                <a:cs typeface="Calibri"/>
              </a:rPr>
              <a:t>different</a:t>
            </a:r>
            <a:r>
              <a:rPr sz="2000" spc="3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models,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evaluating</a:t>
            </a:r>
            <a:r>
              <a:rPr sz="2000" spc="10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them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based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on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50" spc="-10" dirty="0">
                <a:latin typeface="Calibri"/>
                <a:cs typeface="Calibri"/>
              </a:rPr>
              <a:t>performance</a:t>
            </a:r>
            <a:r>
              <a:rPr sz="2050" spc="75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metrics</a:t>
            </a:r>
            <a:r>
              <a:rPr sz="2050" spc="90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such</a:t>
            </a:r>
            <a:r>
              <a:rPr sz="2050" spc="-10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as</a:t>
            </a:r>
            <a:r>
              <a:rPr sz="2050" spc="15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accuracy,</a:t>
            </a:r>
            <a:r>
              <a:rPr sz="2050" spc="-50" dirty="0">
                <a:latin typeface="Calibri"/>
                <a:cs typeface="Calibri"/>
              </a:rPr>
              <a:t> </a:t>
            </a:r>
            <a:r>
              <a:rPr sz="2050" spc="-25" dirty="0">
                <a:latin typeface="Calibri"/>
                <a:cs typeface="Calibri"/>
              </a:rPr>
              <a:t>precision,</a:t>
            </a:r>
            <a:r>
              <a:rPr sz="2050" spc="-45" dirty="0">
                <a:latin typeface="Calibri"/>
                <a:cs typeface="Calibri"/>
              </a:rPr>
              <a:t> recall,</a:t>
            </a:r>
            <a:r>
              <a:rPr sz="2050" spc="-35" dirty="0">
                <a:latin typeface="Calibri"/>
                <a:cs typeface="Calibri"/>
              </a:rPr>
              <a:t> </a:t>
            </a:r>
            <a:r>
              <a:rPr sz="2050" spc="-25" dirty="0">
                <a:latin typeface="Calibri"/>
                <a:cs typeface="Calibri"/>
              </a:rPr>
              <a:t>and </a:t>
            </a:r>
            <a:r>
              <a:rPr sz="2100" spc="-110" dirty="0">
                <a:latin typeface="Calibri"/>
                <a:cs typeface="Calibri"/>
              </a:rPr>
              <a:t>F1-</a:t>
            </a:r>
            <a:r>
              <a:rPr sz="2100" spc="-10" dirty="0">
                <a:latin typeface="Calibri"/>
                <a:cs typeface="Calibri"/>
              </a:rPr>
              <a:t>score.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665493" y="5699844"/>
            <a:ext cx="7532370" cy="150177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 marR="5080" indent="6350">
              <a:lnSpc>
                <a:spcPct val="99200"/>
              </a:lnSpc>
              <a:spcBef>
                <a:spcPts val="114"/>
              </a:spcBef>
            </a:pPr>
            <a:r>
              <a:rPr sz="1950" spc="-45" dirty="0">
                <a:latin typeface="Calibri"/>
                <a:cs typeface="Calibri"/>
              </a:rPr>
              <a:t>The</a:t>
            </a:r>
            <a:r>
              <a:rPr sz="1950" spc="-65" dirty="0">
                <a:latin typeface="Calibri"/>
                <a:cs typeface="Calibri"/>
              </a:rPr>
              <a:t> </a:t>
            </a:r>
            <a:r>
              <a:rPr sz="1950" spc="-20" dirty="0">
                <a:latin typeface="Calibri"/>
                <a:cs typeface="Calibri"/>
              </a:rPr>
              <a:t>objective</a:t>
            </a:r>
            <a:r>
              <a:rPr sz="1950" spc="40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of</a:t>
            </a:r>
            <a:r>
              <a:rPr sz="1950" spc="20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this</a:t>
            </a:r>
            <a:r>
              <a:rPr sz="1950" spc="-25" dirty="0">
                <a:latin typeface="Calibri"/>
                <a:cs typeface="Calibri"/>
              </a:rPr>
              <a:t> </a:t>
            </a:r>
            <a:r>
              <a:rPr sz="1950" spc="-20" dirty="0">
                <a:latin typeface="Calibri"/>
                <a:cs typeface="Calibri"/>
              </a:rPr>
              <a:t>project</a:t>
            </a:r>
            <a:r>
              <a:rPr sz="1950" spc="-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is</a:t>
            </a:r>
            <a:r>
              <a:rPr sz="1950" spc="-8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to</a:t>
            </a:r>
            <a:r>
              <a:rPr sz="1950" spc="-30" dirty="0">
                <a:latin typeface="Calibri"/>
                <a:cs typeface="Calibri"/>
              </a:rPr>
              <a:t> </a:t>
            </a:r>
            <a:r>
              <a:rPr sz="1950" spc="-40" dirty="0">
                <a:latin typeface="Calibri"/>
                <a:cs typeface="Calibri"/>
              </a:rPr>
              <a:t>develop</a:t>
            </a:r>
            <a:r>
              <a:rPr sz="1950" spc="30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a</a:t>
            </a:r>
            <a:r>
              <a:rPr sz="1950" spc="-65" dirty="0">
                <a:latin typeface="Calibri"/>
                <a:cs typeface="Calibri"/>
              </a:rPr>
              <a:t> </a:t>
            </a:r>
            <a:r>
              <a:rPr sz="1950" spc="-35" dirty="0">
                <a:latin typeface="Calibri"/>
                <a:cs typeface="Calibri"/>
              </a:rPr>
              <a:t>machine</a:t>
            </a:r>
            <a:r>
              <a:rPr sz="1950" spc="25" dirty="0">
                <a:latin typeface="Calibri"/>
                <a:cs typeface="Calibri"/>
              </a:rPr>
              <a:t> </a:t>
            </a:r>
            <a:r>
              <a:rPr sz="1950" spc="-30" dirty="0">
                <a:latin typeface="Calibri"/>
                <a:cs typeface="Calibri"/>
              </a:rPr>
              <a:t>learning-</a:t>
            </a:r>
            <a:r>
              <a:rPr sz="1950" spc="-20" dirty="0">
                <a:latin typeface="Calibri"/>
                <a:cs typeface="Calibri"/>
              </a:rPr>
              <a:t>based</a:t>
            </a:r>
            <a:r>
              <a:rPr sz="1950" spc="-90" dirty="0">
                <a:latin typeface="Calibri"/>
                <a:cs typeface="Calibri"/>
              </a:rPr>
              <a:t> </a:t>
            </a:r>
            <a:r>
              <a:rPr sz="1950" spc="-10" dirty="0">
                <a:latin typeface="Calibri"/>
                <a:cs typeface="Calibri"/>
              </a:rPr>
              <a:t>system </a:t>
            </a:r>
            <a:r>
              <a:rPr sz="1950" spc="-25" dirty="0">
                <a:latin typeface="Calibri"/>
                <a:cs typeface="Calibri"/>
              </a:rPr>
              <a:t>that</a:t>
            </a:r>
            <a:r>
              <a:rPr sz="1950" spc="-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can</a:t>
            </a:r>
            <a:r>
              <a:rPr sz="1950" spc="-10" dirty="0">
                <a:latin typeface="Calibri"/>
                <a:cs typeface="Calibri"/>
              </a:rPr>
              <a:t> </a:t>
            </a:r>
            <a:r>
              <a:rPr sz="1950" spc="-45" dirty="0">
                <a:latin typeface="Calibri"/>
                <a:cs typeface="Calibri"/>
              </a:rPr>
              <a:t>automatically</a:t>
            </a:r>
            <a:r>
              <a:rPr sz="1950" spc="19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classify</a:t>
            </a:r>
            <a:r>
              <a:rPr sz="1950" spc="95" dirty="0">
                <a:latin typeface="Calibri"/>
                <a:cs typeface="Calibri"/>
              </a:rPr>
              <a:t> </a:t>
            </a:r>
            <a:r>
              <a:rPr sz="1950" spc="-20" dirty="0">
                <a:latin typeface="Calibri"/>
                <a:cs typeface="Calibri"/>
              </a:rPr>
              <a:t>emails</a:t>
            </a:r>
            <a:r>
              <a:rPr sz="1950" spc="4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as</a:t>
            </a:r>
            <a:r>
              <a:rPr sz="1950" spc="-20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spam</a:t>
            </a:r>
            <a:r>
              <a:rPr sz="1950" spc="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or</a:t>
            </a:r>
            <a:r>
              <a:rPr sz="1950" spc="-25" dirty="0">
                <a:latin typeface="Calibri"/>
                <a:cs typeface="Calibri"/>
              </a:rPr>
              <a:t> </a:t>
            </a:r>
            <a:r>
              <a:rPr sz="1950" spc="-10" dirty="0">
                <a:latin typeface="Calibri"/>
                <a:cs typeface="Calibri"/>
              </a:rPr>
              <a:t>not</a:t>
            </a:r>
            <a:r>
              <a:rPr sz="1950" spc="-4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spam</a:t>
            </a:r>
            <a:r>
              <a:rPr sz="1950" spc="5" dirty="0">
                <a:latin typeface="Calibri"/>
                <a:cs typeface="Calibri"/>
              </a:rPr>
              <a:t> </a:t>
            </a:r>
            <a:r>
              <a:rPr sz="1950" spc="-90" dirty="0">
                <a:latin typeface="Calibri"/>
                <a:cs typeface="Calibri"/>
              </a:rPr>
              <a:t>(ham)</a:t>
            </a:r>
            <a:r>
              <a:rPr sz="1950" spc="-20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using </a:t>
            </a:r>
            <a:r>
              <a:rPr sz="1950" spc="-20" dirty="0">
                <a:latin typeface="Calibri"/>
                <a:cs typeface="Calibri"/>
              </a:rPr>
              <a:t>text </a:t>
            </a:r>
            <a:r>
              <a:rPr sz="1950" dirty="0">
                <a:latin typeface="Calibri"/>
                <a:cs typeface="Calibri"/>
              </a:rPr>
              <a:t>analysis</a:t>
            </a:r>
            <a:r>
              <a:rPr sz="1950" spc="-10" dirty="0">
                <a:latin typeface="Calibri"/>
                <a:cs typeface="Calibri"/>
              </a:rPr>
              <a:t> </a:t>
            </a:r>
            <a:r>
              <a:rPr sz="1950" spc="-35" dirty="0">
                <a:latin typeface="Calibri"/>
                <a:cs typeface="Calibri"/>
              </a:rPr>
              <a:t>techniques.</a:t>
            </a:r>
            <a:r>
              <a:rPr sz="1950" spc="40" dirty="0">
                <a:latin typeface="Calibri"/>
                <a:cs typeface="Calibri"/>
              </a:rPr>
              <a:t> </a:t>
            </a:r>
            <a:r>
              <a:rPr sz="1950" spc="-40" dirty="0">
                <a:latin typeface="Calibri"/>
                <a:cs typeface="Calibri"/>
              </a:rPr>
              <a:t>The</a:t>
            </a:r>
            <a:r>
              <a:rPr sz="1950" spc="-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system</a:t>
            </a:r>
            <a:r>
              <a:rPr sz="1950" spc="40" dirty="0">
                <a:latin typeface="Calibri"/>
                <a:cs typeface="Calibri"/>
              </a:rPr>
              <a:t> </a:t>
            </a:r>
            <a:r>
              <a:rPr sz="1950" spc="-80" dirty="0">
                <a:latin typeface="Calibri"/>
                <a:cs typeface="Calibri"/>
              </a:rPr>
              <a:t>will</a:t>
            </a:r>
            <a:r>
              <a:rPr sz="1950" spc="-45" dirty="0">
                <a:latin typeface="Calibri"/>
                <a:cs typeface="Calibri"/>
              </a:rPr>
              <a:t> </a:t>
            </a:r>
            <a:r>
              <a:rPr sz="1950" spc="-35" dirty="0">
                <a:latin typeface="Calibri"/>
                <a:cs typeface="Calibri"/>
              </a:rPr>
              <a:t>utilize</a:t>
            </a:r>
            <a:r>
              <a:rPr sz="1950" spc="-20" dirty="0">
                <a:latin typeface="Calibri"/>
                <a:cs typeface="Calibri"/>
              </a:rPr>
              <a:t> </a:t>
            </a:r>
            <a:r>
              <a:rPr sz="1950" spc="-55" dirty="0">
                <a:latin typeface="Calibri"/>
                <a:cs typeface="Calibri"/>
              </a:rPr>
              <a:t>multiple</a:t>
            </a:r>
            <a:r>
              <a:rPr sz="1950" spc="3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classification</a:t>
            </a:r>
            <a:r>
              <a:rPr sz="1950" spc="-55" dirty="0">
                <a:latin typeface="Calibri"/>
                <a:cs typeface="Calibri"/>
              </a:rPr>
              <a:t> </a:t>
            </a:r>
            <a:r>
              <a:rPr sz="1950" spc="-10" dirty="0">
                <a:latin typeface="Calibri"/>
                <a:cs typeface="Calibri"/>
              </a:rPr>
              <a:t>algorithms </a:t>
            </a:r>
            <a:r>
              <a:rPr sz="1950" dirty="0">
                <a:latin typeface="Calibri"/>
                <a:cs typeface="Calibri"/>
              </a:rPr>
              <a:t>such</a:t>
            </a:r>
            <a:r>
              <a:rPr sz="1950" spc="-50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as</a:t>
            </a:r>
            <a:r>
              <a:rPr sz="1950" spc="-40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Logistic</a:t>
            </a:r>
            <a:r>
              <a:rPr sz="1950" spc="-10" dirty="0">
                <a:latin typeface="Calibri"/>
                <a:cs typeface="Calibri"/>
              </a:rPr>
              <a:t> </a:t>
            </a:r>
            <a:r>
              <a:rPr sz="1950" spc="-20" dirty="0">
                <a:latin typeface="Calibri"/>
                <a:cs typeface="Calibri"/>
              </a:rPr>
              <a:t>Regression,</a:t>
            </a:r>
            <a:r>
              <a:rPr sz="1950" spc="3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Support</a:t>
            </a:r>
            <a:r>
              <a:rPr sz="1950" spc="85" dirty="0">
                <a:latin typeface="Calibri"/>
                <a:cs typeface="Calibri"/>
              </a:rPr>
              <a:t> </a:t>
            </a:r>
            <a:r>
              <a:rPr sz="1950" spc="-35" dirty="0">
                <a:latin typeface="Calibri"/>
                <a:cs typeface="Calibri"/>
              </a:rPr>
              <a:t>Vector</a:t>
            </a:r>
            <a:r>
              <a:rPr sz="1950" spc="45" dirty="0">
                <a:latin typeface="Calibri"/>
                <a:cs typeface="Calibri"/>
              </a:rPr>
              <a:t> </a:t>
            </a:r>
            <a:r>
              <a:rPr sz="1950" spc="-50" dirty="0">
                <a:latin typeface="Calibri"/>
                <a:cs typeface="Calibri"/>
              </a:rPr>
              <a:t>Machine</a:t>
            </a:r>
            <a:r>
              <a:rPr sz="1950" spc="65" dirty="0">
                <a:latin typeface="Calibri"/>
                <a:cs typeface="Calibri"/>
              </a:rPr>
              <a:t> </a:t>
            </a:r>
            <a:r>
              <a:rPr sz="1950" spc="-105" dirty="0">
                <a:latin typeface="Calibri"/>
                <a:cs typeface="Calibri"/>
              </a:rPr>
              <a:t>(SVM),</a:t>
            </a:r>
            <a:r>
              <a:rPr sz="1950" dirty="0">
                <a:latin typeface="Calibri"/>
                <a:cs typeface="Calibri"/>
              </a:rPr>
              <a:t> </a:t>
            </a:r>
            <a:r>
              <a:rPr sz="1950" spc="-20" dirty="0">
                <a:latin typeface="Calibri"/>
                <a:cs typeface="Calibri"/>
              </a:rPr>
              <a:t>and</a:t>
            </a:r>
            <a:r>
              <a:rPr sz="1950" spc="-25" dirty="0">
                <a:latin typeface="Calibri"/>
                <a:cs typeface="Calibri"/>
              </a:rPr>
              <a:t> </a:t>
            </a:r>
            <a:r>
              <a:rPr sz="1950" spc="-45" dirty="0">
                <a:latin typeface="Calibri"/>
                <a:cs typeface="Calibri"/>
              </a:rPr>
              <a:t>K-</a:t>
            </a:r>
            <a:r>
              <a:rPr sz="1950" spc="-10" dirty="0">
                <a:latin typeface="Calibri"/>
                <a:cs typeface="Calibri"/>
              </a:rPr>
              <a:t>Nearest Neighbors</a:t>
            </a:r>
            <a:r>
              <a:rPr sz="1950" spc="-5" dirty="0">
                <a:latin typeface="Calibri"/>
                <a:cs typeface="Calibri"/>
              </a:rPr>
              <a:t> </a:t>
            </a:r>
            <a:r>
              <a:rPr sz="1950" spc="-40" dirty="0">
                <a:latin typeface="Calibri"/>
                <a:cs typeface="Calibri"/>
              </a:rPr>
              <a:t>(KNN)</a:t>
            </a:r>
            <a:r>
              <a:rPr sz="1950" spc="-70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to</a:t>
            </a:r>
            <a:r>
              <a:rPr sz="1950" spc="-85" dirty="0">
                <a:latin typeface="Calibri"/>
                <a:cs typeface="Calibri"/>
              </a:rPr>
              <a:t> </a:t>
            </a:r>
            <a:r>
              <a:rPr sz="1950" spc="-10" dirty="0">
                <a:latin typeface="Calibri"/>
                <a:cs typeface="Calibri"/>
              </a:rPr>
              <a:t>analyze</a:t>
            </a:r>
            <a:r>
              <a:rPr sz="1950" spc="-8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and</a:t>
            </a:r>
            <a:r>
              <a:rPr sz="1950" spc="-90" dirty="0">
                <a:latin typeface="Calibri"/>
                <a:cs typeface="Calibri"/>
              </a:rPr>
              <a:t> </a:t>
            </a:r>
            <a:r>
              <a:rPr sz="1950" spc="-30" dirty="0">
                <a:latin typeface="Calibri"/>
                <a:cs typeface="Calibri"/>
              </a:rPr>
              <a:t>compare</a:t>
            </a:r>
            <a:r>
              <a:rPr sz="1950" spc="5" dirty="0">
                <a:latin typeface="Calibri"/>
                <a:cs typeface="Calibri"/>
              </a:rPr>
              <a:t> </a:t>
            </a:r>
            <a:r>
              <a:rPr sz="1950" spc="-30" dirty="0">
                <a:latin typeface="Calibri"/>
                <a:cs typeface="Calibri"/>
              </a:rPr>
              <a:t>their</a:t>
            </a:r>
            <a:r>
              <a:rPr sz="1950" spc="-80" dirty="0">
                <a:latin typeface="Calibri"/>
                <a:cs typeface="Calibri"/>
              </a:rPr>
              <a:t> </a:t>
            </a:r>
            <a:r>
              <a:rPr sz="1950" spc="-10" dirty="0">
                <a:latin typeface="Calibri"/>
                <a:cs typeface="Calibri"/>
              </a:rPr>
              <a:t>performance.</a:t>
            </a:r>
            <a:endParaRPr sz="195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722342" y="7996849"/>
            <a:ext cx="5622925" cy="96583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 indent="4445" algn="just">
              <a:lnSpc>
                <a:spcPct val="100499"/>
              </a:lnSpc>
              <a:spcBef>
                <a:spcPts val="85"/>
              </a:spcBef>
            </a:pPr>
            <a:r>
              <a:rPr sz="2050" spc="-20" dirty="0">
                <a:latin typeface="Calibri"/>
                <a:cs typeface="Calibri"/>
              </a:rPr>
              <a:t>The</a:t>
            </a:r>
            <a:r>
              <a:rPr sz="2050" spc="-80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goal</a:t>
            </a:r>
            <a:r>
              <a:rPr sz="2050" spc="-85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is</a:t>
            </a:r>
            <a:r>
              <a:rPr sz="2050" spc="-25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to</a:t>
            </a:r>
            <a:r>
              <a:rPr sz="2050" spc="-95" dirty="0">
                <a:latin typeface="Calibri"/>
                <a:cs typeface="Calibri"/>
              </a:rPr>
              <a:t> </a:t>
            </a:r>
            <a:r>
              <a:rPr sz="2050" spc="-20" dirty="0">
                <a:latin typeface="Calibri"/>
                <a:cs typeface="Calibri"/>
              </a:rPr>
              <a:t>identify</a:t>
            </a:r>
            <a:r>
              <a:rPr sz="2050" spc="45" dirty="0">
                <a:latin typeface="Calibri"/>
                <a:cs typeface="Calibri"/>
              </a:rPr>
              <a:t> </a:t>
            </a:r>
            <a:r>
              <a:rPr sz="2050" spc="-20" dirty="0">
                <a:latin typeface="Calibri"/>
                <a:cs typeface="Calibri"/>
              </a:rPr>
              <a:t>the</a:t>
            </a:r>
            <a:r>
              <a:rPr sz="2050" spc="-75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most</a:t>
            </a:r>
            <a:r>
              <a:rPr sz="2050" spc="-85" dirty="0">
                <a:latin typeface="Calibri"/>
                <a:cs typeface="Calibri"/>
              </a:rPr>
              <a:t> </a:t>
            </a:r>
            <a:r>
              <a:rPr sz="2050" spc="-10" dirty="0">
                <a:latin typeface="Calibri"/>
                <a:cs typeface="Calibri"/>
              </a:rPr>
              <a:t>efficient</a:t>
            </a:r>
            <a:r>
              <a:rPr sz="2050" spc="-30" dirty="0">
                <a:latin typeface="Calibri"/>
                <a:cs typeface="Calibri"/>
              </a:rPr>
              <a:t> algorithm</a:t>
            </a:r>
            <a:r>
              <a:rPr sz="2050" spc="45" dirty="0">
                <a:latin typeface="Calibri"/>
                <a:cs typeface="Calibri"/>
              </a:rPr>
              <a:t> </a:t>
            </a:r>
            <a:r>
              <a:rPr sz="2050" spc="-25" dirty="0">
                <a:latin typeface="Calibri"/>
                <a:cs typeface="Calibri"/>
              </a:rPr>
              <a:t>for </a:t>
            </a:r>
            <a:r>
              <a:rPr sz="2050" dirty="0">
                <a:latin typeface="Calibri"/>
                <a:cs typeface="Calibri"/>
              </a:rPr>
              <a:t>spam</a:t>
            </a:r>
            <a:r>
              <a:rPr sz="2050" spc="-25" dirty="0">
                <a:latin typeface="Calibri"/>
                <a:cs typeface="Calibri"/>
              </a:rPr>
              <a:t> </a:t>
            </a:r>
            <a:r>
              <a:rPr sz="2050" spc="-20" dirty="0">
                <a:latin typeface="Calibri"/>
                <a:cs typeface="Calibri"/>
              </a:rPr>
              <a:t>detection</a:t>
            </a:r>
            <a:r>
              <a:rPr sz="2050" spc="-30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and</a:t>
            </a:r>
            <a:r>
              <a:rPr sz="2050" spc="-70" dirty="0">
                <a:latin typeface="Calibri"/>
                <a:cs typeface="Calibri"/>
              </a:rPr>
              <a:t> </a:t>
            </a:r>
            <a:r>
              <a:rPr sz="2050" spc="-30" dirty="0">
                <a:latin typeface="Calibri"/>
                <a:cs typeface="Calibri"/>
              </a:rPr>
              <a:t>build</a:t>
            </a:r>
            <a:r>
              <a:rPr sz="2050" spc="-35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a</a:t>
            </a:r>
            <a:r>
              <a:rPr sz="2050" spc="-105" dirty="0">
                <a:latin typeface="Calibri"/>
                <a:cs typeface="Calibri"/>
              </a:rPr>
              <a:t> </a:t>
            </a:r>
            <a:r>
              <a:rPr sz="2050" spc="-35" dirty="0">
                <a:latin typeface="Calibri"/>
                <a:cs typeface="Calibri"/>
              </a:rPr>
              <a:t>reliable</a:t>
            </a:r>
            <a:r>
              <a:rPr sz="2050" spc="-25" dirty="0">
                <a:latin typeface="Calibri"/>
                <a:cs typeface="Calibri"/>
              </a:rPr>
              <a:t> </a:t>
            </a:r>
            <a:r>
              <a:rPr sz="2050" spc="-10" dirty="0">
                <a:latin typeface="Calibri"/>
                <a:cs typeface="Calibri"/>
              </a:rPr>
              <a:t>model</a:t>
            </a:r>
            <a:r>
              <a:rPr sz="2050" spc="60" dirty="0">
                <a:latin typeface="Calibri"/>
                <a:cs typeface="Calibri"/>
              </a:rPr>
              <a:t> </a:t>
            </a:r>
            <a:r>
              <a:rPr sz="2050" spc="-40" dirty="0">
                <a:latin typeface="Calibri"/>
                <a:cs typeface="Calibri"/>
              </a:rPr>
              <a:t>that</a:t>
            </a:r>
            <a:r>
              <a:rPr sz="2050" spc="-65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can</a:t>
            </a:r>
            <a:r>
              <a:rPr sz="2050" spc="-65" dirty="0">
                <a:latin typeface="Calibri"/>
                <a:cs typeface="Calibri"/>
              </a:rPr>
              <a:t> </a:t>
            </a:r>
            <a:r>
              <a:rPr sz="2050" spc="-25" dirty="0">
                <a:latin typeface="Calibri"/>
                <a:cs typeface="Calibri"/>
              </a:rPr>
              <a:t>be </a:t>
            </a:r>
            <a:r>
              <a:rPr sz="2050" dirty="0">
                <a:latin typeface="Calibri"/>
                <a:cs typeface="Calibri"/>
              </a:rPr>
              <a:t>used</a:t>
            </a:r>
            <a:r>
              <a:rPr sz="2050" spc="-20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for</a:t>
            </a:r>
            <a:r>
              <a:rPr sz="2050" spc="-75" dirty="0">
                <a:latin typeface="Calibri"/>
                <a:cs typeface="Calibri"/>
              </a:rPr>
              <a:t> </a:t>
            </a:r>
            <a:r>
              <a:rPr sz="2050" spc="-60" dirty="0">
                <a:latin typeface="Calibri"/>
                <a:cs typeface="Calibri"/>
              </a:rPr>
              <a:t>real-</a:t>
            </a:r>
            <a:r>
              <a:rPr sz="2050" spc="-20" dirty="0">
                <a:latin typeface="Calibri"/>
                <a:cs typeface="Calibri"/>
              </a:rPr>
              <a:t>world</a:t>
            </a:r>
            <a:r>
              <a:rPr sz="2050" spc="95" dirty="0">
                <a:latin typeface="Calibri"/>
                <a:cs typeface="Calibri"/>
              </a:rPr>
              <a:t> </a:t>
            </a:r>
            <a:r>
              <a:rPr sz="2050" spc="-35" dirty="0">
                <a:latin typeface="Calibri"/>
                <a:cs typeface="Calibri"/>
              </a:rPr>
              <a:t>email</a:t>
            </a:r>
            <a:r>
              <a:rPr sz="2050" spc="-25" dirty="0">
                <a:latin typeface="Calibri"/>
                <a:cs typeface="Calibri"/>
              </a:rPr>
              <a:t> </a:t>
            </a:r>
            <a:r>
              <a:rPr sz="2050" spc="-10" dirty="0">
                <a:latin typeface="Calibri"/>
                <a:cs typeface="Calibri"/>
              </a:rPr>
              <a:t>filtering.</a:t>
            </a:r>
            <a:endParaRPr sz="20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5393362"/>
            <a:ext cx="8138159" cy="489363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021311" y="8611096"/>
            <a:ext cx="646176" cy="64598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978383" y="8099183"/>
            <a:ext cx="1926335" cy="218172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5593567" y="8093090"/>
            <a:ext cx="1335024" cy="168809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1119104" y="3662610"/>
            <a:ext cx="713231" cy="106648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911583" y="3406654"/>
            <a:ext cx="3340608" cy="135291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1076431" y="1048200"/>
            <a:ext cx="3883152" cy="2279228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5020543" y="1042107"/>
            <a:ext cx="2157984" cy="110304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7263871" y="1304157"/>
            <a:ext cx="664463" cy="822716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410186" y="278551"/>
            <a:ext cx="16812895" cy="7630795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386715" marR="7364095" indent="-210185">
              <a:lnSpc>
                <a:spcPct val="101400"/>
              </a:lnSpc>
              <a:spcBef>
                <a:spcPts val="65"/>
              </a:spcBef>
              <a:buSzPct val="95121"/>
              <a:buAutoNum type="arabicPeriod"/>
              <a:tabLst>
                <a:tab pos="386715" algn="l"/>
                <a:tab pos="388620" algn="l"/>
              </a:tabLst>
            </a:pPr>
            <a:r>
              <a:rPr sz="2050" dirty="0">
                <a:latin typeface="Calibri"/>
                <a:cs typeface="Calibri"/>
              </a:rPr>
              <a:t>	</a:t>
            </a:r>
            <a:r>
              <a:rPr sz="2050" spc="50" dirty="0">
                <a:latin typeface="Calibri"/>
                <a:cs typeface="Calibri"/>
              </a:rPr>
              <a:t>This</a:t>
            </a:r>
            <a:r>
              <a:rPr sz="2050" spc="35" dirty="0">
                <a:latin typeface="Calibri"/>
                <a:cs typeface="Calibri"/>
              </a:rPr>
              <a:t> </a:t>
            </a:r>
            <a:r>
              <a:rPr sz="2050" spc="45" dirty="0">
                <a:latin typeface="Calibri"/>
                <a:cs typeface="Calibri"/>
              </a:rPr>
              <a:t>project</a:t>
            </a:r>
            <a:r>
              <a:rPr sz="2050" spc="70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aims</a:t>
            </a:r>
            <a:r>
              <a:rPr sz="2050" spc="110" dirty="0">
                <a:latin typeface="Calibri"/>
                <a:cs typeface="Calibri"/>
              </a:rPr>
              <a:t> </a:t>
            </a:r>
            <a:r>
              <a:rPr sz="2050" spc="50" dirty="0">
                <a:latin typeface="Calibri"/>
                <a:cs typeface="Calibri"/>
              </a:rPr>
              <a:t>to</a:t>
            </a:r>
            <a:r>
              <a:rPr sz="2050" spc="10" dirty="0">
                <a:latin typeface="Calibri"/>
                <a:cs typeface="Calibri"/>
              </a:rPr>
              <a:t> </a:t>
            </a:r>
            <a:r>
              <a:rPr sz="2050" spc="60" dirty="0">
                <a:latin typeface="Calibri"/>
                <a:cs typeface="Calibri"/>
              </a:rPr>
              <a:t>build</a:t>
            </a:r>
            <a:r>
              <a:rPr sz="2050" spc="20" dirty="0">
                <a:latin typeface="Calibri"/>
                <a:cs typeface="Calibri"/>
              </a:rPr>
              <a:t> </a:t>
            </a:r>
            <a:r>
              <a:rPr sz="2050" spc="75" dirty="0">
                <a:latin typeface="Calibri"/>
                <a:cs typeface="Calibri"/>
              </a:rPr>
              <a:t>a</a:t>
            </a:r>
            <a:r>
              <a:rPr sz="2050" spc="-45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machine</a:t>
            </a:r>
            <a:r>
              <a:rPr sz="2050" spc="110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learning</a:t>
            </a:r>
            <a:r>
              <a:rPr sz="2050" spc="105" dirty="0">
                <a:latin typeface="Calibri"/>
                <a:cs typeface="Calibri"/>
              </a:rPr>
              <a:t> </a:t>
            </a:r>
            <a:r>
              <a:rPr sz="2050" spc="50" dirty="0">
                <a:latin typeface="Calibri"/>
                <a:cs typeface="Calibri"/>
              </a:rPr>
              <a:t>system</a:t>
            </a:r>
            <a:r>
              <a:rPr sz="2050" spc="70" dirty="0">
                <a:latin typeface="Calibri"/>
                <a:cs typeface="Calibri"/>
              </a:rPr>
              <a:t> </a:t>
            </a:r>
            <a:r>
              <a:rPr sz="2050" spc="50" dirty="0">
                <a:latin typeface="Calibri"/>
                <a:cs typeface="Calibri"/>
              </a:rPr>
              <a:t>to</a:t>
            </a:r>
            <a:r>
              <a:rPr sz="2050" spc="90" dirty="0">
                <a:latin typeface="Calibri"/>
                <a:cs typeface="Calibri"/>
              </a:rPr>
              <a:t> </a:t>
            </a:r>
            <a:r>
              <a:rPr sz="2050" spc="60" dirty="0">
                <a:latin typeface="Calibri"/>
                <a:cs typeface="Calibri"/>
              </a:rPr>
              <a:t>classify</a:t>
            </a:r>
            <a:r>
              <a:rPr sz="2050" spc="150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emails</a:t>
            </a:r>
            <a:r>
              <a:rPr sz="2050" spc="50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as</a:t>
            </a:r>
            <a:r>
              <a:rPr sz="2050" spc="35" dirty="0">
                <a:latin typeface="Calibri"/>
                <a:cs typeface="Calibri"/>
              </a:rPr>
              <a:t> </a:t>
            </a:r>
            <a:r>
              <a:rPr sz="2050" spc="50" dirty="0">
                <a:latin typeface="Calibri"/>
                <a:cs typeface="Calibri"/>
              </a:rPr>
              <a:t>spam</a:t>
            </a:r>
            <a:r>
              <a:rPr sz="2050" spc="85" dirty="0">
                <a:latin typeface="Calibri"/>
                <a:cs typeface="Calibri"/>
              </a:rPr>
              <a:t> </a:t>
            </a:r>
            <a:r>
              <a:rPr sz="2050" spc="-25" dirty="0">
                <a:latin typeface="Calibri"/>
                <a:cs typeface="Calibri"/>
              </a:rPr>
              <a:t>or </a:t>
            </a:r>
            <a:r>
              <a:rPr sz="2050" spc="50" dirty="0">
                <a:latin typeface="Calibri"/>
                <a:cs typeface="Calibri"/>
              </a:rPr>
              <a:t>not</a:t>
            </a:r>
            <a:r>
              <a:rPr sz="2050" spc="-40" dirty="0">
                <a:latin typeface="Calibri"/>
                <a:cs typeface="Calibri"/>
              </a:rPr>
              <a:t> </a:t>
            </a:r>
            <a:r>
              <a:rPr sz="2050" spc="50" dirty="0">
                <a:latin typeface="Calibri"/>
                <a:cs typeface="Calibri"/>
              </a:rPr>
              <a:t>spam</a:t>
            </a:r>
            <a:r>
              <a:rPr sz="2050" spc="15" dirty="0">
                <a:latin typeface="Calibri"/>
                <a:cs typeface="Calibri"/>
              </a:rPr>
              <a:t> </a:t>
            </a:r>
            <a:r>
              <a:rPr sz="2050" spc="-10" dirty="0">
                <a:latin typeface="Calibri"/>
                <a:cs typeface="Calibri"/>
              </a:rPr>
              <a:t>(ham).</a:t>
            </a:r>
            <a:endParaRPr sz="2050">
              <a:latin typeface="Calibri"/>
              <a:cs typeface="Calibri"/>
            </a:endParaRPr>
          </a:p>
          <a:p>
            <a:pPr marL="388620" marR="7421245" indent="-210185">
              <a:lnSpc>
                <a:spcPts val="2470"/>
              </a:lnSpc>
              <a:spcBef>
                <a:spcPts val="60"/>
              </a:spcBef>
              <a:buSzPct val="95121"/>
              <a:buAutoNum type="arabicPeriod"/>
              <a:tabLst>
                <a:tab pos="388620" algn="l"/>
              </a:tabLst>
            </a:pPr>
            <a:r>
              <a:rPr sz="2050" dirty="0">
                <a:latin typeface="Calibri"/>
                <a:cs typeface="Calibri"/>
              </a:rPr>
              <a:t>It</a:t>
            </a:r>
            <a:r>
              <a:rPr sz="2050" spc="365" dirty="0">
                <a:latin typeface="Calibri"/>
                <a:cs typeface="Calibri"/>
              </a:rPr>
              <a:t> </a:t>
            </a:r>
            <a:r>
              <a:rPr sz="2050" spc="55" dirty="0">
                <a:latin typeface="Calibri"/>
                <a:cs typeface="Calibri"/>
              </a:rPr>
              <a:t>helps</a:t>
            </a:r>
            <a:r>
              <a:rPr sz="2050" spc="150" dirty="0">
                <a:latin typeface="Calibri"/>
                <a:cs typeface="Calibri"/>
              </a:rPr>
              <a:t> </a:t>
            </a:r>
            <a:r>
              <a:rPr sz="2050" spc="50" dirty="0">
                <a:latin typeface="Calibri"/>
                <a:cs typeface="Calibri"/>
              </a:rPr>
              <a:t>in</a:t>
            </a:r>
            <a:r>
              <a:rPr sz="2050" spc="60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automatically</a:t>
            </a:r>
            <a:r>
              <a:rPr sz="2050" spc="360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filtering</a:t>
            </a:r>
            <a:r>
              <a:rPr sz="2050" spc="190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unwanted</a:t>
            </a:r>
            <a:r>
              <a:rPr sz="2050" spc="270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messages,</a:t>
            </a:r>
            <a:r>
              <a:rPr sz="2050" spc="175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improving</a:t>
            </a:r>
            <a:r>
              <a:rPr sz="2050" spc="180" dirty="0">
                <a:latin typeface="Calibri"/>
                <a:cs typeface="Calibri"/>
              </a:rPr>
              <a:t> </a:t>
            </a:r>
            <a:r>
              <a:rPr sz="2050" spc="55" dirty="0">
                <a:latin typeface="Calibri"/>
                <a:cs typeface="Calibri"/>
              </a:rPr>
              <a:t>user</a:t>
            </a:r>
            <a:r>
              <a:rPr sz="2050" spc="170" dirty="0">
                <a:latin typeface="Calibri"/>
                <a:cs typeface="Calibri"/>
              </a:rPr>
              <a:t> </a:t>
            </a:r>
            <a:r>
              <a:rPr sz="2050" spc="-10" dirty="0">
                <a:latin typeface="Calibri"/>
                <a:cs typeface="Calibri"/>
              </a:rPr>
              <a:t>experience </a:t>
            </a:r>
            <a:r>
              <a:rPr sz="2050" dirty="0">
                <a:latin typeface="Calibri"/>
                <a:cs typeface="Calibri"/>
              </a:rPr>
              <a:t>and</a:t>
            </a:r>
            <a:r>
              <a:rPr sz="2050" spc="65" dirty="0">
                <a:latin typeface="Calibri"/>
                <a:cs typeface="Calibri"/>
              </a:rPr>
              <a:t> </a:t>
            </a:r>
            <a:r>
              <a:rPr sz="2050" spc="-10" dirty="0">
                <a:latin typeface="Calibri"/>
                <a:cs typeface="Calibri"/>
              </a:rPr>
              <a:t>security.</a:t>
            </a:r>
            <a:endParaRPr sz="2050">
              <a:latin typeface="Calibri"/>
              <a:cs typeface="Calibri"/>
            </a:endParaRPr>
          </a:p>
          <a:p>
            <a:pPr marL="377825" indent="-210185">
              <a:lnSpc>
                <a:spcPts val="2390"/>
              </a:lnSpc>
              <a:buSzPct val="95121"/>
              <a:buAutoNum type="arabicPeriod"/>
              <a:tabLst>
                <a:tab pos="377825" algn="l"/>
              </a:tabLst>
            </a:pPr>
            <a:r>
              <a:rPr sz="2050" spc="55" dirty="0">
                <a:latin typeface="Calibri"/>
                <a:cs typeface="Calibri"/>
              </a:rPr>
              <a:t>The</a:t>
            </a:r>
            <a:r>
              <a:rPr sz="2050" spc="110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dataset</a:t>
            </a:r>
            <a:r>
              <a:rPr sz="2050" spc="110" dirty="0">
                <a:latin typeface="Calibri"/>
                <a:cs typeface="Calibri"/>
              </a:rPr>
              <a:t> </a:t>
            </a:r>
            <a:r>
              <a:rPr sz="2050" spc="55" dirty="0">
                <a:latin typeface="Calibri"/>
                <a:cs typeface="Calibri"/>
              </a:rPr>
              <a:t>used</a:t>
            </a:r>
            <a:r>
              <a:rPr sz="2050" spc="110" dirty="0">
                <a:latin typeface="Calibri"/>
                <a:cs typeface="Calibri"/>
              </a:rPr>
              <a:t> </a:t>
            </a:r>
            <a:r>
              <a:rPr sz="2050" spc="55" dirty="0">
                <a:latin typeface="Calibri"/>
                <a:cs typeface="Calibri"/>
              </a:rPr>
              <a:t>contains</a:t>
            </a:r>
            <a:r>
              <a:rPr sz="2050" spc="120" dirty="0">
                <a:latin typeface="Calibri"/>
                <a:cs typeface="Calibri"/>
              </a:rPr>
              <a:t> </a:t>
            </a:r>
            <a:r>
              <a:rPr sz="2050" spc="45" dirty="0">
                <a:latin typeface="Calibri"/>
                <a:cs typeface="Calibri"/>
              </a:rPr>
              <a:t>labeled</a:t>
            </a:r>
            <a:r>
              <a:rPr sz="2050" spc="120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messages</a:t>
            </a:r>
            <a:r>
              <a:rPr sz="2050" spc="130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(spam</a:t>
            </a:r>
            <a:r>
              <a:rPr sz="2050" spc="75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and</a:t>
            </a:r>
            <a:r>
              <a:rPr sz="2050" spc="110" dirty="0">
                <a:latin typeface="Calibri"/>
                <a:cs typeface="Calibri"/>
              </a:rPr>
              <a:t> </a:t>
            </a:r>
            <a:r>
              <a:rPr sz="2050" spc="-20" dirty="0">
                <a:latin typeface="Calibri"/>
                <a:cs typeface="Calibri"/>
              </a:rPr>
              <a:t>ham).</a:t>
            </a:r>
            <a:endParaRPr sz="2050">
              <a:latin typeface="Calibri"/>
              <a:cs typeface="Calibri"/>
            </a:endParaRPr>
          </a:p>
          <a:p>
            <a:pPr marL="389255" indent="-214629">
              <a:lnSpc>
                <a:spcPct val="100000"/>
              </a:lnSpc>
              <a:spcBef>
                <a:spcPts val="10"/>
              </a:spcBef>
              <a:buSzPct val="95121"/>
              <a:buAutoNum type="arabicPeriod"/>
              <a:tabLst>
                <a:tab pos="389255" algn="l"/>
              </a:tabLst>
            </a:pPr>
            <a:r>
              <a:rPr sz="2050" spc="75" dirty="0">
                <a:latin typeface="Calibri"/>
                <a:cs typeface="Calibri"/>
              </a:rPr>
              <a:t>Data</a:t>
            </a:r>
            <a:r>
              <a:rPr sz="2050" spc="-85" dirty="0">
                <a:latin typeface="Calibri"/>
                <a:cs typeface="Calibri"/>
              </a:rPr>
              <a:t> </a:t>
            </a:r>
            <a:r>
              <a:rPr sz="2050" spc="45" dirty="0">
                <a:latin typeface="Calibri"/>
                <a:cs typeface="Calibri"/>
              </a:rPr>
              <a:t>preprocessing</a:t>
            </a:r>
            <a:r>
              <a:rPr sz="2050" spc="170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is</a:t>
            </a:r>
            <a:r>
              <a:rPr sz="2050" spc="150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performed</a:t>
            </a:r>
            <a:r>
              <a:rPr sz="2050" spc="200" dirty="0">
                <a:latin typeface="Calibri"/>
                <a:cs typeface="Calibri"/>
              </a:rPr>
              <a:t> </a:t>
            </a:r>
            <a:r>
              <a:rPr sz="2050" spc="50" dirty="0">
                <a:latin typeface="Calibri"/>
                <a:cs typeface="Calibri"/>
              </a:rPr>
              <a:t>to</a:t>
            </a:r>
            <a:r>
              <a:rPr sz="2050" spc="110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clean</a:t>
            </a:r>
            <a:r>
              <a:rPr sz="2050" spc="45" dirty="0">
                <a:latin typeface="Calibri"/>
                <a:cs typeface="Calibri"/>
              </a:rPr>
              <a:t> </a:t>
            </a:r>
            <a:r>
              <a:rPr sz="2050" spc="50" dirty="0">
                <a:latin typeface="Calibri"/>
                <a:cs typeface="Calibri"/>
              </a:rPr>
              <a:t>the</a:t>
            </a:r>
            <a:r>
              <a:rPr sz="2050" spc="10" dirty="0">
                <a:latin typeface="Calibri"/>
                <a:cs typeface="Calibri"/>
              </a:rPr>
              <a:t> </a:t>
            </a:r>
            <a:r>
              <a:rPr sz="2050" spc="-10" dirty="0">
                <a:latin typeface="Calibri"/>
                <a:cs typeface="Calibri"/>
              </a:rPr>
              <a:t>text:</a:t>
            </a:r>
            <a:endParaRPr sz="2050">
              <a:latin typeface="Calibri"/>
              <a:cs typeface="Calibri"/>
            </a:endParaRPr>
          </a:p>
          <a:p>
            <a:pPr marL="384175" indent="-210185">
              <a:lnSpc>
                <a:spcPct val="100000"/>
              </a:lnSpc>
              <a:spcBef>
                <a:spcPts val="10"/>
              </a:spcBef>
              <a:buSzPct val="95121"/>
              <a:buAutoNum type="arabicPeriod"/>
              <a:tabLst>
                <a:tab pos="384175" algn="l"/>
              </a:tabLst>
            </a:pPr>
            <a:r>
              <a:rPr sz="2050" spc="60" dirty="0">
                <a:latin typeface="Calibri"/>
                <a:cs typeface="Calibri"/>
              </a:rPr>
              <a:t>Convert</a:t>
            </a:r>
            <a:r>
              <a:rPr sz="2050" spc="110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text</a:t>
            </a:r>
            <a:r>
              <a:rPr sz="2050" spc="25" dirty="0">
                <a:latin typeface="Calibri"/>
                <a:cs typeface="Calibri"/>
              </a:rPr>
              <a:t> </a:t>
            </a:r>
            <a:r>
              <a:rPr sz="2050" spc="50" dirty="0">
                <a:latin typeface="Calibri"/>
                <a:cs typeface="Calibri"/>
              </a:rPr>
              <a:t>to</a:t>
            </a:r>
            <a:r>
              <a:rPr sz="2050" spc="-25" dirty="0">
                <a:latin typeface="Calibri"/>
                <a:cs typeface="Calibri"/>
              </a:rPr>
              <a:t> </a:t>
            </a:r>
            <a:r>
              <a:rPr sz="2050" spc="-10" dirty="0">
                <a:latin typeface="Calibri"/>
                <a:cs typeface="Calibri"/>
              </a:rPr>
              <a:t>lowercase</a:t>
            </a:r>
            <a:endParaRPr sz="2050">
              <a:latin typeface="Calibri"/>
              <a:cs typeface="Calibri"/>
            </a:endParaRPr>
          </a:p>
          <a:p>
            <a:pPr marL="389255" indent="-222250">
              <a:lnSpc>
                <a:spcPct val="100000"/>
              </a:lnSpc>
              <a:spcBef>
                <a:spcPts val="40"/>
              </a:spcBef>
              <a:buSzPct val="95121"/>
              <a:buAutoNum type="arabicPeriod"/>
              <a:tabLst>
                <a:tab pos="389255" algn="l"/>
              </a:tabLst>
            </a:pPr>
            <a:r>
              <a:rPr sz="2050" dirty="0">
                <a:latin typeface="Calibri"/>
                <a:cs typeface="Calibri"/>
              </a:rPr>
              <a:t>Remove</a:t>
            </a:r>
            <a:r>
              <a:rPr sz="2050" spc="95" dirty="0">
                <a:latin typeface="Calibri"/>
                <a:cs typeface="Calibri"/>
              </a:rPr>
              <a:t> </a:t>
            </a:r>
            <a:r>
              <a:rPr sz="2050" spc="75" dirty="0">
                <a:latin typeface="Calibri"/>
                <a:cs typeface="Calibri"/>
              </a:rPr>
              <a:t>special</a:t>
            </a:r>
            <a:r>
              <a:rPr sz="2050" spc="-60" dirty="0">
                <a:latin typeface="Calibri"/>
                <a:cs typeface="Calibri"/>
              </a:rPr>
              <a:t> </a:t>
            </a:r>
            <a:r>
              <a:rPr sz="2050" spc="-10" dirty="0">
                <a:latin typeface="Calibri"/>
                <a:cs typeface="Calibri"/>
              </a:rPr>
              <a:t>characters</a:t>
            </a:r>
            <a:endParaRPr sz="2050">
              <a:latin typeface="Calibri"/>
              <a:cs typeface="Calibri"/>
            </a:endParaRPr>
          </a:p>
          <a:p>
            <a:pPr marL="389255" indent="-202565">
              <a:lnSpc>
                <a:spcPct val="100000"/>
              </a:lnSpc>
              <a:spcBef>
                <a:spcPts val="10"/>
              </a:spcBef>
              <a:buSzPct val="95121"/>
              <a:buAutoNum type="arabicPeriod"/>
              <a:tabLst>
                <a:tab pos="389255" algn="l"/>
              </a:tabLst>
            </a:pPr>
            <a:r>
              <a:rPr sz="2050" dirty="0">
                <a:latin typeface="Calibri"/>
                <a:cs typeface="Calibri"/>
              </a:rPr>
              <a:t>Remove</a:t>
            </a:r>
            <a:r>
              <a:rPr sz="2050" spc="130" dirty="0">
                <a:latin typeface="Calibri"/>
                <a:cs typeface="Calibri"/>
              </a:rPr>
              <a:t> </a:t>
            </a:r>
            <a:r>
              <a:rPr sz="2050" spc="-10" dirty="0">
                <a:latin typeface="Calibri"/>
                <a:cs typeface="Calibri"/>
              </a:rPr>
              <a:t>stopwords</a:t>
            </a:r>
            <a:endParaRPr sz="2050">
              <a:latin typeface="Calibri"/>
              <a:cs typeface="Calibri"/>
            </a:endParaRPr>
          </a:p>
          <a:p>
            <a:pPr marL="378460" marR="7513320" indent="-208279">
              <a:lnSpc>
                <a:spcPts val="2500"/>
              </a:lnSpc>
              <a:spcBef>
                <a:spcPts val="60"/>
              </a:spcBef>
              <a:buSzPct val="95121"/>
              <a:buAutoNum type="arabicPeriod"/>
              <a:tabLst>
                <a:tab pos="389255" algn="l"/>
              </a:tabLst>
            </a:pPr>
            <a:r>
              <a:rPr sz="2050" dirty="0">
                <a:latin typeface="Calibri"/>
                <a:cs typeface="Calibri"/>
              </a:rPr>
              <a:t>The</a:t>
            </a:r>
            <a:r>
              <a:rPr sz="2050" spc="185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cleaned</a:t>
            </a:r>
            <a:r>
              <a:rPr sz="2050" spc="210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text</a:t>
            </a:r>
            <a:r>
              <a:rPr sz="2050" spc="135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is</a:t>
            </a:r>
            <a:r>
              <a:rPr sz="2050" spc="245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converted</a:t>
            </a:r>
            <a:r>
              <a:rPr sz="2050" spc="310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into</a:t>
            </a:r>
            <a:r>
              <a:rPr sz="2050" spc="120" dirty="0">
                <a:latin typeface="Calibri"/>
                <a:cs typeface="Calibri"/>
              </a:rPr>
              <a:t> </a:t>
            </a:r>
            <a:r>
              <a:rPr sz="2050" spc="50" dirty="0">
                <a:latin typeface="Calibri"/>
                <a:cs typeface="Calibri"/>
              </a:rPr>
              <a:t>numerical</a:t>
            </a:r>
            <a:r>
              <a:rPr sz="2050" spc="70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form</a:t>
            </a:r>
            <a:r>
              <a:rPr sz="2050" spc="114" dirty="0">
                <a:latin typeface="Calibri"/>
                <a:cs typeface="Calibri"/>
              </a:rPr>
              <a:t> </a:t>
            </a:r>
            <a:r>
              <a:rPr sz="2050" spc="55" dirty="0">
                <a:latin typeface="Calibri"/>
                <a:cs typeface="Calibri"/>
              </a:rPr>
              <a:t>using</a:t>
            </a:r>
            <a:r>
              <a:rPr sz="2050" spc="110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TF-IDF,</a:t>
            </a:r>
            <a:r>
              <a:rPr sz="2050" spc="150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which</a:t>
            </a:r>
            <a:r>
              <a:rPr sz="2050" spc="155" dirty="0">
                <a:latin typeface="Calibri"/>
                <a:cs typeface="Calibri"/>
              </a:rPr>
              <a:t> </a:t>
            </a:r>
            <a:r>
              <a:rPr sz="2050" spc="40" dirty="0">
                <a:latin typeface="Calibri"/>
                <a:cs typeface="Calibri"/>
              </a:rPr>
              <a:t>highlights 	</a:t>
            </a:r>
            <a:r>
              <a:rPr sz="2050" dirty="0">
                <a:latin typeface="Calibri"/>
                <a:cs typeface="Calibri"/>
              </a:rPr>
              <a:t>important</a:t>
            </a:r>
            <a:r>
              <a:rPr sz="2050" spc="440" dirty="0">
                <a:latin typeface="Calibri"/>
                <a:cs typeface="Calibri"/>
              </a:rPr>
              <a:t> </a:t>
            </a:r>
            <a:r>
              <a:rPr sz="2050" spc="-10" dirty="0">
                <a:latin typeface="Calibri"/>
                <a:cs typeface="Calibri"/>
              </a:rPr>
              <a:t>words.</a:t>
            </a:r>
            <a:endParaRPr sz="2050">
              <a:latin typeface="Calibri"/>
              <a:cs typeface="Calibri"/>
            </a:endParaRPr>
          </a:p>
          <a:p>
            <a:pPr marL="372745" indent="-208279">
              <a:lnSpc>
                <a:spcPts val="2355"/>
              </a:lnSpc>
              <a:buSzPct val="95121"/>
              <a:buAutoNum type="arabicPeriod"/>
              <a:tabLst>
                <a:tab pos="372745" algn="l"/>
              </a:tabLst>
            </a:pPr>
            <a:r>
              <a:rPr sz="2050" dirty="0">
                <a:latin typeface="Calibri"/>
                <a:cs typeface="Calibri"/>
              </a:rPr>
              <a:t>Three</a:t>
            </a:r>
            <a:r>
              <a:rPr sz="2050" spc="235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algorithms</a:t>
            </a:r>
            <a:r>
              <a:rPr sz="2050" spc="295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are</a:t>
            </a:r>
            <a:r>
              <a:rPr sz="2050" spc="175" dirty="0">
                <a:latin typeface="Calibri"/>
                <a:cs typeface="Calibri"/>
              </a:rPr>
              <a:t> </a:t>
            </a:r>
            <a:r>
              <a:rPr sz="2050" spc="-10" dirty="0">
                <a:latin typeface="Calibri"/>
                <a:cs typeface="Calibri"/>
              </a:rPr>
              <a:t>used:</a:t>
            </a:r>
            <a:endParaRPr sz="2050">
              <a:latin typeface="Calibri"/>
              <a:cs typeface="Calibri"/>
            </a:endParaRPr>
          </a:p>
          <a:p>
            <a:pPr marL="389255" indent="-376555">
              <a:lnSpc>
                <a:spcPts val="2455"/>
              </a:lnSpc>
              <a:spcBef>
                <a:spcPts val="35"/>
              </a:spcBef>
              <a:buSzPct val="95121"/>
              <a:buAutoNum type="arabicPeriod"/>
              <a:tabLst>
                <a:tab pos="389255" algn="l"/>
              </a:tabLst>
            </a:pPr>
            <a:r>
              <a:rPr sz="2050" spc="70" dirty="0">
                <a:latin typeface="Calibri"/>
                <a:cs typeface="Calibri"/>
              </a:rPr>
              <a:t>Logistic</a:t>
            </a:r>
            <a:r>
              <a:rPr sz="2050" spc="250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Regression</a:t>
            </a:r>
            <a:r>
              <a:rPr sz="2050" spc="215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(simple</a:t>
            </a:r>
            <a:r>
              <a:rPr sz="2050" spc="190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and</a:t>
            </a:r>
            <a:r>
              <a:rPr sz="2050" spc="165" dirty="0">
                <a:latin typeface="Calibri"/>
                <a:cs typeface="Calibri"/>
              </a:rPr>
              <a:t> </a:t>
            </a:r>
            <a:r>
              <a:rPr sz="2050" spc="-10" dirty="0">
                <a:latin typeface="Calibri"/>
                <a:cs typeface="Calibri"/>
              </a:rPr>
              <a:t>fast)</a:t>
            </a:r>
            <a:endParaRPr sz="2050">
              <a:latin typeface="Calibri"/>
              <a:cs typeface="Calibri"/>
            </a:endParaRPr>
          </a:p>
          <a:p>
            <a:pPr marL="399415" indent="-344170">
              <a:lnSpc>
                <a:spcPts val="2455"/>
              </a:lnSpc>
              <a:buSzPct val="95121"/>
              <a:buAutoNum type="arabicPeriod"/>
              <a:tabLst>
                <a:tab pos="399415" algn="l"/>
              </a:tabLst>
            </a:pPr>
            <a:r>
              <a:rPr sz="2050" dirty="0">
                <a:latin typeface="Calibri"/>
                <a:cs typeface="Calibri"/>
              </a:rPr>
              <a:t>Support</a:t>
            </a:r>
            <a:r>
              <a:rPr sz="2050" spc="270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Vector</a:t>
            </a:r>
            <a:r>
              <a:rPr sz="2050" spc="185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Machine</a:t>
            </a:r>
            <a:r>
              <a:rPr sz="2050" spc="185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(SVM)</a:t>
            </a:r>
            <a:r>
              <a:rPr sz="2050" spc="215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(high</a:t>
            </a:r>
            <a:r>
              <a:rPr sz="2050" spc="140" dirty="0">
                <a:latin typeface="Calibri"/>
                <a:cs typeface="Calibri"/>
              </a:rPr>
              <a:t> </a:t>
            </a:r>
            <a:r>
              <a:rPr sz="2050" spc="55" dirty="0">
                <a:latin typeface="Calibri"/>
                <a:cs typeface="Calibri"/>
              </a:rPr>
              <a:t>accuracy)</a:t>
            </a:r>
            <a:endParaRPr sz="2050">
              <a:latin typeface="Calibri"/>
              <a:cs typeface="Calibri"/>
            </a:endParaRPr>
          </a:p>
          <a:p>
            <a:pPr marL="48895">
              <a:lnSpc>
                <a:spcPct val="100000"/>
              </a:lnSpc>
              <a:spcBef>
                <a:spcPts val="10"/>
              </a:spcBef>
            </a:pPr>
            <a:r>
              <a:rPr sz="2050" spc="-55" dirty="0">
                <a:latin typeface="Calibri"/>
                <a:cs typeface="Calibri"/>
              </a:rPr>
              <a:t>12.</a:t>
            </a:r>
            <a:r>
              <a:rPr sz="2050" spc="-160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K-Nearest</a:t>
            </a:r>
            <a:r>
              <a:rPr sz="2050" spc="235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Neighbors</a:t>
            </a:r>
            <a:r>
              <a:rPr sz="2050" spc="204" dirty="0">
                <a:latin typeface="Calibri"/>
                <a:cs typeface="Calibri"/>
              </a:rPr>
              <a:t> </a:t>
            </a:r>
            <a:r>
              <a:rPr sz="2050" spc="60" dirty="0">
                <a:latin typeface="Calibri"/>
                <a:cs typeface="Calibri"/>
              </a:rPr>
              <a:t>(KNN)</a:t>
            </a:r>
            <a:r>
              <a:rPr sz="2050" spc="100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(based</a:t>
            </a:r>
            <a:r>
              <a:rPr sz="2050" spc="175" dirty="0">
                <a:latin typeface="Calibri"/>
                <a:cs typeface="Calibri"/>
              </a:rPr>
              <a:t> </a:t>
            </a:r>
            <a:r>
              <a:rPr sz="2050" spc="60" dirty="0">
                <a:latin typeface="Calibri"/>
                <a:cs typeface="Calibri"/>
              </a:rPr>
              <a:t>on</a:t>
            </a:r>
            <a:r>
              <a:rPr sz="2050" spc="20" dirty="0">
                <a:latin typeface="Calibri"/>
                <a:cs typeface="Calibri"/>
              </a:rPr>
              <a:t> </a:t>
            </a:r>
            <a:r>
              <a:rPr sz="2050" spc="-10" dirty="0">
                <a:latin typeface="Calibri"/>
                <a:cs typeface="Calibri"/>
              </a:rPr>
              <a:t>similarity)</a:t>
            </a:r>
            <a:endParaRPr sz="2050">
              <a:latin typeface="Calibri"/>
              <a:cs typeface="Calibri"/>
            </a:endParaRPr>
          </a:p>
          <a:p>
            <a:pPr marL="43180">
              <a:lnSpc>
                <a:spcPct val="100000"/>
              </a:lnSpc>
              <a:spcBef>
                <a:spcPts val="35"/>
              </a:spcBef>
            </a:pPr>
            <a:r>
              <a:rPr sz="2050" dirty="0">
                <a:latin typeface="Calibri"/>
                <a:cs typeface="Calibri"/>
              </a:rPr>
              <a:t>13.The</a:t>
            </a:r>
            <a:r>
              <a:rPr sz="2050" spc="180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dataset</a:t>
            </a:r>
            <a:r>
              <a:rPr sz="2050" spc="145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is</a:t>
            </a:r>
            <a:r>
              <a:rPr sz="2050" spc="155" dirty="0">
                <a:latin typeface="Calibri"/>
                <a:cs typeface="Calibri"/>
              </a:rPr>
              <a:t> </a:t>
            </a:r>
            <a:r>
              <a:rPr sz="2050" spc="65" dirty="0">
                <a:latin typeface="Calibri"/>
                <a:cs typeface="Calibri"/>
              </a:rPr>
              <a:t>split</a:t>
            </a:r>
            <a:r>
              <a:rPr sz="2050" spc="90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into</a:t>
            </a:r>
            <a:r>
              <a:rPr sz="2050" spc="125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training</a:t>
            </a:r>
            <a:r>
              <a:rPr sz="2050" spc="220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and</a:t>
            </a:r>
            <a:r>
              <a:rPr sz="2050" spc="175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testing</a:t>
            </a:r>
            <a:r>
              <a:rPr sz="2050" spc="145" dirty="0">
                <a:latin typeface="Calibri"/>
                <a:cs typeface="Calibri"/>
              </a:rPr>
              <a:t> </a:t>
            </a:r>
            <a:r>
              <a:rPr sz="2050" spc="65" dirty="0">
                <a:latin typeface="Calibri"/>
                <a:cs typeface="Calibri"/>
              </a:rPr>
              <a:t>data</a:t>
            </a:r>
            <a:r>
              <a:rPr sz="2050" spc="-10" dirty="0">
                <a:latin typeface="Calibri"/>
                <a:cs typeface="Calibri"/>
              </a:rPr>
              <a:t> </a:t>
            </a:r>
            <a:r>
              <a:rPr sz="2050" spc="50" dirty="0">
                <a:latin typeface="Calibri"/>
                <a:cs typeface="Calibri"/>
              </a:rPr>
              <a:t>to</a:t>
            </a:r>
            <a:r>
              <a:rPr sz="2050" spc="80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evaluate</a:t>
            </a:r>
            <a:r>
              <a:rPr sz="2050" spc="165" dirty="0">
                <a:latin typeface="Calibri"/>
                <a:cs typeface="Calibri"/>
              </a:rPr>
              <a:t> </a:t>
            </a:r>
            <a:r>
              <a:rPr sz="2050" spc="-10" dirty="0">
                <a:latin typeface="Calibri"/>
                <a:cs typeface="Calibri"/>
              </a:rPr>
              <a:t>performance.</a:t>
            </a:r>
            <a:endParaRPr sz="2050">
              <a:latin typeface="Calibri"/>
              <a:cs typeface="Calibri"/>
            </a:endParaRPr>
          </a:p>
          <a:p>
            <a:pPr marL="12276455" marR="2345055" indent="-1091565">
              <a:lnSpc>
                <a:spcPct val="96900"/>
              </a:lnSpc>
              <a:spcBef>
                <a:spcPts val="2010"/>
              </a:spcBef>
            </a:pPr>
            <a:r>
              <a:rPr sz="2200" dirty="0">
                <a:latin typeface="Calibri"/>
                <a:cs typeface="Calibri"/>
              </a:rPr>
              <a:t>Models</a:t>
            </a:r>
            <a:r>
              <a:rPr sz="2200" spc="1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are</a:t>
            </a:r>
            <a:r>
              <a:rPr sz="2200" spc="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evaluated</a:t>
            </a:r>
            <a:r>
              <a:rPr sz="2200" spc="13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using: </a:t>
            </a:r>
            <a:r>
              <a:rPr sz="2300" spc="-10" dirty="0">
                <a:latin typeface="Calibri"/>
                <a:cs typeface="Calibri"/>
              </a:rPr>
              <a:t>Accuracy</a:t>
            </a:r>
            <a:r>
              <a:rPr sz="2300" spc="57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Precision</a:t>
            </a:r>
            <a:endParaRPr sz="2200">
              <a:latin typeface="Calibri"/>
              <a:cs typeface="Calibri"/>
            </a:endParaRPr>
          </a:p>
          <a:p>
            <a:pPr marL="8849995" algn="ctr">
              <a:lnSpc>
                <a:spcPts val="2580"/>
              </a:lnSpc>
            </a:pPr>
            <a:r>
              <a:rPr sz="2250" spc="45" dirty="0">
                <a:latin typeface="Calibri"/>
                <a:cs typeface="Calibri"/>
              </a:rPr>
              <a:t>Recall</a:t>
            </a:r>
            <a:endParaRPr sz="2250">
              <a:latin typeface="Calibri"/>
              <a:cs typeface="Calibri"/>
            </a:endParaRPr>
          </a:p>
          <a:p>
            <a:pPr marL="8826500" algn="ctr">
              <a:lnSpc>
                <a:spcPts val="2670"/>
              </a:lnSpc>
            </a:pPr>
            <a:r>
              <a:rPr sz="2300" spc="-50" dirty="0">
                <a:latin typeface="Calibri"/>
                <a:cs typeface="Calibri"/>
              </a:rPr>
              <a:t>F1-</a:t>
            </a:r>
            <a:r>
              <a:rPr sz="2300" spc="-10" dirty="0">
                <a:latin typeface="Calibri"/>
                <a:cs typeface="Calibri"/>
              </a:rPr>
              <a:t>score</a:t>
            </a:r>
            <a:endParaRPr sz="2300">
              <a:latin typeface="Calibri"/>
              <a:cs typeface="Calibri"/>
            </a:endParaRPr>
          </a:p>
          <a:p>
            <a:pPr marL="8817610" algn="ctr">
              <a:lnSpc>
                <a:spcPts val="2615"/>
              </a:lnSpc>
            </a:pPr>
            <a:r>
              <a:rPr sz="2200" dirty="0">
                <a:latin typeface="Calibri"/>
                <a:cs typeface="Calibri"/>
              </a:rPr>
              <a:t>Among</a:t>
            </a:r>
            <a:r>
              <a:rPr sz="2200" spc="10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all</a:t>
            </a:r>
            <a:r>
              <a:rPr sz="2200" spc="2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models,</a:t>
            </a:r>
            <a:r>
              <a:rPr sz="2200" spc="1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SVM</a:t>
            </a:r>
            <a:r>
              <a:rPr sz="2200" spc="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gives</a:t>
            </a:r>
            <a:r>
              <a:rPr sz="2200" spc="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best</a:t>
            </a:r>
            <a:r>
              <a:rPr sz="2200" spc="2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performance.</a:t>
            </a:r>
            <a:endParaRPr sz="2200">
              <a:latin typeface="Calibri"/>
              <a:cs typeface="Calibri"/>
            </a:endParaRPr>
          </a:p>
          <a:p>
            <a:pPr marL="8840470" algn="ctr">
              <a:lnSpc>
                <a:spcPct val="100000"/>
              </a:lnSpc>
            </a:pPr>
            <a:r>
              <a:rPr sz="2200" dirty="0">
                <a:latin typeface="Calibri"/>
                <a:cs typeface="Calibri"/>
              </a:rPr>
              <a:t>The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spc="70" dirty="0">
                <a:latin typeface="Calibri"/>
                <a:cs typeface="Calibri"/>
              </a:rPr>
              <a:t>final</a:t>
            </a:r>
            <a:r>
              <a:rPr sz="2200" spc="-1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system</a:t>
            </a:r>
            <a:r>
              <a:rPr sz="2200" spc="105" dirty="0">
                <a:latin typeface="Calibri"/>
                <a:cs typeface="Calibri"/>
              </a:rPr>
              <a:t> </a:t>
            </a:r>
            <a:r>
              <a:rPr sz="2200" spc="55" dirty="0">
                <a:latin typeface="Calibri"/>
                <a:cs typeface="Calibri"/>
              </a:rPr>
              <a:t>can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spc="45" dirty="0">
                <a:latin typeface="Calibri"/>
                <a:cs typeface="Calibri"/>
              </a:rPr>
              <a:t>predict</a:t>
            </a:r>
            <a:r>
              <a:rPr sz="2200" spc="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whether</a:t>
            </a:r>
            <a:r>
              <a:rPr sz="2200" spc="1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new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message</a:t>
            </a:r>
            <a:r>
              <a:rPr sz="2200" spc="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is</a:t>
            </a:r>
            <a:r>
              <a:rPr sz="2200" spc="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spam</a:t>
            </a:r>
            <a:r>
              <a:rPr sz="2200" spc="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or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not.</a:t>
            </a:r>
            <a:endParaRPr sz="2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01108"/>
            <a:ext cx="18092928" cy="10085891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5465093" y="630237"/>
            <a:ext cx="11877675" cy="59074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736590" algn="ctr">
              <a:lnSpc>
                <a:spcPct val="100000"/>
              </a:lnSpc>
              <a:spcBef>
                <a:spcPts val="100"/>
              </a:spcBef>
            </a:pPr>
            <a:r>
              <a:rPr sz="2400" spc="55" dirty="0">
                <a:latin typeface="Calibri"/>
                <a:cs typeface="Calibri"/>
              </a:rPr>
              <a:t>Key</a:t>
            </a:r>
            <a:r>
              <a:rPr sz="2400" spc="229" dirty="0">
                <a:latin typeface="Calibri"/>
                <a:cs typeface="Calibri"/>
              </a:rPr>
              <a:t> </a:t>
            </a:r>
            <a:r>
              <a:rPr sz="2400" spc="80" dirty="0">
                <a:latin typeface="Calibri"/>
                <a:cs typeface="Calibri"/>
              </a:rPr>
              <a:t>Points: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sz="2400">
              <a:latin typeface="Calibri"/>
              <a:cs typeface="Calibri"/>
            </a:endParaRPr>
          </a:p>
          <a:p>
            <a:pPr marR="5737860" algn="ctr">
              <a:lnSpc>
                <a:spcPts val="3085"/>
              </a:lnSpc>
            </a:pPr>
            <a:r>
              <a:rPr sz="2600" dirty="0">
                <a:latin typeface="Calibri"/>
                <a:cs typeface="Calibri"/>
              </a:rPr>
              <a:t>Simple</a:t>
            </a:r>
            <a:r>
              <a:rPr sz="2600" spc="1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8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fast</a:t>
            </a:r>
            <a:endParaRPr sz="2600">
              <a:latin typeface="Calibri"/>
              <a:cs typeface="Calibri"/>
            </a:endParaRPr>
          </a:p>
          <a:p>
            <a:pPr marL="499109" marR="6228080" algn="ctr">
              <a:lnSpc>
                <a:spcPts val="3100"/>
              </a:lnSpc>
              <a:spcBef>
                <a:spcPts val="85"/>
              </a:spcBef>
            </a:pPr>
            <a:r>
              <a:rPr sz="2600" spc="-50" dirty="0">
                <a:latin typeface="Calibri"/>
                <a:cs typeface="Calibri"/>
              </a:rPr>
              <a:t>Works</a:t>
            </a:r>
            <a:r>
              <a:rPr sz="2600" spc="60" dirty="0">
                <a:latin typeface="Calibri"/>
                <a:cs typeface="Calibri"/>
              </a:rPr>
              <a:t> </a:t>
            </a:r>
            <a:r>
              <a:rPr sz="2600" spc="-125" dirty="0">
                <a:latin typeface="Calibri"/>
                <a:cs typeface="Calibri"/>
              </a:rPr>
              <a:t>weft</a:t>
            </a:r>
            <a:r>
              <a:rPr sz="2600" spc="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for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linearly</a:t>
            </a:r>
            <a:r>
              <a:rPr sz="2600" spc="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separable</a:t>
            </a:r>
            <a:r>
              <a:rPr sz="2600" spc="13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data </a:t>
            </a:r>
            <a:r>
              <a:rPr sz="2600" dirty="0">
                <a:latin typeface="Calibri"/>
                <a:cs typeface="Calibri"/>
              </a:rPr>
              <a:t>Easy</a:t>
            </a:r>
            <a:r>
              <a:rPr sz="2600" spc="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to</a:t>
            </a:r>
            <a:r>
              <a:rPr sz="2600" spc="-10" dirty="0">
                <a:latin typeface="Calibri"/>
                <a:cs typeface="Calibri"/>
              </a:rPr>
              <a:t> interpret</a:t>
            </a:r>
            <a:endParaRPr sz="2600">
              <a:latin typeface="Calibri"/>
              <a:cs typeface="Calibri"/>
            </a:endParaRPr>
          </a:p>
          <a:p>
            <a:pPr marL="12700" marR="146685">
              <a:lnSpc>
                <a:spcPct val="100499"/>
              </a:lnSpc>
              <a:spcBef>
                <a:spcPts val="3075"/>
              </a:spcBef>
            </a:pPr>
            <a:r>
              <a:rPr sz="1950" dirty="0">
                <a:latin typeface="Calibri"/>
                <a:cs typeface="Calibri"/>
              </a:rPr>
              <a:t>In</a:t>
            </a:r>
            <a:r>
              <a:rPr sz="1950" spc="-7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this</a:t>
            </a:r>
            <a:r>
              <a:rPr sz="1950" spc="-70" dirty="0">
                <a:latin typeface="Calibri"/>
                <a:cs typeface="Calibri"/>
              </a:rPr>
              <a:t> </a:t>
            </a:r>
            <a:r>
              <a:rPr sz="1950" spc="-40" dirty="0">
                <a:latin typeface="Calibri"/>
                <a:cs typeface="Calibri"/>
              </a:rPr>
              <a:t>project,</a:t>
            </a:r>
            <a:r>
              <a:rPr sz="1950" spc="-50" dirty="0">
                <a:latin typeface="Calibri"/>
                <a:cs typeface="Calibri"/>
              </a:rPr>
              <a:t> </a:t>
            </a:r>
            <a:r>
              <a:rPr sz="1950" spc="-55" dirty="0">
                <a:latin typeface="Calibri"/>
                <a:cs typeface="Calibri"/>
              </a:rPr>
              <a:t>multiple</a:t>
            </a:r>
            <a:r>
              <a:rPr sz="1950" spc="20" dirty="0">
                <a:latin typeface="Calibri"/>
                <a:cs typeface="Calibri"/>
              </a:rPr>
              <a:t> </a:t>
            </a:r>
            <a:r>
              <a:rPr sz="1950" spc="-35" dirty="0">
                <a:latin typeface="Calibri"/>
                <a:cs typeface="Calibri"/>
              </a:rPr>
              <a:t>machine</a:t>
            </a:r>
            <a:r>
              <a:rPr sz="1950" dirty="0">
                <a:latin typeface="Calibri"/>
                <a:cs typeface="Calibri"/>
              </a:rPr>
              <a:t> </a:t>
            </a:r>
            <a:r>
              <a:rPr sz="1950" spc="-35" dirty="0">
                <a:latin typeface="Calibri"/>
                <a:cs typeface="Calibri"/>
              </a:rPr>
              <a:t>learning</a:t>
            </a:r>
            <a:r>
              <a:rPr sz="1950" spc="20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classification</a:t>
            </a:r>
            <a:r>
              <a:rPr sz="1950" spc="-100" dirty="0">
                <a:latin typeface="Calibri"/>
                <a:cs typeface="Calibri"/>
              </a:rPr>
              <a:t> </a:t>
            </a:r>
            <a:r>
              <a:rPr sz="1950" spc="-20" dirty="0">
                <a:latin typeface="Calibri"/>
                <a:cs typeface="Calibri"/>
              </a:rPr>
              <a:t>algorithms</a:t>
            </a:r>
            <a:r>
              <a:rPr sz="1950" spc="-5" dirty="0">
                <a:latin typeface="Calibri"/>
                <a:cs typeface="Calibri"/>
              </a:rPr>
              <a:t> </a:t>
            </a:r>
            <a:r>
              <a:rPr sz="1950" spc="-20" dirty="0">
                <a:latin typeface="Calibri"/>
                <a:cs typeface="Calibri"/>
              </a:rPr>
              <a:t>are</a:t>
            </a:r>
            <a:r>
              <a:rPr sz="1950" spc="-80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used</a:t>
            </a:r>
            <a:r>
              <a:rPr sz="1950" spc="-75" dirty="0">
                <a:latin typeface="Calibri"/>
                <a:cs typeface="Calibri"/>
              </a:rPr>
              <a:t> </a:t>
            </a:r>
            <a:r>
              <a:rPr sz="1950" spc="-10" dirty="0">
                <a:latin typeface="Calibri"/>
                <a:cs typeface="Calibri"/>
              </a:rPr>
              <a:t>to</a:t>
            </a:r>
            <a:r>
              <a:rPr sz="1950" spc="-70" dirty="0">
                <a:latin typeface="Calibri"/>
                <a:cs typeface="Calibri"/>
              </a:rPr>
              <a:t> </a:t>
            </a:r>
            <a:r>
              <a:rPr sz="1950" spc="-30" dirty="0">
                <a:latin typeface="Calibri"/>
                <a:cs typeface="Calibri"/>
              </a:rPr>
              <a:t>identify</a:t>
            </a:r>
            <a:r>
              <a:rPr sz="1950" spc="100" dirty="0">
                <a:latin typeface="Calibri"/>
                <a:cs typeface="Calibri"/>
              </a:rPr>
              <a:t> </a:t>
            </a:r>
            <a:r>
              <a:rPr sz="1950" spc="-50" dirty="0">
                <a:latin typeface="Calibri"/>
                <a:cs typeface="Calibri"/>
              </a:rPr>
              <a:t>whether</a:t>
            </a:r>
            <a:r>
              <a:rPr sz="1950" spc="20" dirty="0">
                <a:latin typeface="Calibri"/>
                <a:cs typeface="Calibri"/>
              </a:rPr>
              <a:t> </a:t>
            </a:r>
            <a:r>
              <a:rPr sz="1950" spc="-20" dirty="0">
                <a:latin typeface="Calibri"/>
                <a:cs typeface="Calibri"/>
              </a:rPr>
              <a:t>an</a:t>
            </a:r>
            <a:r>
              <a:rPr sz="1950" spc="-85" dirty="0">
                <a:latin typeface="Calibri"/>
                <a:cs typeface="Calibri"/>
              </a:rPr>
              <a:t> </a:t>
            </a:r>
            <a:r>
              <a:rPr sz="1950" spc="-55" dirty="0">
                <a:latin typeface="Calibri"/>
                <a:cs typeface="Calibri"/>
              </a:rPr>
              <a:t>email</a:t>
            </a:r>
            <a:r>
              <a:rPr sz="1950" spc="-50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is</a:t>
            </a:r>
            <a:r>
              <a:rPr sz="1950" spc="7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spam</a:t>
            </a:r>
            <a:r>
              <a:rPr sz="1950" spc="-30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or</a:t>
            </a:r>
            <a:r>
              <a:rPr sz="1950" spc="-55" dirty="0">
                <a:latin typeface="Calibri"/>
                <a:cs typeface="Calibri"/>
              </a:rPr>
              <a:t> </a:t>
            </a:r>
            <a:r>
              <a:rPr sz="1950" spc="-20" dirty="0">
                <a:latin typeface="Calibri"/>
                <a:cs typeface="Calibri"/>
              </a:rPr>
              <a:t>not. </a:t>
            </a:r>
            <a:r>
              <a:rPr sz="1950" dirty="0">
                <a:latin typeface="Calibri"/>
                <a:cs typeface="Calibri"/>
              </a:rPr>
              <a:t>Each</a:t>
            </a:r>
            <a:r>
              <a:rPr sz="1950" spc="-110" dirty="0">
                <a:latin typeface="Calibri"/>
                <a:cs typeface="Calibri"/>
              </a:rPr>
              <a:t> </a:t>
            </a:r>
            <a:r>
              <a:rPr sz="1950" spc="-35" dirty="0">
                <a:latin typeface="Calibri"/>
                <a:cs typeface="Calibri"/>
              </a:rPr>
              <a:t>algorithm</a:t>
            </a:r>
            <a:r>
              <a:rPr sz="1950" spc="-70" dirty="0">
                <a:latin typeface="Calibri"/>
                <a:cs typeface="Calibri"/>
              </a:rPr>
              <a:t> </a:t>
            </a:r>
            <a:r>
              <a:rPr sz="1950" spc="-10" dirty="0">
                <a:latin typeface="Calibri"/>
                <a:cs typeface="Calibri"/>
              </a:rPr>
              <a:t>follows </a:t>
            </a:r>
            <a:r>
              <a:rPr sz="1950" dirty="0">
                <a:latin typeface="Calibri"/>
                <a:cs typeface="Calibri"/>
              </a:rPr>
              <a:t>a</a:t>
            </a:r>
            <a:r>
              <a:rPr sz="1950" spc="-110" dirty="0">
                <a:latin typeface="Calibri"/>
                <a:cs typeface="Calibri"/>
              </a:rPr>
              <a:t> </a:t>
            </a:r>
            <a:r>
              <a:rPr sz="1950" spc="-35" dirty="0">
                <a:latin typeface="Calibri"/>
                <a:cs typeface="Calibri"/>
              </a:rPr>
              <a:t>different</a:t>
            </a:r>
            <a:r>
              <a:rPr sz="1950" spc="30" dirty="0">
                <a:latin typeface="Calibri"/>
                <a:cs typeface="Calibri"/>
              </a:rPr>
              <a:t> </a:t>
            </a:r>
            <a:r>
              <a:rPr sz="1950" spc="-10" dirty="0">
                <a:latin typeface="Calibri"/>
                <a:cs typeface="Calibri"/>
              </a:rPr>
              <a:t>approach</a:t>
            </a:r>
            <a:r>
              <a:rPr sz="1950" spc="15" dirty="0">
                <a:latin typeface="Calibri"/>
                <a:cs typeface="Calibri"/>
              </a:rPr>
              <a:t> </a:t>
            </a:r>
            <a:r>
              <a:rPr sz="1950" spc="-30" dirty="0">
                <a:latin typeface="Calibri"/>
                <a:cs typeface="Calibri"/>
              </a:rPr>
              <a:t>to</a:t>
            </a:r>
            <a:r>
              <a:rPr sz="1950" spc="-80" dirty="0">
                <a:latin typeface="Calibri"/>
                <a:cs typeface="Calibri"/>
              </a:rPr>
              <a:t> </a:t>
            </a:r>
            <a:r>
              <a:rPr sz="1950" spc="-25" dirty="0">
                <a:latin typeface="Calibri"/>
                <a:cs typeface="Calibri"/>
              </a:rPr>
              <a:t>learn</a:t>
            </a:r>
            <a:r>
              <a:rPr sz="1950" spc="-70" dirty="0">
                <a:latin typeface="Calibri"/>
                <a:cs typeface="Calibri"/>
              </a:rPr>
              <a:t> </a:t>
            </a:r>
            <a:r>
              <a:rPr sz="1950" spc="-10" dirty="0">
                <a:latin typeface="Calibri"/>
                <a:cs typeface="Calibri"/>
              </a:rPr>
              <a:t>patterns</a:t>
            </a:r>
            <a:r>
              <a:rPr sz="1950" spc="5" dirty="0">
                <a:latin typeface="Calibri"/>
                <a:cs typeface="Calibri"/>
              </a:rPr>
              <a:t> </a:t>
            </a:r>
            <a:r>
              <a:rPr sz="1950" spc="-30" dirty="0">
                <a:latin typeface="Calibri"/>
                <a:cs typeface="Calibri"/>
              </a:rPr>
              <a:t>from</a:t>
            </a:r>
            <a:r>
              <a:rPr sz="1950" spc="-15" dirty="0">
                <a:latin typeface="Calibri"/>
                <a:cs typeface="Calibri"/>
              </a:rPr>
              <a:t> </a:t>
            </a:r>
            <a:r>
              <a:rPr sz="1950" spc="-35" dirty="0">
                <a:latin typeface="Calibri"/>
                <a:cs typeface="Calibri"/>
              </a:rPr>
              <a:t>the</a:t>
            </a:r>
            <a:r>
              <a:rPr sz="1950" spc="-50" dirty="0">
                <a:latin typeface="Calibri"/>
                <a:cs typeface="Calibri"/>
              </a:rPr>
              <a:t> </a:t>
            </a:r>
            <a:r>
              <a:rPr sz="1950" spc="-10" dirty="0">
                <a:latin typeface="Calibri"/>
                <a:cs typeface="Calibri"/>
              </a:rPr>
              <a:t>data</a:t>
            </a:r>
            <a:r>
              <a:rPr sz="1950" spc="-35" dirty="0">
                <a:latin typeface="Calibri"/>
                <a:cs typeface="Calibri"/>
              </a:rPr>
              <a:t> </a:t>
            </a:r>
            <a:r>
              <a:rPr sz="1950" spc="-10" dirty="0">
                <a:latin typeface="Calibri"/>
                <a:cs typeface="Calibri"/>
              </a:rPr>
              <a:t>and</a:t>
            </a:r>
            <a:r>
              <a:rPr sz="1950" spc="-65" dirty="0">
                <a:latin typeface="Calibri"/>
                <a:cs typeface="Calibri"/>
              </a:rPr>
              <a:t> </a:t>
            </a:r>
            <a:r>
              <a:rPr sz="1950" spc="-50" dirty="0">
                <a:latin typeface="Calibri"/>
                <a:cs typeface="Calibri"/>
              </a:rPr>
              <a:t>make</a:t>
            </a:r>
            <a:r>
              <a:rPr sz="1950" spc="-60" dirty="0">
                <a:latin typeface="Calibri"/>
                <a:cs typeface="Calibri"/>
              </a:rPr>
              <a:t> </a:t>
            </a:r>
            <a:r>
              <a:rPr sz="1950" spc="-10" dirty="0">
                <a:latin typeface="Calibri"/>
                <a:cs typeface="Calibri"/>
              </a:rPr>
              <a:t>predictions.</a:t>
            </a:r>
            <a:endParaRPr sz="1950">
              <a:latin typeface="Calibri"/>
              <a:cs typeface="Calibri"/>
            </a:endParaRPr>
          </a:p>
          <a:p>
            <a:pPr marL="18415" marR="5080" indent="-3175">
              <a:lnSpc>
                <a:spcPct val="111400"/>
              </a:lnSpc>
              <a:spcBef>
                <a:spcPts val="2225"/>
              </a:spcBef>
            </a:pPr>
            <a:r>
              <a:rPr sz="1750" dirty="0">
                <a:latin typeface="Arial MT"/>
                <a:cs typeface="Arial MT"/>
              </a:rPr>
              <a:t>Using</a:t>
            </a:r>
            <a:r>
              <a:rPr sz="1750" spc="-45" dirty="0">
                <a:latin typeface="Arial MT"/>
                <a:cs typeface="Arial MT"/>
              </a:rPr>
              <a:t> </a:t>
            </a:r>
            <a:r>
              <a:rPr sz="1750" dirty="0">
                <a:latin typeface="Arial MT"/>
                <a:cs typeface="Arial MT"/>
              </a:rPr>
              <a:t>multiple</a:t>
            </a:r>
            <a:r>
              <a:rPr sz="1750" spc="55" dirty="0">
                <a:latin typeface="Arial MT"/>
                <a:cs typeface="Arial MT"/>
              </a:rPr>
              <a:t> </a:t>
            </a:r>
            <a:r>
              <a:rPr sz="1750" dirty="0">
                <a:latin typeface="Arial MT"/>
                <a:cs typeface="Arial MT"/>
              </a:rPr>
              <a:t>algorithms</a:t>
            </a:r>
            <a:r>
              <a:rPr sz="1750" spc="114" dirty="0">
                <a:latin typeface="Arial MT"/>
                <a:cs typeface="Arial MT"/>
              </a:rPr>
              <a:t> </a:t>
            </a:r>
            <a:r>
              <a:rPr sz="1750" dirty="0">
                <a:latin typeface="Arial MT"/>
                <a:cs typeface="Arial MT"/>
              </a:rPr>
              <a:t>helps</a:t>
            </a:r>
            <a:r>
              <a:rPr sz="1750" spc="-65" dirty="0">
                <a:latin typeface="Arial MT"/>
                <a:cs typeface="Arial MT"/>
              </a:rPr>
              <a:t> </a:t>
            </a:r>
            <a:r>
              <a:rPr sz="1750" dirty="0">
                <a:latin typeface="Arial MT"/>
                <a:cs typeface="Arial MT"/>
              </a:rPr>
              <a:t>in</a:t>
            </a:r>
            <a:r>
              <a:rPr sz="1750" spc="-65" dirty="0">
                <a:latin typeface="Arial MT"/>
                <a:cs typeface="Arial MT"/>
              </a:rPr>
              <a:t> </a:t>
            </a:r>
            <a:r>
              <a:rPr sz="1750" dirty="0">
                <a:latin typeface="Arial MT"/>
                <a:cs typeface="Arial MT"/>
              </a:rPr>
              <a:t>comparing</a:t>
            </a:r>
            <a:r>
              <a:rPr sz="1750" spc="35" dirty="0">
                <a:latin typeface="Arial MT"/>
                <a:cs typeface="Arial MT"/>
              </a:rPr>
              <a:t> </a:t>
            </a:r>
            <a:r>
              <a:rPr sz="1750" dirty="0">
                <a:latin typeface="Arial MT"/>
                <a:cs typeface="Arial MT"/>
              </a:rPr>
              <a:t>their</a:t>
            </a:r>
            <a:r>
              <a:rPr sz="1750" spc="25" dirty="0">
                <a:latin typeface="Arial MT"/>
                <a:cs typeface="Arial MT"/>
              </a:rPr>
              <a:t> </a:t>
            </a:r>
            <a:r>
              <a:rPr sz="1750" dirty="0">
                <a:latin typeface="Arial MT"/>
                <a:cs typeface="Arial MT"/>
              </a:rPr>
              <a:t>performance</a:t>
            </a:r>
            <a:r>
              <a:rPr sz="1750" spc="150" dirty="0">
                <a:latin typeface="Arial MT"/>
                <a:cs typeface="Arial MT"/>
              </a:rPr>
              <a:t> </a:t>
            </a:r>
            <a:r>
              <a:rPr sz="1750" spc="-10" dirty="0">
                <a:latin typeface="Arial MT"/>
                <a:cs typeface="Arial MT"/>
              </a:rPr>
              <a:t>and</a:t>
            </a:r>
            <a:r>
              <a:rPr sz="1750" spc="-15" dirty="0">
                <a:latin typeface="Arial MT"/>
                <a:cs typeface="Arial MT"/>
              </a:rPr>
              <a:t> </a:t>
            </a:r>
            <a:r>
              <a:rPr sz="1750" dirty="0">
                <a:latin typeface="Arial MT"/>
                <a:cs typeface="Arial MT"/>
              </a:rPr>
              <a:t>selecting</a:t>
            </a:r>
            <a:r>
              <a:rPr sz="1750" spc="-40" dirty="0">
                <a:latin typeface="Arial MT"/>
                <a:cs typeface="Arial MT"/>
              </a:rPr>
              <a:t> </a:t>
            </a:r>
            <a:r>
              <a:rPr sz="1750" dirty="0">
                <a:latin typeface="Arial MT"/>
                <a:cs typeface="Arial MT"/>
              </a:rPr>
              <a:t>the</a:t>
            </a:r>
            <a:r>
              <a:rPr sz="1750" spc="-45" dirty="0">
                <a:latin typeface="Arial MT"/>
                <a:cs typeface="Arial MT"/>
              </a:rPr>
              <a:t> </a:t>
            </a:r>
            <a:r>
              <a:rPr sz="1750" dirty="0">
                <a:latin typeface="Arial MT"/>
                <a:cs typeface="Arial MT"/>
              </a:rPr>
              <a:t>most</a:t>
            </a:r>
            <a:r>
              <a:rPr sz="1750" spc="-15" dirty="0">
                <a:latin typeface="Arial MT"/>
                <a:cs typeface="Arial MT"/>
              </a:rPr>
              <a:t> </a:t>
            </a:r>
            <a:r>
              <a:rPr sz="1750" dirty="0">
                <a:latin typeface="Arial MT"/>
                <a:cs typeface="Arial MT"/>
              </a:rPr>
              <a:t>accurate</a:t>
            </a:r>
            <a:r>
              <a:rPr sz="1750" spc="110" dirty="0">
                <a:latin typeface="Arial MT"/>
                <a:cs typeface="Arial MT"/>
              </a:rPr>
              <a:t> </a:t>
            </a:r>
            <a:r>
              <a:rPr sz="1750" spc="-10" dirty="0">
                <a:latin typeface="Arial MT"/>
                <a:cs typeface="Arial MT"/>
              </a:rPr>
              <a:t>and</a:t>
            </a:r>
            <a:r>
              <a:rPr sz="1750" spc="-20" dirty="0">
                <a:latin typeface="Arial MT"/>
                <a:cs typeface="Arial MT"/>
              </a:rPr>
              <a:t> </a:t>
            </a:r>
            <a:r>
              <a:rPr sz="1750" dirty="0">
                <a:latin typeface="Arial MT"/>
                <a:cs typeface="Arial MT"/>
              </a:rPr>
              <a:t>efficient</a:t>
            </a:r>
            <a:r>
              <a:rPr sz="1750" spc="105" dirty="0">
                <a:latin typeface="Arial MT"/>
                <a:cs typeface="Arial MT"/>
              </a:rPr>
              <a:t> </a:t>
            </a:r>
            <a:r>
              <a:rPr sz="1750" dirty="0">
                <a:latin typeface="Arial MT"/>
                <a:cs typeface="Arial MT"/>
              </a:rPr>
              <a:t>model</a:t>
            </a:r>
            <a:r>
              <a:rPr sz="1750" spc="25" dirty="0">
                <a:latin typeface="Arial MT"/>
                <a:cs typeface="Arial MT"/>
              </a:rPr>
              <a:t> </a:t>
            </a:r>
            <a:r>
              <a:rPr sz="1750" spc="-25" dirty="0">
                <a:latin typeface="Arial MT"/>
                <a:cs typeface="Arial MT"/>
              </a:rPr>
              <a:t>for </a:t>
            </a:r>
            <a:r>
              <a:rPr sz="1750" dirty="0">
                <a:latin typeface="Arial MT"/>
                <a:cs typeface="Arial MT"/>
              </a:rPr>
              <a:t>spam</a:t>
            </a:r>
            <a:r>
              <a:rPr sz="1750" spc="-40" dirty="0">
                <a:latin typeface="Arial MT"/>
                <a:cs typeface="Arial MT"/>
              </a:rPr>
              <a:t> </a:t>
            </a:r>
            <a:r>
              <a:rPr sz="1750" dirty="0">
                <a:latin typeface="Arial MT"/>
                <a:cs typeface="Arial MT"/>
              </a:rPr>
              <a:t>detection.</a:t>
            </a:r>
            <a:r>
              <a:rPr sz="1750" spc="-125" dirty="0">
                <a:latin typeface="Arial MT"/>
                <a:cs typeface="Arial MT"/>
              </a:rPr>
              <a:t> </a:t>
            </a:r>
            <a:r>
              <a:rPr sz="1750" spc="-35" dirty="0">
                <a:latin typeface="Arial MT"/>
                <a:cs typeface="Arial MT"/>
              </a:rPr>
              <a:t>These </a:t>
            </a:r>
            <a:r>
              <a:rPr sz="1750" dirty="0">
                <a:latin typeface="Arial MT"/>
                <a:cs typeface="Arial MT"/>
              </a:rPr>
              <a:t>algorithms</a:t>
            </a:r>
            <a:r>
              <a:rPr sz="1750" spc="-5" dirty="0">
                <a:latin typeface="Arial MT"/>
                <a:cs typeface="Arial MT"/>
              </a:rPr>
              <a:t> </a:t>
            </a:r>
            <a:r>
              <a:rPr sz="1750" spc="-20" dirty="0">
                <a:latin typeface="Arial MT"/>
                <a:cs typeface="Arial MT"/>
              </a:rPr>
              <a:t>are</a:t>
            </a:r>
            <a:r>
              <a:rPr sz="1750" spc="-45" dirty="0">
                <a:latin typeface="Arial MT"/>
                <a:cs typeface="Arial MT"/>
              </a:rPr>
              <a:t> </a:t>
            </a:r>
            <a:r>
              <a:rPr sz="1750" dirty="0">
                <a:latin typeface="Arial MT"/>
                <a:cs typeface="Arial MT"/>
              </a:rPr>
              <a:t>trained</a:t>
            </a:r>
            <a:r>
              <a:rPr sz="1750" spc="-50" dirty="0">
                <a:latin typeface="Arial MT"/>
                <a:cs typeface="Arial MT"/>
              </a:rPr>
              <a:t> </a:t>
            </a:r>
            <a:r>
              <a:rPr sz="1750" dirty="0">
                <a:latin typeface="Arial MT"/>
                <a:cs typeface="Arial MT"/>
              </a:rPr>
              <a:t>on</a:t>
            </a:r>
            <a:r>
              <a:rPr sz="1750" spc="-95" dirty="0">
                <a:latin typeface="Arial MT"/>
                <a:cs typeface="Arial MT"/>
              </a:rPr>
              <a:t> </a:t>
            </a:r>
            <a:r>
              <a:rPr sz="1750" dirty="0">
                <a:latin typeface="Arial MT"/>
                <a:cs typeface="Arial MT"/>
              </a:rPr>
              <a:t>preprocessed</a:t>
            </a:r>
            <a:r>
              <a:rPr sz="1750" spc="65" dirty="0">
                <a:latin typeface="Arial MT"/>
                <a:cs typeface="Arial MT"/>
              </a:rPr>
              <a:t> </a:t>
            </a:r>
            <a:r>
              <a:rPr sz="1750" dirty="0">
                <a:latin typeface="Arial MT"/>
                <a:cs typeface="Arial MT"/>
              </a:rPr>
              <a:t>text</a:t>
            </a:r>
            <a:r>
              <a:rPr sz="1750" spc="-10" dirty="0">
                <a:latin typeface="Arial MT"/>
                <a:cs typeface="Arial MT"/>
              </a:rPr>
              <a:t> </a:t>
            </a:r>
            <a:r>
              <a:rPr sz="1750" dirty="0">
                <a:latin typeface="Arial MT"/>
                <a:cs typeface="Arial MT"/>
              </a:rPr>
              <a:t>data</a:t>
            </a:r>
            <a:r>
              <a:rPr sz="1750" spc="20" dirty="0">
                <a:latin typeface="Arial MT"/>
                <a:cs typeface="Arial MT"/>
              </a:rPr>
              <a:t> </a:t>
            </a:r>
            <a:r>
              <a:rPr sz="1750" spc="-10" dirty="0">
                <a:latin typeface="Arial MT"/>
                <a:cs typeface="Arial MT"/>
              </a:rPr>
              <a:t>and</a:t>
            </a:r>
            <a:r>
              <a:rPr sz="1750" spc="-65" dirty="0">
                <a:latin typeface="Arial MT"/>
                <a:cs typeface="Arial MT"/>
              </a:rPr>
              <a:t> </a:t>
            </a:r>
            <a:r>
              <a:rPr sz="1750" spc="-20" dirty="0">
                <a:latin typeface="Arial MT"/>
                <a:cs typeface="Arial MT"/>
              </a:rPr>
              <a:t>evaluated</a:t>
            </a:r>
            <a:r>
              <a:rPr sz="1750" spc="20" dirty="0">
                <a:latin typeface="Arial MT"/>
                <a:cs typeface="Arial MT"/>
              </a:rPr>
              <a:t> </a:t>
            </a:r>
            <a:r>
              <a:rPr sz="1750" dirty="0">
                <a:latin typeface="Arial MT"/>
                <a:cs typeface="Arial MT"/>
              </a:rPr>
              <a:t>using</a:t>
            </a:r>
            <a:r>
              <a:rPr sz="1750" spc="-85" dirty="0">
                <a:latin typeface="Arial MT"/>
                <a:cs typeface="Arial MT"/>
              </a:rPr>
              <a:t> </a:t>
            </a:r>
            <a:r>
              <a:rPr sz="1750" dirty="0">
                <a:latin typeface="Arial MT"/>
                <a:cs typeface="Arial MT"/>
              </a:rPr>
              <a:t>standard</a:t>
            </a:r>
            <a:r>
              <a:rPr sz="1750" spc="45" dirty="0">
                <a:latin typeface="Arial MT"/>
                <a:cs typeface="Arial MT"/>
              </a:rPr>
              <a:t> </a:t>
            </a:r>
            <a:r>
              <a:rPr sz="1750" spc="-10" dirty="0">
                <a:latin typeface="Arial MT"/>
                <a:cs typeface="Arial MT"/>
              </a:rPr>
              <a:t>performance metrics.</a:t>
            </a:r>
            <a:endParaRPr sz="17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20"/>
              </a:spcBef>
            </a:pPr>
            <a:endParaRPr sz="1750">
              <a:latin typeface="Arial MT"/>
              <a:cs typeface="Arial MT"/>
            </a:endParaRPr>
          </a:p>
          <a:p>
            <a:pPr marL="19050">
              <a:lnSpc>
                <a:spcPct val="100000"/>
              </a:lnSpc>
            </a:pPr>
            <a:r>
              <a:rPr sz="1950" spc="-40" dirty="0">
                <a:latin typeface="Calibri"/>
                <a:cs typeface="Calibri"/>
              </a:rPr>
              <a:t>The following</a:t>
            </a:r>
            <a:r>
              <a:rPr sz="1950" spc="20" dirty="0">
                <a:latin typeface="Calibri"/>
                <a:cs typeface="Calibri"/>
              </a:rPr>
              <a:t> </a:t>
            </a:r>
            <a:r>
              <a:rPr sz="1950" spc="-10" dirty="0">
                <a:latin typeface="Calibri"/>
                <a:cs typeface="Calibri"/>
              </a:rPr>
              <a:t>are</a:t>
            </a:r>
            <a:r>
              <a:rPr sz="1950" spc="-80" dirty="0">
                <a:latin typeface="Calibri"/>
                <a:cs typeface="Calibri"/>
              </a:rPr>
              <a:t> </a:t>
            </a:r>
            <a:r>
              <a:rPr sz="1950" spc="-35" dirty="0">
                <a:latin typeface="Calibri"/>
                <a:cs typeface="Calibri"/>
              </a:rPr>
              <a:t>the</a:t>
            </a:r>
            <a:r>
              <a:rPr sz="1950" spc="-45" dirty="0">
                <a:latin typeface="Calibri"/>
                <a:cs typeface="Calibri"/>
              </a:rPr>
              <a:t> </a:t>
            </a:r>
            <a:r>
              <a:rPr sz="1950" spc="-35" dirty="0">
                <a:latin typeface="Calibri"/>
                <a:cs typeface="Calibri"/>
              </a:rPr>
              <a:t>machine</a:t>
            </a:r>
            <a:r>
              <a:rPr sz="1950" spc="-5" dirty="0">
                <a:latin typeface="Calibri"/>
                <a:cs typeface="Calibri"/>
              </a:rPr>
              <a:t> </a:t>
            </a:r>
            <a:r>
              <a:rPr sz="1950" spc="-30" dirty="0">
                <a:latin typeface="Calibri"/>
                <a:cs typeface="Calibri"/>
              </a:rPr>
              <a:t>learning</a:t>
            </a:r>
            <a:r>
              <a:rPr sz="1950" spc="-5" dirty="0">
                <a:latin typeface="Calibri"/>
                <a:cs typeface="Calibri"/>
              </a:rPr>
              <a:t> </a:t>
            </a:r>
            <a:r>
              <a:rPr sz="1950" spc="-25" dirty="0">
                <a:latin typeface="Calibri"/>
                <a:cs typeface="Calibri"/>
              </a:rPr>
              <a:t>algorithms</a:t>
            </a:r>
            <a:r>
              <a:rPr sz="1950" spc="10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used</a:t>
            </a:r>
            <a:r>
              <a:rPr sz="1950" spc="-7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in</a:t>
            </a:r>
            <a:r>
              <a:rPr sz="1950" spc="-100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this</a:t>
            </a:r>
            <a:r>
              <a:rPr sz="1950" spc="-75" dirty="0">
                <a:latin typeface="Calibri"/>
                <a:cs typeface="Calibri"/>
              </a:rPr>
              <a:t> </a:t>
            </a:r>
            <a:r>
              <a:rPr sz="1950" spc="-10" dirty="0">
                <a:latin typeface="Calibri"/>
                <a:cs typeface="Calibri"/>
              </a:rPr>
              <a:t>project:</a:t>
            </a:r>
            <a:endParaRPr sz="1950">
              <a:latin typeface="Calibri"/>
              <a:cs typeface="Calibri"/>
            </a:endParaRPr>
          </a:p>
          <a:p>
            <a:pPr marL="109855">
              <a:lnSpc>
                <a:spcPts val="2320"/>
              </a:lnSpc>
              <a:spcBef>
                <a:spcPts val="10"/>
              </a:spcBef>
            </a:pPr>
            <a:r>
              <a:rPr sz="1950" spc="-335" dirty="0">
                <a:latin typeface="Calibri"/>
                <a:cs typeface="Calibri"/>
              </a:rPr>
              <a:t>1.</a:t>
            </a:r>
            <a:r>
              <a:rPr sz="1950" spc="40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Logistic</a:t>
            </a:r>
            <a:r>
              <a:rPr sz="1950" spc="65" dirty="0">
                <a:latin typeface="Calibri"/>
                <a:cs typeface="Calibri"/>
              </a:rPr>
              <a:t> </a:t>
            </a:r>
            <a:r>
              <a:rPr sz="1950" spc="-10" dirty="0">
                <a:latin typeface="Calibri"/>
                <a:cs typeface="Calibri"/>
              </a:rPr>
              <a:t>Regression</a:t>
            </a:r>
            <a:endParaRPr sz="1950">
              <a:latin typeface="Calibri"/>
              <a:cs typeface="Calibri"/>
            </a:endParaRPr>
          </a:p>
          <a:p>
            <a:pPr marL="12700" marR="5786120" indent="3810">
              <a:lnSpc>
                <a:spcPts val="2300"/>
              </a:lnSpc>
              <a:spcBef>
                <a:spcPts val="95"/>
              </a:spcBef>
              <a:tabLst>
                <a:tab pos="1748155" algn="l"/>
              </a:tabLst>
            </a:pPr>
            <a:r>
              <a:rPr sz="1950" dirty="0">
                <a:latin typeface="Calibri"/>
                <a:cs typeface="Calibri"/>
              </a:rPr>
              <a:t>A</a:t>
            </a:r>
            <a:r>
              <a:rPr sz="1950" spc="-50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supervised</a:t>
            </a:r>
            <a:r>
              <a:rPr sz="1950" spc="-30" dirty="0">
                <a:latin typeface="Calibri"/>
                <a:cs typeface="Calibri"/>
              </a:rPr>
              <a:t> learning</a:t>
            </a:r>
            <a:r>
              <a:rPr sz="1950" dirty="0">
                <a:latin typeface="Calibri"/>
                <a:cs typeface="Calibri"/>
              </a:rPr>
              <a:t> </a:t>
            </a:r>
            <a:r>
              <a:rPr sz="1950" spc="-35" dirty="0">
                <a:latin typeface="Calibri"/>
                <a:cs typeface="Calibri"/>
              </a:rPr>
              <a:t>algorithm</a:t>
            </a:r>
            <a:r>
              <a:rPr sz="1950" spc="-2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used</a:t>
            </a:r>
            <a:r>
              <a:rPr sz="1950" spc="-4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for</a:t>
            </a:r>
            <a:r>
              <a:rPr sz="1950" spc="-50" dirty="0">
                <a:latin typeface="Calibri"/>
                <a:cs typeface="Calibri"/>
              </a:rPr>
              <a:t> </a:t>
            </a:r>
            <a:r>
              <a:rPr sz="1950" spc="-20" dirty="0">
                <a:latin typeface="Calibri"/>
                <a:cs typeface="Calibri"/>
              </a:rPr>
              <a:t>binary</a:t>
            </a:r>
            <a:r>
              <a:rPr sz="1950" spc="35" dirty="0">
                <a:latin typeface="Calibri"/>
                <a:cs typeface="Calibri"/>
              </a:rPr>
              <a:t> </a:t>
            </a:r>
            <a:r>
              <a:rPr sz="1950" spc="-10" dirty="0">
                <a:latin typeface="Calibri"/>
                <a:cs typeface="Calibri"/>
              </a:rPr>
              <a:t>classification </a:t>
            </a:r>
            <a:r>
              <a:rPr sz="1950" dirty="0">
                <a:latin typeface="Calibri"/>
                <a:cs typeface="Calibri"/>
              </a:rPr>
              <a:t>Predicts</a:t>
            </a:r>
            <a:r>
              <a:rPr sz="1950" spc="-30" dirty="0">
                <a:latin typeface="Calibri"/>
                <a:cs typeface="Calibri"/>
              </a:rPr>
              <a:t> </a:t>
            </a:r>
            <a:r>
              <a:rPr sz="1950" spc="-10" dirty="0">
                <a:latin typeface="Calibri"/>
                <a:cs typeface="Calibri"/>
              </a:rPr>
              <a:t>proba</a:t>
            </a:r>
            <a:r>
              <a:rPr sz="1950" dirty="0">
                <a:latin typeface="Calibri"/>
                <a:cs typeface="Calibri"/>
              </a:rPr>
              <a:t>	ty</a:t>
            </a:r>
            <a:r>
              <a:rPr sz="1950" spc="-40" dirty="0">
                <a:latin typeface="Calibri"/>
                <a:cs typeface="Calibri"/>
              </a:rPr>
              <a:t> between</a:t>
            </a:r>
            <a:r>
              <a:rPr sz="1950" spc="114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0</a:t>
            </a:r>
            <a:r>
              <a:rPr sz="1950" spc="-5" dirty="0">
                <a:latin typeface="Calibri"/>
                <a:cs typeface="Calibri"/>
              </a:rPr>
              <a:t> </a:t>
            </a:r>
            <a:r>
              <a:rPr sz="1950" spc="-60" dirty="0">
                <a:latin typeface="Calibri"/>
                <a:cs typeface="Calibri"/>
              </a:rPr>
              <a:t>and</a:t>
            </a:r>
            <a:r>
              <a:rPr sz="1950" spc="-70" dirty="0">
                <a:latin typeface="Calibri"/>
                <a:cs typeface="Calibri"/>
              </a:rPr>
              <a:t> </a:t>
            </a:r>
            <a:r>
              <a:rPr sz="1950" spc="-595" dirty="0">
                <a:latin typeface="Calibri"/>
                <a:cs typeface="Calibri"/>
              </a:rPr>
              <a:t>1</a:t>
            </a:r>
            <a:r>
              <a:rPr sz="1950" spc="14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using</a:t>
            </a:r>
            <a:r>
              <a:rPr sz="1950" spc="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a</a:t>
            </a:r>
            <a:r>
              <a:rPr sz="1950" spc="-70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sigmoid</a:t>
            </a:r>
            <a:r>
              <a:rPr sz="1950" spc="15" dirty="0">
                <a:latin typeface="Calibri"/>
                <a:cs typeface="Calibri"/>
              </a:rPr>
              <a:t> </a:t>
            </a:r>
            <a:r>
              <a:rPr sz="1950" spc="-10" dirty="0">
                <a:latin typeface="Calibri"/>
                <a:cs typeface="Calibri"/>
              </a:rPr>
              <a:t>function</a:t>
            </a:r>
            <a:endParaRPr sz="1950">
              <a:latin typeface="Calibri"/>
              <a:cs typeface="Calibri"/>
            </a:endParaRPr>
          </a:p>
          <a:p>
            <a:pPr marL="15240">
              <a:lnSpc>
                <a:spcPts val="2285"/>
              </a:lnSpc>
            </a:pPr>
            <a:r>
              <a:rPr sz="1950" dirty="0">
                <a:latin typeface="Calibri"/>
                <a:cs typeface="Calibri"/>
              </a:rPr>
              <a:t>Classifies </a:t>
            </a:r>
            <a:r>
              <a:rPr sz="1950" spc="-25" dirty="0">
                <a:latin typeface="Calibri"/>
                <a:cs typeface="Calibri"/>
              </a:rPr>
              <a:t>data</a:t>
            </a:r>
            <a:r>
              <a:rPr sz="1950" spc="10" dirty="0">
                <a:latin typeface="Calibri"/>
                <a:cs typeface="Calibri"/>
              </a:rPr>
              <a:t> </a:t>
            </a:r>
            <a:r>
              <a:rPr sz="1950" spc="-20" dirty="0">
                <a:latin typeface="Calibri"/>
                <a:cs typeface="Calibri"/>
              </a:rPr>
              <a:t>into</a:t>
            </a:r>
            <a:r>
              <a:rPr sz="1950" spc="45" dirty="0">
                <a:latin typeface="Calibri"/>
                <a:cs typeface="Calibri"/>
              </a:rPr>
              <a:t> </a:t>
            </a:r>
            <a:r>
              <a:rPr sz="1950" spc="-10" dirty="0">
                <a:latin typeface="Calibri"/>
                <a:cs typeface="Calibri"/>
              </a:rPr>
              <a:t>two</a:t>
            </a:r>
            <a:r>
              <a:rPr sz="1950" spc="3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classes</a:t>
            </a:r>
            <a:r>
              <a:rPr sz="1950" spc="-15" dirty="0">
                <a:latin typeface="Calibri"/>
                <a:cs typeface="Calibri"/>
              </a:rPr>
              <a:t> </a:t>
            </a:r>
            <a:r>
              <a:rPr sz="1950" spc="-135" dirty="0">
                <a:latin typeface="Calibri"/>
                <a:cs typeface="Calibri"/>
              </a:rPr>
              <a:t>(e.g.,</a:t>
            </a:r>
            <a:r>
              <a:rPr sz="1950" spc="10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spam</a:t>
            </a:r>
            <a:r>
              <a:rPr sz="1950" spc="65" dirty="0">
                <a:latin typeface="Calibri"/>
                <a:cs typeface="Calibri"/>
              </a:rPr>
              <a:t> </a:t>
            </a:r>
            <a:r>
              <a:rPr sz="1950" spc="-180" dirty="0">
                <a:latin typeface="Calibri"/>
                <a:cs typeface="Calibri"/>
              </a:rPr>
              <a:t>/</a:t>
            </a:r>
            <a:r>
              <a:rPr sz="1950" spc="-10" dirty="0">
                <a:latin typeface="Calibri"/>
                <a:cs typeface="Calibri"/>
              </a:rPr>
              <a:t> not</a:t>
            </a:r>
            <a:r>
              <a:rPr sz="1950" spc="-25" dirty="0">
                <a:latin typeface="Calibri"/>
                <a:cs typeface="Calibri"/>
              </a:rPr>
              <a:t> </a:t>
            </a:r>
            <a:r>
              <a:rPr sz="1950" spc="-10" dirty="0">
                <a:latin typeface="Calibri"/>
                <a:cs typeface="Calibri"/>
              </a:rPr>
              <a:t>spam)</a:t>
            </a:r>
            <a:endParaRPr sz="195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256381" y="6882119"/>
            <a:ext cx="2703195" cy="24682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9320"/>
              </a:lnSpc>
              <a:spcBef>
                <a:spcPts val="95"/>
              </a:spcBef>
            </a:pPr>
            <a:r>
              <a:rPr sz="9750" spc="-595" dirty="0">
                <a:latin typeface="Arial MT"/>
                <a:cs typeface="Arial MT"/>
              </a:rPr>
              <a:t>escri</a:t>
            </a:r>
            <a:endParaRPr sz="9750">
              <a:latin typeface="Arial MT"/>
              <a:cs typeface="Arial MT"/>
            </a:endParaRPr>
          </a:p>
          <a:p>
            <a:pPr marL="224154">
              <a:lnSpc>
                <a:spcPts val="9920"/>
              </a:lnSpc>
            </a:pPr>
            <a:r>
              <a:rPr sz="10250" spc="254" dirty="0">
                <a:latin typeface="Calibri"/>
                <a:cs typeface="Calibri"/>
              </a:rPr>
              <a:t>e</a:t>
            </a:r>
            <a:r>
              <a:rPr sz="10250" spc="-1305" dirty="0">
                <a:latin typeface="Calibri"/>
                <a:cs typeface="Calibri"/>
              </a:rPr>
              <a:t> </a:t>
            </a:r>
            <a:r>
              <a:rPr sz="10250" spc="-305" dirty="0">
                <a:latin typeface="Calibri"/>
                <a:cs typeface="Calibri"/>
              </a:rPr>
              <a:t>mo</a:t>
            </a:r>
            <a:endParaRPr sz="102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029917"/>
            <a:ext cx="4578096" cy="9257081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815840" y="3522443"/>
            <a:ext cx="1078991" cy="119446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667018" y="1161703"/>
            <a:ext cx="6844665" cy="2225675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67310">
              <a:lnSpc>
                <a:spcPct val="100000"/>
              </a:lnSpc>
              <a:spcBef>
                <a:spcPts val="350"/>
              </a:spcBef>
            </a:pPr>
            <a:r>
              <a:rPr sz="1850" spc="50" dirty="0">
                <a:latin typeface="Arial MT"/>
                <a:cs typeface="Arial MT"/>
              </a:rPr>
              <a:t>2.</a:t>
            </a:r>
            <a:r>
              <a:rPr sz="1850" spc="-235" dirty="0">
                <a:latin typeface="Arial MT"/>
                <a:cs typeface="Arial MT"/>
              </a:rPr>
              <a:t> </a:t>
            </a:r>
            <a:r>
              <a:rPr sz="1850" spc="75" dirty="0">
                <a:latin typeface="Arial MT"/>
                <a:cs typeface="Arial MT"/>
              </a:rPr>
              <a:t>Support</a:t>
            </a:r>
            <a:r>
              <a:rPr sz="1850" spc="130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Vector</a:t>
            </a:r>
            <a:r>
              <a:rPr sz="1850" spc="65" dirty="0">
                <a:latin typeface="Arial MT"/>
                <a:cs typeface="Arial MT"/>
              </a:rPr>
              <a:t> </a:t>
            </a:r>
            <a:r>
              <a:rPr sz="1850" spc="55" dirty="0">
                <a:latin typeface="Arial MT"/>
                <a:cs typeface="Arial MT"/>
              </a:rPr>
              <a:t>Machine</a:t>
            </a:r>
            <a:r>
              <a:rPr sz="1850" spc="50" dirty="0">
                <a:latin typeface="Arial MT"/>
                <a:cs typeface="Arial MT"/>
              </a:rPr>
              <a:t> </a:t>
            </a:r>
            <a:r>
              <a:rPr sz="1850" spc="-10" dirty="0">
                <a:latin typeface="Arial MT"/>
                <a:cs typeface="Arial MT"/>
              </a:rPr>
              <a:t>(SVM)</a:t>
            </a:r>
            <a:endParaRPr sz="1850">
              <a:latin typeface="Arial MT"/>
              <a:cs typeface="Arial MT"/>
            </a:endParaRPr>
          </a:p>
          <a:p>
            <a:pPr marL="19685">
              <a:lnSpc>
                <a:spcPct val="100000"/>
              </a:lnSpc>
              <a:spcBef>
                <a:spcPts val="250"/>
              </a:spcBef>
            </a:pPr>
            <a:r>
              <a:rPr sz="1850" spc="-80" dirty="0">
                <a:latin typeface="Arial MT"/>
                <a:cs typeface="Arial MT"/>
              </a:rPr>
              <a:t>A</a:t>
            </a:r>
            <a:r>
              <a:rPr sz="1850" spc="-55" dirty="0">
                <a:latin typeface="Arial MT"/>
                <a:cs typeface="Arial MT"/>
              </a:rPr>
              <a:t> </a:t>
            </a:r>
            <a:r>
              <a:rPr sz="1850" spc="65" dirty="0">
                <a:latin typeface="Arial MT"/>
                <a:cs typeface="Arial MT"/>
              </a:rPr>
              <a:t>supervised</a:t>
            </a:r>
            <a:r>
              <a:rPr sz="1850" dirty="0">
                <a:latin typeface="Arial MT"/>
                <a:cs typeface="Arial MT"/>
              </a:rPr>
              <a:t> </a:t>
            </a:r>
            <a:r>
              <a:rPr sz="1850" spc="65" dirty="0">
                <a:latin typeface="Arial MT"/>
                <a:cs typeface="Arial MT"/>
              </a:rPr>
              <a:t>learning</a:t>
            </a:r>
            <a:r>
              <a:rPr sz="1850" spc="-85" dirty="0">
                <a:latin typeface="Arial MT"/>
                <a:cs typeface="Arial MT"/>
              </a:rPr>
              <a:t> </a:t>
            </a:r>
            <a:r>
              <a:rPr sz="1850" spc="80" dirty="0">
                <a:latin typeface="Arial MT"/>
                <a:cs typeface="Arial MT"/>
              </a:rPr>
              <a:t>algorithm</a:t>
            </a:r>
            <a:r>
              <a:rPr sz="1850" spc="-35" dirty="0">
                <a:latin typeface="Arial MT"/>
                <a:cs typeface="Arial MT"/>
              </a:rPr>
              <a:t> </a:t>
            </a:r>
            <a:r>
              <a:rPr sz="1850" spc="65" dirty="0">
                <a:latin typeface="Arial MT"/>
                <a:cs typeface="Arial MT"/>
              </a:rPr>
              <a:t>used</a:t>
            </a:r>
            <a:r>
              <a:rPr sz="1850" spc="-85" dirty="0">
                <a:latin typeface="Arial MT"/>
                <a:cs typeface="Arial MT"/>
              </a:rPr>
              <a:t> </a:t>
            </a:r>
            <a:r>
              <a:rPr sz="1850" spc="50" dirty="0">
                <a:latin typeface="Arial MT"/>
                <a:cs typeface="Arial MT"/>
              </a:rPr>
              <a:t>for</a:t>
            </a:r>
            <a:r>
              <a:rPr sz="1850" spc="160" dirty="0">
                <a:latin typeface="Arial MT"/>
                <a:cs typeface="Arial MT"/>
              </a:rPr>
              <a:t> </a:t>
            </a:r>
            <a:r>
              <a:rPr sz="1850" spc="70" dirty="0">
                <a:latin typeface="Arial MT"/>
                <a:cs typeface="Arial MT"/>
              </a:rPr>
              <a:t>classification</a:t>
            </a:r>
            <a:endParaRPr sz="1850">
              <a:latin typeface="Arial MT"/>
              <a:cs typeface="Arial MT"/>
            </a:endParaRPr>
          </a:p>
          <a:p>
            <a:pPr marL="14604" marR="5080" indent="-2540">
              <a:lnSpc>
                <a:spcPts val="2500"/>
              </a:lnSpc>
              <a:spcBef>
                <a:spcPts val="100"/>
              </a:spcBef>
            </a:pPr>
            <a:r>
              <a:rPr sz="1850" dirty="0">
                <a:latin typeface="Arial MT"/>
                <a:cs typeface="Arial MT"/>
              </a:rPr>
              <a:t>Finds</a:t>
            </a:r>
            <a:r>
              <a:rPr sz="1850" spc="30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the</a:t>
            </a:r>
            <a:r>
              <a:rPr sz="1850" spc="180" dirty="0">
                <a:latin typeface="Arial MT"/>
                <a:cs typeface="Arial MT"/>
              </a:rPr>
              <a:t> </a:t>
            </a:r>
            <a:r>
              <a:rPr sz="1850" spc="80" dirty="0">
                <a:latin typeface="Arial MT"/>
                <a:cs typeface="Arial MT"/>
              </a:rPr>
              <a:t>optimal</a:t>
            </a:r>
            <a:r>
              <a:rPr sz="1850" spc="65" dirty="0">
                <a:latin typeface="Arial MT"/>
                <a:cs typeface="Arial MT"/>
              </a:rPr>
              <a:t> </a:t>
            </a:r>
            <a:r>
              <a:rPr sz="1850" spc="50" dirty="0">
                <a:latin typeface="Arial MT"/>
                <a:cs typeface="Arial MT"/>
              </a:rPr>
              <a:t>hgperplane</a:t>
            </a:r>
            <a:r>
              <a:rPr sz="1850" spc="145" dirty="0">
                <a:latin typeface="Arial MT"/>
                <a:cs typeface="Arial MT"/>
              </a:rPr>
              <a:t> </a:t>
            </a:r>
            <a:r>
              <a:rPr sz="1850" spc="110" dirty="0">
                <a:latin typeface="Arial MT"/>
                <a:cs typeface="Arial MT"/>
              </a:rPr>
              <a:t>that</a:t>
            </a:r>
            <a:r>
              <a:rPr sz="1850" spc="95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separates</a:t>
            </a:r>
            <a:r>
              <a:rPr sz="1850" spc="180" dirty="0">
                <a:latin typeface="Arial MT"/>
                <a:cs typeface="Arial MT"/>
              </a:rPr>
              <a:t> </a:t>
            </a:r>
            <a:r>
              <a:rPr sz="1850" spc="65" dirty="0">
                <a:latin typeface="Arial MT"/>
                <a:cs typeface="Arial MT"/>
              </a:rPr>
              <a:t>data</a:t>
            </a:r>
            <a:r>
              <a:rPr sz="1850" spc="-10" dirty="0">
                <a:latin typeface="Arial MT"/>
                <a:cs typeface="Arial MT"/>
              </a:rPr>
              <a:t> </a:t>
            </a:r>
            <a:r>
              <a:rPr sz="1850" spc="105" dirty="0">
                <a:latin typeface="Arial MT"/>
                <a:cs typeface="Arial MT"/>
              </a:rPr>
              <a:t>into</a:t>
            </a:r>
            <a:r>
              <a:rPr sz="1850" spc="-25" dirty="0">
                <a:latin typeface="Arial MT"/>
                <a:cs typeface="Arial MT"/>
              </a:rPr>
              <a:t> </a:t>
            </a:r>
            <a:r>
              <a:rPr sz="1850" spc="-10" dirty="0">
                <a:latin typeface="Arial MT"/>
                <a:cs typeface="Arial MT"/>
              </a:rPr>
              <a:t>classes </a:t>
            </a:r>
            <a:r>
              <a:rPr sz="1850" dirty="0">
                <a:latin typeface="Arial MT"/>
                <a:cs typeface="Arial MT"/>
              </a:rPr>
              <a:t>Key</a:t>
            </a:r>
            <a:r>
              <a:rPr sz="1850" spc="-20" dirty="0">
                <a:latin typeface="Arial MT"/>
                <a:cs typeface="Arial MT"/>
              </a:rPr>
              <a:t> </a:t>
            </a:r>
            <a:r>
              <a:rPr sz="1850" spc="40" dirty="0">
                <a:latin typeface="Arial MT"/>
                <a:cs typeface="Arial MT"/>
              </a:rPr>
              <a:t>Points:</a:t>
            </a:r>
            <a:endParaRPr sz="1850">
              <a:latin typeface="Arial MT"/>
              <a:cs typeface="Arial MT"/>
            </a:endParaRPr>
          </a:p>
          <a:p>
            <a:pPr marL="16510">
              <a:lnSpc>
                <a:spcPct val="100000"/>
              </a:lnSpc>
              <a:spcBef>
                <a:spcPts val="95"/>
              </a:spcBef>
            </a:pPr>
            <a:r>
              <a:rPr sz="1850" spc="50" dirty="0">
                <a:latin typeface="Arial MT"/>
                <a:cs typeface="Arial MT"/>
              </a:rPr>
              <a:t>Works </a:t>
            </a:r>
            <a:r>
              <a:rPr sz="1850" spc="75" dirty="0">
                <a:latin typeface="Arial MT"/>
                <a:cs typeface="Arial MT"/>
              </a:rPr>
              <a:t>well</a:t>
            </a:r>
            <a:r>
              <a:rPr sz="1850" spc="10" dirty="0">
                <a:latin typeface="Arial MT"/>
                <a:cs typeface="Arial MT"/>
              </a:rPr>
              <a:t> </a:t>
            </a:r>
            <a:r>
              <a:rPr sz="1850" spc="114" dirty="0">
                <a:latin typeface="Arial MT"/>
                <a:cs typeface="Arial MT"/>
              </a:rPr>
              <a:t>with</a:t>
            </a:r>
            <a:r>
              <a:rPr sz="1850" spc="-50" dirty="0">
                <a:latin typeface="Arial MT"/>
                <a:cs typeface="Arial MT"/>
              </a:rPr>
              <a:t> </a:t>
            </a:r>
            <a:r>
              <a:rPr sz="1850" spc="65" dirty="0">
                <a:latin typeface="Arial MT"/>
                <a:cs typeface="Arial MT"/>
              </a:rPr>
              <a:t>high-</a:t>
            </a:r>
            <a:r>
              <a:rPr sz="1850" spc="75" dirty="0">
                <a:latin typeface="Arial MT"/>
                <a:cs typeface="Arial MT"/>
              </a:rPr>
              <a:t>dimensional</a:t>
            </a:r>
            <a:r>
              <a:rPr sz="1850" spc="-110" dirty="0">
                <a:latin typeface="Arial MT"/>
                <a:cs typeface="Arial MT"/>
              </a:rPr>
              <a:t> </a:t>
            </a:r>
            <a:r>
              <a:rPr sz="1850" spc="65" dirty="0">
                <a:latin typeface="Arial MT"/>
                <a:cs typeface="Arial MT"/>
              </a:rPr>
              <a:t>data</a:t>
            </a:r>
            <a:r>
              <a:rPr sz="1850" spc="-40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(like</a:t>
            </a:r>
            <a:r>
              <a:rPr sz="1850" spc="-55" dirty="0">
                <a:latin typeface="Arial MT"/>
                <a:cs typeface="Arial MT"/>
              </a:rPr>
              <a:t> </a:t>
            </a:r>
            <a:r>
              <a:rPr sz="1850" spc="50" dirty="0">
                <a:latin typeface="Arial MT"/>
                <a:cs typeface="Arial MT"/>
              </a:rPr>
              <a:t>text)</a:t>
            </a:r>
            <a:endParaRPr sz="1850">
              <a:latin typeface="Arial MT"/>
              <a:cs typeface="Arial MT"/>
            </a:endParaRPr>
          </a:p>
          <a:p>
            <a:pPr marL="13335" marR="1753235" indent="-635">
              <a:lnSpc>
                <a:spcPct val="111300"/>
              </a:lnSpc>
              <a:spcBef>
                <a:spcPts val="25"/>
              </a:spcBef>
            </a:pPr>
            <a:r>
              <a:rPr sz="1850" dirty="0">
                <a:latin typeface="Arial MT"/>
                <a:cs typeface="Arial MT"/>
              </a:rPr>
              <a:t>Uses</a:t>
            </a:r>
            <a:r>
              <a:rPr sz="1850" spc="5" dirty="0">
                <a:latin typeface="Arial MT"/>
                <a:cs typeface="Arial MT"/>
              </a:rPr>
              <a:t> </a:t>
            </a:r>
            <a:r>
              <a:rPr sz="1850" spc="50" dirty="0">
                <a:latin typeface="Arial MT"/>
                <a:cs typeface="Arial MT"/>
              </a:rPr>
              <a:t>kernel</a:t>
            </a:r>
            <a:r>
              <a:rPr sz="1850" spc="65" dirty="0">
                <a:latin typeface="Arial MT"/>
                <a:cs typeface="Arial MT"/>
              </a:rPr>
              <a:t> </a:t>
            </a:r>
            <a:r>
              <a:rPr sz="1850" spc="90" dirty="0">
                <a:latin typeface="Arial MT"/>
                <a:cs typeface="Arial MT"/>
              </a:rPr>
              <a:t>functions</a:t>
            </a:r>
            <a:r>
              <a:rPr sz="1850" spc="10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(linear,</a:t>
            </a:r>
            <a:r>
              <a:rPr sz="1850" spc="-110" dirty="0">
                <a:latin typeface="Arial MT"/>
                <a:cs typeface="Arial MT"/>
              </a:rPr>
              <a:t> </a:t>
            </a:r>
            <a:r>
              <a:rPr sz="1850" spc="60" dirty="0">
                <a:latin typeface="Arial MT"/>
                <a:cs typeface="Arial MT"/>
              </a:rPr>
              <a:t>polynomial,</a:t>
            </a:r>
            <a:r>
              <a:rPr sz="1850" spc="-125" dirty="0">
                <a:latin typeface="Arial MT"/>
                <a:cs typeface="Arial MT"/>
              </a:rPr>
              <a:t> </a:t>
            </a:r>
            <a:r>
              <a:rPr sz="1850" spc="-60" dirty="0">
                <a:latin typeface="Arial MT"/>
                <a:cs typeface="Arial MT"/>
              </a:rPr>
              <a:t>RBF) </a:t>
            </a:r>
            <a:r>
              <a:rPr sz="1850" dirty="0">
                <a:latin typeface="Arial MT"/>
                <a:cs typeface="Arial MT"/>
              </a:rPr>
              <a:t>Provides</a:t>
            </a:r>
            <a:r>
              <a:rPr sz="1850" spc="220" dirty="0">
                <a:latin typeface="Arial MT"/>
                <a:cs typeface="Arial MT"/>
              </a:rPr>
              <a:t> </a:t>
            </a:r>
            <a:r>
              <a:rPr sz="1850" spc="70" dirty="0">
                <a:latin typeface="Arial MT"/>
                <a:cs typeface="Arial MT"/>
              </a:rPr>
              <a:t>high </a:t>
            </a:r>
            <a:r>
              <a:rPr sz="1850" spc="45" dirty="0">
                <a:latin typeface="Arial MT"/>
                <a:cs typeface="Arial MT"/>
              </a:rPr>
              <a:t>accuracy</a:t>
            </a:r>
            <a:endParaRPr sz="185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259390" y="4306305"/>
            <a:ext cx="4876165" cy="2228850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20320">
              <a:lnSpc>
                <a:spcPct val="100000"/>
              </a:lnSpc>
              <a:spcBef>
                <a:spcPts val="350"/>
              </a:spcBef>
            </a:pPr>
            <a:r>
              <a:rPr sz="1850" spc="-85" dirty="0">
                <a:latin typeface="Arial MT"/>
                <a:cs typeface="Arial MT"/>
              </a:rPr>
              <a:t>Z.</a:t>
            </a:r>
            <a:r>
              <a:rPr sz="1850" spc="-140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K-Nearest</a:t>
            </a:r>
            <a:r>
              <a:rPr sz="1850" spc="180" dirty="0">
                <a:latin typeface="Arial MT"/>
                <a:cs typeface="Arial MT"/>
              </a:rPr>
              <a:t> </a:t>
            </a:r>
            <a:r>
              <a:rPr sz="1850" spc="65" dirty="0">
                <a:latin typeface="Arial MT"/>
                <a:cs typeface="Arial MT"/>
              </a:rPr>
              <a:t>Neighbors</a:t>
            </a:r>
            <a:r>
              <a:rPr sz="1850" spc="25" dirty="0">
                <a:latin typeface="Arial MT"/>
                <a:cs typeface="Arial MT"/>
              </a:rPr>
              <a:t> </a:t>
            </a:r>
            <a:r>
              <a:rPr sz="1850" spc="-10" dirty="0">
                <a:latin typeface="Arial MT"/>
                <a:cs typeface="Arial MT"/>
              </a:rPr>
              <a:t>(KNN)</a:t>
            </a:r>
            <a:endParaRPr sz="1850">
              <a:latin typeface="Arial MT"/>
              <a:cs typeface="Arial MT"/>
            </a:endParaRPr>
          </a:p>
          <a:p>
            <a:pPr marL="13335" marR="5080" indent="5715">
              <a:lnSpc>
                <a:spcPct val="111300"/>
              </a:lnSpc>
            </a:pPr>
            <a:r>
              <a:rPr sz="1850" spc="-80" dirty="0">
                <a:latin typeface="Arial MT"/>
                <a:cs typeface="Arial MT"/>
              </a:rPr>
              <a:t>A</a:t>
            </a:r>
            <a:r>
              <a:rPr sz="1850" spc="-25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lazy</a:t>
            </a:r>
            <a:r>
              <a:rPr sz="1850" spc="90" dirty="0">
                <a:latin typeface="Arial MT"/>
                <a:cs typeface="Arial MT"/>
              </a:rPr>
              <a:t> </a:t>
            </a:r>
            <a:r>
              <a:rPr sz="1850" spc="65" dirty="0">
                <a:latin typeface="Arial MT"/>
                <a:cs typeface="Arial MT"/>
              </a:rPr>
              <a:t>learning</a:t>
            </a:r>
            <a:r>
              <a:rPr sz="1850" spc="-100" dirty="0">
                <a:latin typeface="Arial MT"/>
                <a:cs typeface="Arial MT"/>
              </a:rPr>
              <a:t> </a:t>
            </a:r>
            <a:r>
              <a:rPr sz="1850" spc="80" dirty="0">
                <a:latin typeface="Arial MT"/>
                <a:cs typeface="Arial MT"/>
              </a:rPr>
              <a:t>algorithm</a:t>
            </a:r>
            <a:r>
              <a:rPr sz="1850" spc="10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(no</a:t>
            </a:r>
            <a:r>
              <a:rPr sz="1850" spc="-35" dirty="0">
                <a:latin typeface="Arial MT"/>
                <a:cs typeface="Arial MT"/>
              </a:rPr>
              <a:t> </a:t>
            </a:r>
            <a:r>
              <a:rPr sz="1850" spc="85" dirty="0">
                <a:latin typeface="Arial MT"/>
                <a:cs typeface="Arial MT"/>
              </a:rPr>
              <a:t>training</a:t>
            </a:r>
            <a:r>
              <a:rPr sz="1850" spc="-50" dirty="0">
                <a:latin typeface="Arial MT"/>
                <a:cs typeface="Arial MT"/>
              </a:rPr>
              <a:t> </a:t>
            </a:r>
            <a:r>
              <a:rPr sz="1850" spc="-10" dirty="0">
                <a:latin typeface="Arial MT"/>
                <a:cs typeface="Arial MT"/>
              </a:rPr>
              <a:t>phase) </a:t>
            </a:r>
            <a:r>
              <a:rPr sz="1850" dirty="0">
                <a:latin typeface="Arial MT"/>
                <a:cs typeface="Arial MT"/>
              </a:rPr>
              <a:t>Classifies</a:t>
            </a:r>
            <a:r>
              <a:rPr sz="1850" spc="135" dirty="0">
                <a:latin typeface="Arial MT"/>
                <a:cs typeface="Arial MT"/>
              </a:rPr>
              <a:t> </a:t>
            </a:r>
            <a:r>
              <a:rPr sz="1850" spc="65" dirty="0">
                <a:latin typeface="Arial MT"/>
                <a:cs typeface="Arial MT"/>
              </a:rPr>
              <a:t>data</a:t>
            </a:r>
            <a:r>
              <a:rPr sz="1850" spc="-15" dirty="0">
                <a:latin typeface="Arial MT"/>
                <a:cs typeface="Arial MT"/>
              </a:rPr>
              <a:t> </a:t>
            </a:r>
            <a:r>
              <a:rPr sz="1850" spc="55" dirty="0">
                <a:latin typeface="Arial MT"/>
                <a:cs typeface="Arial MT"/>
              </a:rPr>
              <a:t>based</a:t>
            </a:r>
            <a:r>
              <a:rPr sz="1850" dirty="0">
                <a:latin typeface="Arial MT"/>
                <a:cs typeface="Arial MT"/>
              </a:rPr>
              <a:t> </a:t>
            </a:r>
            <a:r>
              <a:rPr sz="1850" spc="75" dirty="0">
                <a:latin typeface="Arial MT"/>
                <a:cs typeface="Arial MT"/>
              </a:rPr>
              <a:t>on</a:t>
            </a:r>
            <a:r>
              <a:rPr sz="1850" spc="-35" dirty="0">
                <a:latin typeface="Arial MT"/>
                <a:cs typeface="Arial MT"/>
              </a:rPr>
              <a:t> </a:t>
            </a:r>
            <a:r>
              <a:rPr sz="1850" spc="55" dirty="0">
                <a:latin typeface="Arial MT"/>
                <a:cs typeface="Arial MT"/>
              </a:rPr>
              <a:t>nearest</a:t>
            </a:r>
            <a:r>
              <a:rPr sz="1850" spc="90" dirty="0">
                <a:latin typeface="Arial MT"/>
                <a:cs typeface="Arial MT"/>
              </a:rPr>
              <a:t> </a:t>
            </a:r>
            <a:r>
              <a:rPr sz="1850" spc="60" dirty="0">
                <a:latin typeface="Arial MT"/>
                <a:cs typeface="Arial MT"/>
              </a:rPr>
              <a:t>neighbors</a:t>
            </a:r>
            <a:endParaRPr sz="1850">
              <a:latin typeface="Arial MT"/>
              <a:cs typeface="Arial MT"/>
            </a:endParaRPr>
          </a:p>
          <a:p>
            <a:pPr marL="13970">
              <a:lnSpc>
                <a:spcPct val="100000"/>
              </a:lnSpc>
              <a:spcBef>
                <a:spcPts val="325"/>
              </a:spcBef>
            </a:pPr>
            <a:r>
              <a:rPr sz="1800" dirty="0">
                <a:latin typeface="Arial MT"/>
                <a:cs typeface="Arial MT"/>
              </a:rPr>
              <a:t>Keg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60" dirty="0">
                <a:latin typeface="Arial MT"/>
                <a:cs typeface="Arial MT"/>
              </a:rPr>
              <a:t>Points:</a:t>
            </a:r>
            <a:endParaRPr sz="1800">
              <a:latin typeface="Arial MT"/>
              <a:cs typeface="Arial MT"/>
            </a:endParaRPr>
          </a:p>
          <a:p>
            <a:pPr marL="13970" marR="2047875" indent="-1905">
              <a:lnSpc>
                <a:spcPts val="2470"/>
              </a:lnSpc>
              <a:spcBef>
                <a:spcPts val="110"/>
              </a:spcBef>
            </a:pPr>
            <a:r>
              <a:rPr sz="1850" dirty="0">
                <a:latin typeface="Arial MT"/>
                <a:cs typeface="Arial MT"/>
              </a:rPr>
              <a:t>Uses </a:t>
            </a:r>
            <a:r>
              <a:rPr sz="1850" spc="60" dirty="0">
                <a:latin typeface="Arial MT"/>
                <a:cs typeface="Arial MT"/>
              </a:rPr>
              <a:t>distance</a:t>
            </a:r>
            <a:r>
              <a:rPr sz="1850" spc="5" dirty="0">
                <a:latin typeface="Arial MT"/>
                <a:cs typeface="Arial MT"/>
              </a:rPr>
              <a:t> </a:t>
            </a:r>
            <a:r>
              <a:rPr sz="1850" spc="-10" dirty="0">
                <a:latin typeface="Arial MT"/>
                <a:cs typeface="Arial MT"/>
              </a:rPr>
              <a:t>(Euclidean) </a:t>
            </a:r>
            <a:r>
              <a:rPr sz="1850" dirty="0">
                <a:latin typeface="Arial MT"/>
                <a:cs typeface="Arial MT"/>
              </a:rPr>
              <a:t>Simple</a:t>
            </a:r>
            <a:r>
              <a:rPr sz="1850" spc="75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to</a:t>
            </a:r>
            <a:r>
              <a:rPr sz="1850" spc="265" dirty="0">
                <a:latin typeface="Arial MT"/>
                <a:cs typeface="Arial MT"/>
              </a:rPr>
              <a:t> </a:t>
            </a:r>
            <a:r>
              <a:rPr sz="1850" spc="65" dirty="0">
                <a:latin typeface="Arial MT"/>
                <a:cs typeface="Arial MT"/>
              </a:rPr>
              <a:t>understand</a:t>
            </a:r>
            <a:endParaRPr sz="1850">
              <a:latin typeface="Arial MT"/>
              <a:cs typeface="Arial MT"/>
            </a:endParaRPr>
          </a:p>
          <a:p>
            <a:pPr marL="13970">
              <a:lnSpc>
                <a:spcPct val="100000"/>
              </a:lnSpc>
              <a:spcBef>
                <a:spcPts val="180"/>
              </a:spcBef>
            </a:pPr>
            <a:r>
              <a:rPr sz="1850" dirty="0">
                <a:latin typeface="Arial MT"/>
                <a:cs typeface="Arial MT"/>
              </a:rPr>
              <a:t>Slow</a:t>
            </a:r>
            <a:r>
              <a:rPr sz="1850" spc="125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for</a:t>
            </a:r>
            <a:r>
              <a:rPr sz="1850" spc="370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large</a:t>
            </a:r>
            <a:r>
              <a:rPr sz="1850" spc="95" dirty="0">
                <a:latin typeface="Arial MT"/>
                <a:cs typeface="Arial MT"/>
              </a:rPr>
              <a:t> </a:t>
            </a:r>
            <a:r>
              <a:rPr sz="1850" spc="50" dirty="0">
                <a:latin typeface="Arial MT"/>
                <a:cs typeface="Arial MT"/>
              </a:rPr>
              <a:t>datasets</a:t>
            </a:r>
            <a:endParaRPr sz="185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533710" y="7444816"/>
            <a:ext cx="4803775" cy="2225675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350"/>
              </a:spcBef>
            </a:pPr>
            <a:r>
              <a:rPr sz="1850" dirty="0">
                <a:latin typeface="Calibri"/>
                <a:cs typeface="Calibri"/>
              </a:rPr>
              <a:t>4.</a:t>
            </a:r>
            <a:r>
              <a:rPr sz="1850" spc="120" dirty="0">
                <a:latin typeface="Calibri"/>
                <a:cs typeface="Calibri"/>
              </a:rPr>
              <a:t> </a:t>
            </a:r>
            <a:r>
              <a:rPr sz="1850" spc="110" dirty="0">
                <a:latin typeface="Calibri"/>
                <a:cs typeface="Calibri"/>
              </a:rPr>
              <a:t>Perceptron</a:t>
            </a:r>
            <a:endParaRPr sz="1850">
              <a:latin typeface="Calibri"/>
              <a:cs typeface="Calibri"/>
            </a:endParaRPr>
          </a:p>
          <a:p>
            <a:pPr marL="12700" marR="5080" indent="6350">
              <a:lnSpc>
                <a:spcPct val="111300"/>
              </a:lnSpc>
            </a:pPr>
            <a:r>
              <a:rPr sz="1850" spc="-80" dirty="0">
                <a:latin typeface="Arial MT"/>
                <a:cs typeface="Arial MT"/>
              </a:rPr>
              <a:t>A</a:t>
            </a:r>
            <a:r>
              <a:rPr sz="1850" spc="-30" dirty="0">
                <a:latin typeface="Arial MT"/>
                <a:cs typeface="Arial MT"/>
              </a:rPr>
              <a:t> </a:t>
            </a:r>
            <a:r>
              <a:rPr sz="1850" spc="50" dirty="0">
                <a:latin typeface="Arial MT"/>
                <a:cs typeface="Arial MT"/>
              </a:rPr>
              <a:t>basic</a:t>
            </a:r>
            <a:r>
              <a:rPr sz="1850" spc="65" dirty="0">
                <a:latin typeface="Arial MT"/>
                <a:cs typeface="Arial MT"/>
              </a:rPr>
              <a:t> </a:t>
            </a:r>
            <a:r>
              <a:rPr sz="1850" spc="55" dirty="0">
                <a:latin typeface="Arial MT"/>
                <a:cs typeface="Arial MT"/>
              </a:rPr>
              <a:t>neural</a:t>
            </a:r>
            <a:r>
              <a:rPr sz="1850" dirty="0">
                <a:latin typeface="Arial MT"/>
                <a:cs typeface="Arial MT"/>
              </a:rPr>
              <a:t> </a:t>
            </a:r>
            <a:r>
              <a:rPr sz="1850" spc="100" dirty="0">
                <a:latin typeface="Arial MT"/>
                <a:cs typeface="Arial MT"/>
              </a:rPr>
              <a:t>network</a:t>
            </a:r>
            <a:r>
              <a:rPr sz="1850" spc="150" dirty="0">
                <a:latin typeface="Arial MT"/>
                <a:cs typeface="Arial MT"/>
              </a:rPr>
              <a:t> </a:t>
            </a:r>
            <a:r>
              <a:rPr sz="1850" spc="55" dirty="0">
                <a:latin typeface="Arial MT"/>
                <a:cs typeface="Arial MT"/>
              </a:rPr>
              <a:t>model</a:t>
            </a:r>
            <a:r>
              <a:rPr sz="1850" spc="25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(single-</a:t>
            </a:r>
            <a:r>
              <a:rPr sz="1850" spc="-10" dirty="0">
                <a:latin typeface="Arial MT"/>
                <a:cs typeface="Arial MT"/>
              </a:rPr>
              <a:t>lager) </a:t>
            </a:r>
            <a:r>
              <a:rPr sz="1850" dirty="0">
                <a:latin typeface="Arial MT"/>
                <a:cs typeface="Arial MT"/>
              </a:rPr>
              <a:t>Used</a:t>
            </a:r>
            <a:r>
              <a:rPr sz="1850" spc="20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for</a:t>
            </a:r>
            <a:r>
              <a:rPr sz="1850" spc="260" dirty="0">
                <a:latin typeface="Arial MT"/>
                <a:cs typeface="Arial MT"/>
              </a:rPr>
              <a:t> </a:t>
            </a:r>
            <a:r>
              <a:rPr sz="1850" spc="80" dirty="0">
                <a:latin typeface="Arial MT"/>
                <a:cs typeface="Arial MT"/>
              </a:rPr>
              <a:t>binarg</a:t>
            </a:r>
            <a:r>
              <a:rPr sz="1850" spc="-25" dirty="0">
                <a:latin typeface="Arial MT"/>
                <a:cs typeface="Arial MT"/>
              </a:rPr>
              <a:t> </a:t>
            </a:r>
            <a:r>
              <a:rPr sz="1850" spc="70" dirty="0">
                <a:latin typeface="Arial MT"/>
                <a:cs typeface="Arial MT"/>
              </a:rPr>
              <a:t>classification</a:t>
            </a:r>
            <a:endParaRPr sz="1850">
              <a:latin typeface="Arial MT"/>
              <a:cs typeface="Arial MT"/>
            </a:endParaRPr>
          </a:p>
          <a:p>
            <a:pPr marL="13970">
              <a:lnSpc>
                <a:spcPct val="100000"/>
              </a:lnSpc>
              <a:spcBef>
                <a:spcPts val="325"/>
              </a:spcBef>
            </a:pPr>
            <a:r>
              <a:rPr sz="1800" dirty="0">
                <a:latin typeface="Arial MT"/>
                <a:cs typeface="Arial MT"/>
              </a:rPr>
              <a:t>Keg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60" dirty="0">
                <a:latin typeface="Arial MT"/>
                <a:cs typeface="Arial MT"/>
              </a:rPr>
              <a:t>Points:</a:t>
            </a:r>
            <a:endParaRPr sz="1800">
              <a:latin typeface="Arial MT"/>
              <a:cs typeface="Arial MT"/>
            </a:endParaRPr>
          </a:p>
          <a:p>
            <a:pPr marL="13335" marR="309880" indent="-1270">
              <a:lnSpc>
                <a:spcPct val="111300"/>
              </a:lnSpc>
              <a:spcBef>
                <a:spcPts val="10"/>
              </a:spcBef>
              <a:tabLst>
                <a:tab pos="2399665" algn="l"/>
              </a:tabLst>
            </a:pPr>
            <a:r>
              <a:rPr sz="1850" dirty="0">
                <a:latin typeface="Arial MT"/>
                <a:cs typeface="Arial MT"/>
              </a:rPr>
              <a:t>Uses</a:t>
            </a:r>
            <a:r>
              <a:rPr sz="1850" spc="10" dirty="0">
                <a:latin typeface="Arial MT"/>
                <a:cs typeface="Arial MT"/>
              </a:rPr>
              <a:t> </a:t>
            </a:r>
            <a:r>
              <a:rPr sz="1850" spc="65" dirty="0">
                <a:latin typeface="Arial MT"/>
                <a:cs typeface="Arial MT"/>
              </a:rPr>
              <a:t>weighted</a:t>
            </a:r>
            <a:r>
              <a:rPr sz="1850" spc="70" dirty="0">
                <a:latin typeface="Arial MT"/>
                <a:cs typeface="Arial MT"/>
              </a:rPr>
              <a:t> </a:t>
            </a:r>
            <a:r>
              <a:rPr sz="1850" spc="-20" dirty="0">
                <a:latin typeface="Arial MT"/>
                <a:cs typeface="Arial MT"/>
              </a:rPr>
              <a:t>sum‹</a:t>
            </a:r>
            <a:r>
              <a:rPr sz="1850" dirty="0">
                <a:latin typeface="Arial MT"/>
                <a:cs typeface="Arial MT"/>
              </a:rPr>
              <a:t>	</a:t>
            </a:r>
            <a:r>
              <a:rPr sz="1850" spc="70" dirty="0">
                <a:latin typeface="Arial MT"/>
                <a:cs typeface="Arial MT"/>
              </a:rPr>
              <a:t>activation</a:t>
            </a:r>
            <a:r>
              <a:rPr sz="1850" spc="85" dirty="0">
                <a:latin typeface="Arial MT"/>
                <a:cs typeface="Arial MT"/>
              </a:rPr>
              <a:t> </a:t>
            </a:r>
            <a:r>
              <a:rPr sz="1850" spc="80" dirty="0">
                <a:latin typeface="Arial MT"/>
                <a:cs typeface="Arial MT"/>
              </a:rPr>
              <a:t>function </a:t>
            </a:r>
            <a:r>
              <a:rPr sz="1850" dirty="0">
                <a:latin typeface="Arial MT"/>
                <a:cs typeface="Arial MT"/>
              </a:rPr>
              <a:t>Learns</a:t>
            </a:r>
            <a:r>
              <a:rPr sz="1850" spc="20" dirty="0">
                <a:latin typeface="Arial MT"/>
                <a:cs typeface="Arial MT"/>
              </a:rPr>
              <a:t> </a:t>
            </a:r>
            <a:r>
              <a:rPr sz="1850" spc="85" dirty="0">
                <a:latin typeface="Arial MT"/>
                <a:cs typeface="Arial MT"/>
              </a:rPr>
              <a:t>bg</a:t>
            </a:r>
            <a:r>
              <a:rPr sz="1850" spc="-70" dirty="0">
                <a:latin typeface="Arial MT"/>
                <a:cs typeface="Arial MT"/>
              </a:rPr>
              <a:t> </a:t>
            </a:r>
            <a:r>
              <a:rPr sz="1850" spc="75" dirty="0">
                <a:latin typeface="Arial MT"/>
                <a:cs typeface="Arial MT"/>
              </a:rPr>
              <a:t>adjusting</a:t>
            </a:r>
            <a:r>
              <a:rPr sz="1850" spc="-5" dirty="0">
                <a:latin typeface="Arial MT"/>
                <a:cs typeface="Arial MT"/>
              </a:rPr>
              <a:t> </a:t>
            </a:r>
            <a:r>
              <a:rPr sz="1850" spc="60" dirty="0">
                <a:latin typeface="Arial MT"/>
                <a:cs typeface="Arial MT"/>
              </a:rPr>
              <a:t>weights</a:t>
            </a:r>
            <a:endParaRPr sz="1850">
              <a:latin typeface="Arial MT"/>
              <a:cs typeface="Arial MT"/>
            </a:endParaRPr>
          </a:p>
          <a:p>
            <a:pPr marL="15875">
              <a:lnSpc>
                <a:spcPct val="100000"/>
              </a:lnSpc>
              <a:spcBef>
                <a:spcPts val="250"/>
              </a:spcBef>
            </a:pPr>
            <a:r>
              <a:rPr sz="1850" spc="50" dirty="0">
                <a:latin typeface="Arial MT"/>
                <a:cs typeface="Arial MT"/>
              </a:rPr>
              <a:t>Works</a:t>
            </a:r>
            <a:r>
              <a:rPr sz="1850" spc="45" dirty="0">
                <a:latin typeface="Arial MT"/>
                <a:cs typeface="Arial MT"/>
              </a:rPr>
              <a:t> </a:t>
            </a:r>
            <a:r>
              <a:rPr sz="1850" spc="55" dirty="0">
                <a:latin typeface="Arial MT"/>
                <a:cs typeface="Arial MT"/>
              </a:rPr>
              <a:t>onlg</a:t>
            </a:r>
            <a:r>
              <a:rPr sz="1850" spc="10" dirty="0">
                <a:latin typeface="Arial MT"/>
                <a:cs typeface="Arial MT"/>
              </a:rPr>
              <a:t> </a:t>
            </a:r>
            <a:r>
              <a:rPr sz="1850" spc="50" dirty="0">
                <a:latin typeface="Arial MT"/>
                <a:cs typeface="Arial MT"/>
              </a:rPr>
              <a:t>for</a:t>
            </a:r>
            <a:r>
              <a:rPr sz="1850" spc="165" dirty="0">
                <a:latin typeface="Arial MT"/>
                <a:cs typeface="Arial MT"/>
              </a:rPr>
              <a:t> </a:t>
            </a:r>
            <a:r>
              <a:rPr sz="1850" spc="65" dirty="0">
                <a:latin typeface="Arial MT"/>
                <a:cs typeface="Arial MT"/>
              </a:rPr>
              <a:t>linearly</a:t>
            </a:r>
            <a:r>
              <a:rPr sz="1850" spc="135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separable</a:t>
            </a:r>
            <a:r>
              <a:rPr sz="1850" spc="170" dirty="0">
                <a:latin typeface="Arial MT"/>
                <a:cs typeface="Arial MT"/>
              </a:rPr>
              <a:t> </a:t>
            </a:r>
            <a:r>
              <a:rPr sz="1850" spc="45" dirty="0">
                <a:latin typeface="Arial MT"/>
                <a:cs typeface="Arial MT"/>
              </a:rPr>
              <a:t>data</a:t>
            </a:r>
            <a:endParaRPr sz="18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167360" y="0"/>
            <a:ext cx="5120640" cy="10280905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016997" y="994366"/>
            <a:ext cx="6809105" cy="5329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3180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solidFill>
                  <a:srgbClr val="0F2BF9"/>
                </a:solidFill>
                <a:latin typeface="Arial MT"/>
                <a:cs typeface="Arial MT"/>
              </a:rPr>
              <a:t>Borcelle</a:t>
            </a:r>
            <a:endParaRPr sz="15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5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29"/>
              </a:spcBef>
            </a:pPr>
            <a:endParaRPr sz="1500">
              <a:latin typeface="Arial MT"/>
              <a:cs typeface="Arial MT"/>
            </a:endParaRPr>
          </a:p>
          <a:p>
            <a:pPr marL="15240">
              <a:lnSpc>
                <a:spcPct val="100000"/>
              </a:lnSpc>
            </a:pPr>
            <a:r>
              <a:rPr sz="1850" dirty="0">
                <a:latin typeface="Arial MT"/>
                <a:cs typeface="Arial MT"/>
              </a:rPr>
              <a:t>5.</a:t>
            </a:r>
            <a:r>
              <a:rPr sz="1850" spc="-185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Decision</a:t>
            </a:r>
            <a:r>
              <a:rPr sz="1850" spc="100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Tree</a:t>
            </a:r>
            <a:r>
              <a:rPr sz="1850" spc="40" dirty="0">
                <a:latin typeface="Arial MT"/>
                <a:cs typeface="Arial MT"/>
              </a:rPr>
              <a:t> </a:t>
            </a:r>
            <a:r>
              <a:rPr sz="1850" spc="-10" dirty="0">
                <a:latin typeface="Arial MT"/>
                <a:cs typeface="Arial MT"/>
              </a:rPr>
              <a:t>Classifier</a:t>
            </a:r>
            <a:endParaRPr sz="1850">
              <a:latin typeface="Arial MT"/>
              <a:cs typeface="Arial MT"/>
            </a:endParaRPr>
          </a:p>
          <a:p>
            <a:pPr marL="14604" marR="1749425" indent="4445">
              <a:lnSpc>
                <a:spcPct val="112799"/>
              </a:lnSpc>
              <a:spcBef>
                <a:spcPts val="25"/>
              </a:spcBef>
            </a:pPr>
            <a:r>
              <a:rPr sz="1800" dirty="0">
                <a:latin typeface="Arial MT"/>
                <a:cs typeface="Arial MT"/>
              </a:rPr>
              <a:t>A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spc="60" dirty="0">
                <a:latin typeface="Arial MT"/>
                <a:cs typeface="Arial MT"/>
              </a:rPr>
              <a:t>tree-</a:t>
            </a:r>
            <a:r>
              <a:rPr sz="1800" spc="80" dirty="0">
                <a:latin typeface="Arial MT"/>
                <a:cs typeface="Arial MT"/>
              </a:rPr>
              <a:t>based</a:t>
            </a:r>
            <a:r>
              <a:rPr sz="1800" spc="85" dirty="0">
                <a:latin typeface="Arial MT"/>
                <a:cs typeface="Arial MT"/>
              </a:rPr>
              <a:t> </a:t>
            </a:r>
            <a:r>
              <a:rPr sz="1800" spc="80" dirty="0">
                <a:latin typeface="Arial MT"/>
                <a:cs typeface="Arial MT"/>
              </a:rPr>
              <a:t>supervised</a:t>
            </a:r>
            <a:r>
              <a:rPr sz="1800" spc="90" dirty="0">
                <a:latin typeface="Arial MT"/>
                <a:cs typeface="Arial MT"/>
              </a:rPr>
              <a:t> </a:t>
            </a:r>
            <a:r>
              <a:rPr sz="1800" spc="80" dirty="0">
                <a:latin typeface="Arial MT"/>
                <a:cs typeface="Arial MT"/>
              </a:rPr>
              <a:t>learning</a:t>
            </a:r>
            <a:r>
              <a:rPr sz="1800" spc="-65" dirty="0">
                <a:latin typeface="Arial MT"/>
                <a:cs typeface="Arial MT"/>
              </a:rPr>
              <a:t> </a:t>
            </a:r>
            <a:r>
              <a:rPr sz="1800" spc="95" dirty="0">
                <a:latin typeface="Arial MT"/>
                <a:cs typeface="Arial MT"/>
              </a:rPr>
              <a:t>algorithm </a:t>
            </a:r>
            <a:r>
              <a:rPr sz="1850" spc="60" dirty="0">
                <a:latin typeface="Arial MT"/>
                <a:cs typeface="Arial MT"/>
              </a:rPr>
              <a:t>Splits</a:t>
            </a:r>
            <a:r>
              <a:rPr sz="1850" spc="-20" dirty="0">
                <a:latin typeface="Arial MT"/>
                <a:cs typeface="Arial MT"/>
              </a:rPr>
              <a:t> </a:t>
            </a:r>
            <a:r>
              <a:rPr sz="1850" spc="65" dirty="0">
                <a:latin typeface="Arial MT"/>
                <a:cs typeface="Arial MT"/>
              </a:rPr>
              <a:t>data</a:t>
            </a:r>
            <a:r>
              <a:rPr sz="1850" spc="-60" dirty="0">
                <a:latin typeface="Arial MT"/>
                <a:cs typeface="Arial MT"/>
              </a:rPr>
              <a:t> </a:t>
            </a:r>
            <a:r>
              <a:rPr sz="1850" spc="90" dirty="0">
                <a:latin typeface="Arial MT"/>
                <a:cs typeface="Arial MT"/>
              </a:rPr>
              <a:t>into</a:t>
            </a:r>
            <a:r>
              <a:rPr sz="1850" spc="-10" dirty="0">
                <a:latin typeface="Arial MT"/>
                <a:cs typeface="Arial MT"/>
              </a:rPr>
              <a:t> </a:t>
            </a:r>
            <a:r>
              <a:rPr sz="1850" spc="65" dirty="0">
                <a:latin typeface="Arial MT"/>
                <a:cs typeface="Arial MT"/>
              </a:rPr>
              <a:t>branches</a:t>
            </a:r>
            <a:r>
              <a:rPr sz="1850" spc="25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based</a:t>
            </a:r>
            <a:r>
              <a:rPr sz="1850" spc="55" dirty="0">
                <a:latin typeface="Arial MT"/>
                <a:cs typeface="Arial MT"/>
              </a:rPr>
              <a:t> on</a:t>
            </a:r>
            <a:r>
              <a:rPr sz="1850" spc="-80" dirty="0">
                <a:latin typeface="Arial MT"/>
                <a:cs typeface="Arial MT"/>
              </a:rPr>
              <a:t> </a:t>
            </a:r>
            <a:r>
              <a:rPr sz="1850" spc="70" dirty="0">
                <a:latin typeface="Arial MT"/>
                <a:cs typeface="Arial MT"/>
              </a:rPr>
              <a:t>conditions </a:t>
            </a:r>
            <a:r>
              <a:rPr sz="1800" dirty="0">
                <a:latin typeface="Arial MT"/>
                <a:cs typeface="Arial MT"/>
              </a:rPr>
              <a:t>Keg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60" dirty="0">
                <a:latin typeface="Arial MT"/>
                <a:cs typeface="Arial MT"/>
              </a:rPr>
              <a:t>Points:</a:t>
            </a:r>
            <a:endParaRPr sz="1800">
              <a:latin typeface="Arial MT"/>
              <a:cs typeface="Arial MT"/>
            </a:endParaRPr>
          </a:p>
          <a:p>
            <a:pPr marL="13335">
              <a:lnSpc>
                <a:spcPct val="100000"/>
              </a:lnSpc>
              <a:spcBef>
                <a:spcPts val="335"/>
              </a:spcBef>
            </a:pPr>
            <a:r>
              <a:rPr sz="1800" dirty="0">
                <a:latin typeface="Arial MT"/>
                <a:cs typeface="Arial MT"/>
              </a:rPr>
              <a:t>Easg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229" dirty="0">
                <a:latin typeface="Arial MT"/>
                <a:cs typeface="Arial MT"/>
              </a:rPr>
              <a:t> </a:t>
            </a:r>
            <a:r>
              <a:rPr sz="1800" spc="90" dirty="0">
                <a:latin typeface="Arial MT"/>
                <a:cs typeface="Arial MT"/>
              </a:rPr>
              <a:t>understand</a:t>
            </a:r>
            <a:r>
              <a:rPr sz="1800" spc="85" dirty="0">
                <a:latin typeface="Arial MT"/>
                <a:cs typeface="Arial MT"/>
              </a:rPr>
              <a:t> and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45" dirty="0">
                <a:latin typeface="Arial MT"/>
                <a:cs typeface="Arial MT"/>
              </a:rPr>
              <a:t>visualize</a:t>
            </a:r>
            <a:endParaRPr sz="1800">
              <a:latin typeface="Arial MT"/>
              <a:cs typeface="Arial MT"/>
            </a:endParaRPr>
          </a:p>
          <a:p>
            <a:pPr marL="13335" marR="1845310" indent="-1270">
              <a:lnSpc>
                <a:spcPct val="111300"/>
              </a:lnSpc>
              <a:spcBef>
                <a:spcPts val="10"/>
              </a:spcBef>
            </a:pPr>
            <a:r>
              <a:rPr sz="1850" dirty="0">
                <a:latin typeface="Arial MT"/>
                <a:cs typeface="Arial MT"/>
              </a:rPr>
              <a:t>Handles</a:t>
            </a:r>
            <a:r>
              <a:rPr sz="1850" spc="5" dirty="0">
                <a:latin typeface="Arial MT"/>
                <a:cs typeface="Arial MT"/>
              </a:rPr>
              <a:t> </a:t>
            </a:r>
            <a:r>
              <a:rPr sz="1850" spc="120" dirty="0">
                <a:latin typeface="Arial MT"/>
                <a:cs typeface="Arial MT"/>
              </a:rPr>
              <a:t>both</a:t>
            </a:r>
            <a:r>
              <a:rPr sz="1850" spc="-70" dirty="0">
                <a:latin typeface="Arial MT"/>
                <a:cs typeface="Arial MT"/>
              </a:rPr>
              <a:t> </a:t>
            </a:r>
            <a:r>
              <a:rPr sz="1850" spc="65" dirty="0">
                <a:latin typeface="Arial MT"/>
                <a:cs typeface="Arial MT"/>
              </a:rPr>
              <a:t>numerical</a:t>
            </a:r>
            <a:r>
              <a:rPr sz="1850" spc="55" dirty="0">
                <a:latin typeface="Arial MT"/>
                <a:cs typeface="Arial MT"/>
              </a:rPr>
              <a:t> and</a:t>
            </a:r>
            <a:r>
              <a:rPr sz="1850" spc="-50" dirty="0">
                <a:latin typeface="Arial MT"/>
                <a:cs typeface="Arial MT"/>
              </a:rPr>
              <a:t> </a:t>
            </a:r>
            <a:r>
              <a:rPr sz="1850" spc="60" dirty="0">
                <a:latin typeface="Arial MT"/>
                <a:cs typeface="Arial MT"/>
              </a:rPr>
              <a:t>categorical </a:t>
            </a:r>
            <a:r>
              <a:rPr sz="1850" spc="45" dirty="0">
                <a:latin typeface="Arial MT"/>
                <a:cs typeface="Arial MT"/>
              </a:rPr>
              <a:t>data </a:t>
            </a:r>
            <a:r>
              <a:rPr sz="1850" spc="-20" dirty="0">
                <a:latin typeface="Arial MT"/>
                <a:cs typeface="Arial MT"/>
              </a:rPr>
              <a:t>Can</a:t>
            </a:r>
            <a:r>
              <a:rPr sz="1850" spc="-30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lead</a:t>
            </a:r>
            <a:r>
              <a:rPr sz="1850" spc="-65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to</a:t>
            </a:r>
            <a:r>
              <a:rPr sz="1850" spc="135" dirty="0">
                <a:latin typeface="Arial MT"/>
                <a:cs typeface="Arial MT"/>
              </a:rPr>
              <a:t> </a:t>
            </a:r>
            <a:r>
              <a:rPr sz="1850" spc="95" dirty="0">
                <a:latin typeface="Arial MT"/>
                <a:cs typeface="Arial MT"/>
              </a:rPr>
              <a:t>overfitting</a:t>
            </a:r>
            <a:r>
              <a:rPr sz="1850" spc="-25" dirty="0">
                <a:latin typeface="Arial MT"/>
                <a:cs typeface="Arial MT"/>
              </a:rPr>
              <a:t> </a:t>
            </a:r>
            <a:r>
              <a:rPr sz="1850" spc="60" dirty="0">
                <a:latin typeface="Arial MT"/>
                <a:cs typeface="Arial MT"/>
              </a:rPr>
              <a:t>if</a:t>
            </a:r>
            <a:r>
              <a:rPr sz="1850" spc="125" dirty="0">
                <a:latin typeface="Arial MT"/>
                <a:cs typeface="Arial MT"/>
              </a:rPr>
              <a:t> </a:t>
            </a:r>
            <a:r>
              <a:rPr sz="1850" spc="114" dirty="0">
                <a:latin typeface="Arial MT"/>
                <a:cs typeface="Arial MT"/>
              </a:rPr>
              <a:t>not</a:t>
            </a:r>
            <a:r>
              <a:rPr sz="1850" spc="-40" dirty="0">
                <a:latin typeface="Arial MT"/>
                <a:cs typeface="Arial MT"/>
              </a:rPr>
              <a:t> </a:t>
            </a:r>
            <a:r>
              <a:rPr sz="1850" spc="65" dirty="0">
                <a:latin typeface="Arial MT"/>
                <a:cs typeface="Arial MT"/>
              </a:rPr>
              <a:t>controlled</a:t>
            </a:r>
            <a:endParaRPr sz="18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70"/>
              </a:spcBef>
            </a:pPr>
            <a:endParaRPr sz="1850">
              <a:latin typeface="Arial MT"/>
              <a:cs typeface="Arial MT"/>
            </a:endParaRPr>
          </a:p>
          <a:p>
            <a:pPr marL="186690">
              <a:lnSpc>
                <a:spcPts val="2450"/>
              </a:lnSpc>
            </a:pPr>
            <a:r>
              <a:rPr sz="2300" spc="-95" dirty="0">
                <a:latin typeface="Calibri"/>
                <a:cs typeface="Calibri"/>
              </a:rPr>
              <a:t>&amp;K-</a:t>
            </a:r>
            <a:r>
              <a:rPr sz="2300" spc="-20" dirty="0">
                <a:latin typeface="Calibri"/>
                <a:cs typeface="Calibri"/>
              </a:rPr>
              <a:t>NeighbomCIassîfier</a:t>
            </a:r>
            <a:endParaRPr sz="2300">
              <a:latin typeface="Calibri"/>
              <a:cs typeface="Calibri"/>
            </a:endParaRPr>
          </a:p>
          <a:p>
            <a:pPr marL="137160" marR="5080" indent="285750">
              <a:lnSpc>
                <a:spcPct val="80000"/>
              </a:lnSpc>
              <a:spcBef>
                <a:spcPts val="240"/>
              </a:spcBef>
            </a:pPr>
            <a:r>
              <a:rPr sz="2300" spc="-80" dirty="0">
                <a:latin typeface="Calibri"/>
                <a:cs typeface="Calibri"/>
              </a:rPr>
              <a:t>SameasK-</a:t>
            </a:r>
            <a:r>
              <a:rPr sz="2300" spc="-65" dirty="0">
                <a:latin typeface="Calibri"/>
                <a:cs typeface="Calibri"/>
              </a:rPr>
              <a:t>NœrestNeîghbom(KNN)ÿustdi61ëmrknamingin </a:t>
            </a:r>
            <a:r>
              <a:rPr sz="2300" spc="-10" dirty="0">
                <a:latin typeface="Calibri"/>
                <a:cs typeface="Calibri"/>
              </a:rPr>
              <a:t>libmûœlikesklœrrg</a:t>
            </a:r>
            <a:endParaRPr sz="2300">
              <a:latin typeface="Calibri"/>
              <a:cs typeface="Calibri"/>
            </a:endParaRPr>
          </a:p>
          <a:p>
            <a:pPr marL="140970" marR="935355" indent="-635">
              <a:lnSpc>
                <a:spcPct val="78200"/>
              </a:lnSpc>
              <a:spcBef>
                <a:spcPts val="50"/>
              </a:spcBef>
            </a:pPr>
            <a:r>
              <a:rPr sz="2300" spc="-10" dirty="0">
                <a:latin typeface="Calibri"/>
                <a:cs typeface="Calibri"/>
              </a:rPr>
              <a:t>KeyPoints: </a:t>
            </a:r>
            <a:r>
              <a:rPr sz="2300" spc="-40" dirty="0">
                <a:latin typeface="Calibri"/>
                <a:cs typeface="Calibri"/>
              </a:rPr>
              <a:t>Cîassifîesbasedonmajorîtydassofnœrestneighbom </a:t>
            </a:r>
            <a:r>
              <a:rPr sz="2300" spc="-10" dirty="0">
                <a:latin typeface="Calibri"/>
                <a:cs typeface="Calibri"/>
              </a:rPr>
              <a:t>Usesdistanoemetrics</a:t>
            </a:r>
            <a:endParaRPr sz="2300">
              <a:latin typeface="Calibri"/>
              <a:cs typeface="Calibri"/>
            </a:endParaRPr>
          </a:p>
          <a:p>
            <a:pPr marL="140970">
              <a:lnSpc>
                <a:spcPts val="2185"/>
              </a:lnSpc>
            </a:pPr>
            <a:r>
              <a:rPr sz="2300" spc="-20" dirty="0">
                <a:latin typeface="Calibri"/>
                <a:cs typeface="Calibri"/>
              </a:rPr>
              <a:t>Noe»pIicitCainingphase</a:t>
            </a:r>
            <a:endParaRPr sz="2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7583" y="5405550"/>
            <a:ext cx="6870192" cy="488144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03407" y="3114132"/>
            <a:ext cx="890016" cy="65817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448288" y="2906930"/>
            <a:ext cx="1207007" cy="87756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716256" y="2906930"/>
            <a:ext cx="725423" cy="877563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29184" y="365650"/>
            <a:ext cx="2261616" cy="182216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669023" y="597231"/>
            <a:ext cx="2261616" cy="182216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503407" y="1023824"/>
            <a:ext cx="6534911" cy="1816069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011690" y="3081914"/>
            <a:ext cx="4364990" cy="2598420"/>
          </a:xfrm>
          <a:prstGeom prst="rect">
            <a:avLst/>
          </a:prstGeom>
        </p:spPr>
        <p:txBody>
          <a:bodyPr vert="horz" wrap="square" lIns="0" tIns="189230" rIns="0" bIns="0" rtlCol="0">
            <a:spAutoFit/>
          </a:bodyPr>
          <a:lstStyle/>
          <a:p>
            <a:pPr marL="57150">
              <a:lnSpc>
                <a:spcPct val="100000"/>
              </a:lnSpc>
              <a:spcBef>
                <a:spcPts val="1490"/>
              </a:spcBef>
            </a:pPr>
            <a:r>
              <a:rPr sz="2050" spc="-315" dirty="0">
                <a:latin typeface="Calibri"/>
                <a:cs typeface="Calibri"/>
              </a:rPr>
              <a:t>1.</a:t>
            </a:r>
            <a:r>
              <a:rPr sz="2050" spc="90" dirty="0">
                <a:latin typeface="Calibri"/>
                <a:cs typeface="Calibri"/>
              </a:rPr>
              <a:t> </a:t>
            </a:r>
            <a:r>
              <a:rPr sz="2050" spc="-10" dirty="0">
                <a:latin typeface="Calibri"/>
                <a:cs typeface="Calibri"/>
              </a:rPr>
              <a:t>Accuracy</a:t>
            </a:r>
            <a:endParaRPr sz="2050">
              <a:latin typeface="Calibri"/>
              <a:cs typeface="Calibri"/>
            </a:endParaRPr>
          </a:p>
          <a:p>
            <a:pPr marL="12700" marR="5080" indent="4445">
              <a:lnSpc>
                <a:spcPct val="98300"/>
              </a:lnSpc>
              <a:spcBef>
                <a:spcPts val="1255"/>
              </a:spcBef>
            </a:pPr>
            <a:r>
              <a:rPr sz="1800" dirty="0">
                <a:latin typeface="Calibri"/>
                <a:cs typeface="Calibri"/>
              </a:rPr>
              <a:t>Measures</a:t>
            </a:r>
            <a:r>
              <a:rPr sz="1800" spc="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 </a:t>
            </a:r>
            <a:r>
              <a:rPr sz="1800" spc="-20" dirty="0">
                <a:latin typeface="Calibri"/>
                <a:cs typeface="Calibri"/>
              </a:rPr>
              <a:t>overall</a:t>
            </a:r>
            <a:r>
              <a:rPr sz="1800" spc="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correctness</a:t>
            </a:r>
            <a:r>
              <a:rPr sz="1800" spc="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the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model </a:t>
            </a:r>
            <a:r>
              <a:rPr sz="1800" dirty="0">
                <a:latin typeface="Calibri"/>
                <a:cs typeface="Calibri"/>
              </a:rPr>
              <a:t>It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10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the</a:t>
            </a:r>
            <a:r>
              <a:rPr sz="1800" spc="-8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ratio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correct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predictions</a:t>
            </a:r>
            <a:r>
              <a:rPr sz="1800" spc="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total </a:t>
            </a:r>
            <a:r>
              <a:rPr sz="1900" spc="-10" dirty="0">
                <a:latin typeface="Calibri"/>
                <a:cs typeface="Calibri"/>
              </a:rPr>
              <a:t>predictions</a:t>
            </a:r>
            <a:endParaRPr sz="1900">
              <a:latin typeface="Calibri"/>
              <a:cs typeface="Calibri"/>
            </a:endParaRPr>
          </a:p>
          <a:p>
            <a:pPr marL="267335">
              <a:lnSpc>
                <a:spcPts val="2140"/>
              </a:lnSpc>
            </a:pPr>
            <a:r>
              <a:rPr sz="1800" spc="-10" dirty="0">
                <a:latin typeface="Calibri"/>
                <a:cs typeface="Calibri"/>
              </a:rPr>
              <a:t>Formula:</a:t>
            </a:r>
            <a:endParaRPr sz="1800">
              <a:latin typeface="Calibri"/>
              <a:cs typeface="Calibri"/>
            </a:endParaRPr>
          </a:p>
          <a:p>
            <a:pPr marL="20320">
              <a:lnSpc>
                <a:spcPct val="100000"/>
              </a:lnSpc>
              <a:spcBef>
                <a:spcPts val="50"/>
              </a:spcBef>
            </a:pPr>
            <a:r>
              <a:rPr sz="1750" dirty="0">
                <a:latin typeface="Calibri"/>
                <a:cs typeface="Calibri"/>
              </a:rPr>
              <a:t>Accuracy</a:t>
            </a:r>
            <a:r>
              <a:rPr sz="1750" spc="-5" dirty="0">
                <a:latin typeface="Calibri"/>
                <a:cs typeface="Calibri"/>
              </a:rPr>
              <a:t> </a:t>
            </a:r>
            <a:r>
              <a:rPr sz="1750" dirty="0">
                <a:latin typeface="Calibri"/>
                <a:cs typeface="Calibri"/>
              </a:rPr>
              <a:t>=</a:t>
            </a:r>
            <a:r>
              <a:rPr sz="1750" spc="-10" dirty="0">
                <a:latin typeface="Calibri"/>
                <a:cs typeface="Calibri"/>
              </a:rPr>
              <a:t> </a:t>
            </a:r>
            <a:r>
              <a:rPr sz="1750" dirty="0">
                <a:latin typeface="Calibri"/>
                <a:cs typeface="Calibri"/>
              </a:rPr>
              <a:t>(TP</a:t>
            </a:r>
            <a:r>
              <a:rPr sz="1750" spc="10" dirty="0">
                <a:latin typeface="Calibri"/>
                <a:cs typeface="Calibri"/>
              </a:rPr>
              <a:t> </a:t>
            </a:r>
            <a:r>
              <a:rPr sz="1750" spc="-10" dirty="0">
                <a:latin typeface="Calibri"/>
                <a:cs typeface="Calibri"/>
              </a:rPr>
              <a:t>+</a:t>
            </a:r>
            <a:r>
              <a:rPr sz="1750" spc="25" dirty="0">
                <a:latin typeface="Calibri"/>
                <a:cs typeface="Calibri"/>
              </a:rPr>
              <a:t> </a:t>
            </a:r>
            <a:r>
              <a:rPr sz="1750" dirty="0">
                <a:latin typeface="Calibri"/>
                <a:cs typeface="Calibri"/>
              </a:rPr>
              <a:t>TN)</a:t>
            </a:r>
            <a:r>
              <a:rPr sz="1750" spc="-55" dirty="0">
                <a:latin typeface="Calibri"/>
                <a:cs typeface="Calibri"/>
              </a:rPr>
              <a:t> </a:t>
            </a:r>
            <a:r>
              <a:rPr sz="1750" spc="-155" dirty="0">
                <a:latin typeface="Calibri"/>
                <a:cs typeface="Calibri"/>
              </a:rPr>
              <a:t>/</a:t>
            </a:r>
            <a:r>
              <a:rPr sz="1750" spc="20" dirty="0">
                <a:latin typeface="Calibri"/>
                <a:cs typeface="Calibri"/>
              </a:rPr>
              <a:t> </a:t>
            </a:r>
            <a:r>
              <a:rPr sz="1750" dirty="0">
                <a:latin typeface="Calibri"/>
                <a:cs typeface="Calibri"/>
              </a:rPr>
              <a:t>(TP</a:t>
            </a:r>
            <a:r>
              <a:rPr sz="1750" spc="-25" dirty="0"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0E0E0E"/>
                </a:solidFill>
                <a:latin typeface="Calibri"/>
                <a:cs typeface="Calibri"/>
              </a:rPr>
              <a:t>+</a:t>
            </a:r>
            <a:r>
              <a:rPr sz="1750" spc="65" dirty="0">
                <a:solidFill>
                  <a:srgbClr val="0E0E0E"/>
                </a:solidFill>
                <a:latin typeface="Calibri"/>
                <a:cs typeface="Calibri"/>
              </a:rPr>
              <a:t> </a:t>
            </a:r>
            <a:r>
              <a:rPr sz="1750" dirty="0">
                <a:latin typeface="Calibri"/>
                <a:cs typeface="Calibri"/>
              </a:rPr>
              <a:t>TN</a:t>
            </a:r>
            <a:r>
              <a:rPr sz="1750" spc="40" dirty="0">
                <a:latin typeface="Calibri"/>
                <a:cs typeface="Calibri"/>
              </a:rPr>
              <a:t> </a:t>
            </a:r>
            <a:r>
              <a:rPr sz="1750" spc="-175" dirty="0">
                <a:latin typeface="Calibri"/>
                <a:cs typeface="Calibri"/>
              </a:rPr>
              <a:t>+</a:t>
            </a:r>
            <a:r>
              <a:rPr sz="1750" spc="55" dirty="0">
                <a:latin typeface="Calibri"/>
                <a:cs typeface="Calibri"/>
              </a:rPr>
              <a:t> </a:t>
            </a:r>
            <a:r>
              <a:rPr sz="1750" spc="-10" dirty="0">
                <a:latin typeface="Calibri"/>
                <a:cs typeface="Calibri"/>
              </a:rPr>
              <a:t>FP</a:t>
            </a:r>
            <a:r>
              <a:rPr sz="1750" spc="385" dirty="0"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1A1A1A"/>
                </a:solidFill>
                <a:latin typeface="Calibri"/>
                <a:cs typeface="Calibri"/>
              </a:rPr>
              <a:t>+</a:t>
            </a:r>
            <a:r>
              <a:rPr sz="1750" spc="30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750" spc="-25" dirty="0">
                <a:latin typeface="Calibri"/>
                <a:cs typeface="Calibri"/>
              </a:rPr>
              <a:t>FN)</a:t>
            </a:r>
            <a:endParaRPr sz="1750">
              <a:latin typeface="Calibri"/>
              <a:cs typeface="Calibri"/>
            </a:endParaRPr>
          </a:p>
          <a:p>
            <a:pPr marL="17145">
              <a:lnSpc>
                <a:spcPct val="100000"/>
              </a:lnSpc>
              <a:spcBef>
                <a:spcPts val="60"/>
              </a:spcBef>
            </a:pPr>
            <a:r>
              <a:rPr sz="1800" spc="-10" dirty="0">
                <a:latin typeface="Calibri"/>
                <a:cs typeface="Calibri"/>
              </a:rPr>
              <a:t>Meaning:</a:t>
            </a:r>
            <a:endParaRPr sz="1800">
              <a:latin typeface="Calibri"/>
              <a:cs typeface="Calibri"/>
            </a:endParaRPr>
          </a:p>
          <a:p>
            <a:pPr marL="17145">
              <a:lnSpc>
                <a:spcPct val="100000"/>
              </a:lnSpc>
            </a:pPr>
            <a:r>
              <a:rPr sz="1800" spc="-10" dirty="0">
                <a:latin typeface="Calibri"/>
                <a:cs typeface="Calibri"/>
              </a:rPr>
              <a:t>Higher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accuracy</a:t>
            </a:r>
            <a:r>
              <a:rPr sz="1800" spc="114" dirty="0">
                <a:latin typeface="Calibri"/>
                <a:cs typeface="Calibri"/>
              </a:rPr>
              <a:t> </a:t>
            </a:r>
            <a:r>
              <a:rPr sz="1800" spc="80" dirty="0">
                <a:latin typeface="Calibri"/>
                <a:cs typeface="Calibri"/>
              </a:rPr>
              <a:t>+</a:t>
            </a:r>
            <a:r>
              <a:rPr sz="1800" spc="-10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better</a:t>
            </a:r>
            <a:r>
              <a:rPr sz="1800" spc="5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model </a:t>
            </a:r>
            <a:r>
              <a:rPr sz="1800" spc="-10" dirty="0">
                <a:latin typeface="Calibri"/>
                <a:cs typeface="Calibri"/>
              </a:rPr>
              <a:t>performance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10539" y="6679995"/>
            <a:ext cx="4561205" cy="2517140"/>
          </a:xfrm>
          <a:prstGeom prst="rect">
            <a:avLst/>
          </a:prstGeom>
        </p:spPr>
        <p:txBody>
          <a:bodyPr vert="horz" wrap="square" lIns="0" tIns="144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0"/>
              </a:spcBef>
            </a:pPr>
            <a:r>
              <a:rPr sz="1850" dirty="0">
                <a:latin typeface="Calibri"/>
                <a:cs typeface="Calibri"/>
              </a:rPr>
              <a:t>2.</a:t>
            </a:r>
            <a:r>
              <a:rPr sz="1850" spc="-114" dirty="0">
                <a:latin typeface="Calibri"/>
                <a:cs typeface="Calibri"/>
              </a:rPr>
              <a:t> </a:t>
            </a:r>
            <a:r>
              <a:rPr sz="1850" spc="-10" dirty="0">
                <a:latin typeface="Calibri"/>
                <a:cs typeface="Calibri"/>
              </a:rPr>
              <a:t>Precision</a:t>
            </a:r>
            <a:endParaRPr sz="1850">
              <a:latin typeface="Calibri"/>
              <a:cs typeface="Calibri"/>
            </a:endParaRPr>
          </a:p>
          <a:p>
            <a:pPr marL="255904">
              <a:lnSpc>
                <a:spcPct val="100000"/>
              </a:lnSpc>
              <a:spcBef>
                <a:spcPts val="1045"/>
              </a:spcBef>
            </a:pPr>
            <a:r>
              <a:rPr sz="1850" spc="-25" dirty="0">
                <a:latin typeface="Calibri"/>
                <a:cs typeface="Calibri"/>
              </a:rPr>
              <a:t>Measures</a:t>
            </a:r>
            <a:r>
              <a:rPr sz="1850" spc="-60" dirty="0">
                <a:latin typeface="Calibri"/>
                <a:cs typeface="Calibri"/>
              </a:rPr>
              <a:t> </a:t>
            </a:r>
            <a:r>
              <a:rPr sz="1850" spc="-70" dirty="0">
                <a:latin typeface="Calibri"/>
                <a:cs typeface="Calibri"/>
              </a:rPr>
              <a:t>how</a:t>
            </a:r>
            <a:r>
              <a:rPr sz="1850" spc="-35" dirty="0">
                <a:latin typeface="Calibri"/>
                <a:cs typeface="Calibri"/>
              </a:rPr>
              <a:t> </a:t>
            </a:r>
            <a:r>
              <a:rPr sz="1850" spc="-25" dirty="0">
                <a:latin typeface="Calibri"/>
                <a:cs typeface="Calibri"/>
              </a:rPr>
              <a:t>many</a:t>
            </a:r>
            <a:r>
              <a:rPr sz="1850" spc="5" dirty="0">
                <a:latin typeface="Calibri"/>
                <a:cs typeface="Calibri"/>
              </a:rPr>
              <a:t> </a:t>
            </a:r>
            <a:r>
              <a:rPr sz="1850" spc="-40" dirty="0">
                <a:latin typeface="Calibri"/>
                <a:cs typeface="Calibri"/>
              </a:rPr>
              <a:t>predicted</a:t>
            </a:r>
            <a:r>
              <a:rPr sz="1850" spc="45" dirty="0">
                <a:latin typeface="Calibri"/>
                <a:cs typeface="Calibri"/>
              </a:rPr>
              <a:t> </a:t>
            </a:r>
            <a:r>
              <a:rPr sz="1850" spc="-20" dirty="0">
                <a:latin typeface="Calibri"/>
                <a:cs typeface="Calibri"/>
              </a:rPr>
              <a:t>spam</a:t>
            </a:r>
            <a:endParaRPr sz="1850">
              <a:latin typeface="Calibri"/>
              <a:cs typeface="Calibri"/>
            </a:endParaRPr>
          </a:p>
          <a:p>
            <a:pPr marL="512445" marR="1647825" indent="-254000">
              <a:lnSpc>
                <a:spcPct val="100000"/>
              </a:lnSpc>
              <a:spcBef>
                <a:spcPts val="35"/>
              </a:spcBef>
            </a:pPr>
            <a:r>
              <a:rPr sz="1800" dirty="0">
                <a:latin typeface="Calibri"/>
                <a:cs typeface="Calibri"/>
              </a:rPr>
              <a:t>messages</a:t>
            </a:r>
            <a:r>
              <a:rPr sz="1800" spc="1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are</a:t>
            </a:r>
            <a:r>
              <a:rPr sz="1800" spc="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actually</a:t>
            </a:r>
            <a:r>
              <a:rPr sz="1800" spc="20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spam </a:t>
            </a:r>
            <a:r>
              <a:rPr sz="1800" spc="-10" dirty="0">
                <a:latin typeface="Calibri"/>
                <a:cs typeface="Calibri"/>
              </a:rPr>
              <a:t>Formula:</a:t>
            </a:r>
            <a:endParaRPr sz="1800">
              <a:latin typeface="Calibri"/>
              <a:cs typeface="Calibri"/>
            </a:endParaRPr>
          </a:p>
          <a:p>
            <a:pPr marL="256540">
              <a:lnSpc>
                <a:spcPct val="100000"/>
              </a:lnSpc>
              <a:spcBef>
                <a:spcPts val="50"/>
              </a:spcBef>
            </a:pPr>
            <a:r>
              <a:rPr sz="1750" dirty="0">
                <a:latin typeface="Calibri"/>
                <a:cs typeface="Calibri"/>
              </a:rPr>
              <a:t>Precision</a:t>
            </a:r>
            <a:r>
              <a:rPr sz="1750" spc="70" dirty="0">
                <a:latin typeface="Calibri"/>
                <a:cs typeface="Calibri"/>
              </a:rPr>
              <a:t> </a:t>
            </a:r>
            <a:r>
              <a:rPr sz="1750" dirty="0">
                <a:latin typeface="Calibri"/>
                <a:cs typeface="Calibri"/>
              </a:rPr>
              <a:t>=</a:t>
            </a:r>
            <a:r>
              <a:rPr sz="1750" spc="95" dirty="0">
                <a:latin typeface="Calibri"/>
                <a:cs typeface="Calibri"/>
              </a:rPr>
              <a:t> </a:t>
            </a:r>
            <a:r>
              <a:rPr sz="1750" dirty="0">
                <a:latin typeface="Calibri"/>
                <a:cs typeface="Calibri"/>
              </a:rPr>
              <a:t>TP</a:t>
            </a:r>
            <a:r>
              <a:rPr sz="1750" spc="55" dirty="0">
                <a:latin typeface="Calibri"/>
                <a:cs typeface="Calibri"/>
              </a:rPr>
              <a:t> </a:t>
            </a:r>
            <a:r>
              <a:rPr sz="1750" spc="-155" dirty="0">
                <a:latin typeface="Calibri"/>
                <a:cs typeface="Calibri"/>
              </a:rPr>
              <a:t>/</a:t>
            </a:r>
            <a:r>
              <a:rPr sz="1750" spc="40" dirty="0">
                <a:latin typeface="Calibri"/>
                <a:cs typeface="Calibri"/>
              </a:rPr>
              <a:t> </a:t>
            </a:r>
            <a:r>
              <a:rPr sz="1750" dirty="0">
                <a:latin typeface="Calibri"/>
                <a:cs typeface="Calibri"/>
              </a:rPr>
              <a:t>(TP</a:t>
            </a:r>
            <a:r>
              <a:rPr sz="1750" spc="60" dirty="0">
                <a:latin typeface="Calibri"/>
                <a:cs typeface="Calibri"/>
              </a:rPr>
              <a:t> </a:t>
            </a:r>
            <a:r>
              <a:rPr sz="1750" spc="-175" dirty="0">
                <a:latin typeface="Calibri"/>
                <a:cs typeface="Calibri"/>
              </a:rPr>
              <a:t>+</a:t>
            </a:r>
            <a:r>
              <a:rPr sz="1750" spc="80" dirty="0">
                <a:latin typeface="Calibri"/>
                <a:cs typeface="Calibri"/>
              </a:rPr>
              <a:t> </a:t>
            </a:r>
            <a:r>
              <a:rPr sz="1750" spc="-25" dirty="0">
                <a:latin typeface="Calibri"/>
                <a:cs typeface="Calibri"/>
              </a:rPr>
              <a:t>FP)</a:t>
            </a:r>
            <a:endParaRPr sz="1750">
              <a:latin typeface="Calibri"/>
              <a:cs typeface="Calibri"/>
            </a:endParaRPr>
          </a:p>
          <a:p>
            <a:pPr marL="255904">
              <a:lnSpc>
                <a:spcPct val="100000"/>
              </a:lnSpc>
              <a:spcBef>
                <a:spcPts val="60"/>
              </a:spcBef>
            </a:pPr>
            <a:r>
              <a:rPr sz="1800" spc="-10" dirty="0">
                <a:latin typeface="Calibri"/>
                <a:cs typeface="Calibri"/>
              </a:rPr>
              <a:t>Meaning:</a:t>
            </a:r>
            <a:endParaRPr sz="1800">
              <a:latin typeface="Calibri"/>
              <a:cs typeface="Calibri"/>
            </a:endParaRPr>
          </a:p>
          <a:p>
            <a:pPr marL="259079" marR="5080" indent="-3175">
              <a:lnSpc>
                <a:spcPts val="2210"/>
              </a:lnSpc>
              <a:spcBef>
                <a:spcPts val="30"/>
              </a:spcBef>
            </a:pPr>
            <a:r>
              <a:rPr sz="1800" dirty="0">
                <a:latin typeface="Calibri"/>
                <a:cs typeface="Calibri"/>
              </a:rPr>
              <a:t>High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precision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+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fewer</a:t>
            </a:r>
            <a:r>
              <a:rPr sz="1800" dirty="0">
                <a:latin typeface="Calibri"/>
                <a:cs typeface="Calibri"/>
              </a:rPr>
              <a:t> false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alarms</a:t>
            </a:r>
            <a:r>
              <a:rPr sz="1800" spc="3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(important </a:t>
            </a:r>
            <a:r>
              <a:rPr sz="1800" dirty="0">
                <a:latin typeface="Calibri"/>
                <a:cs typeface="Calibri"/>
              </a:rPr>
              <a:t>for</a:t>
            </a:r>
            <a:r>
              <a:rPr sz="1800" spc="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spam</a:t>
            </a:r>
            <a:r>
              <a:rPr sz="1800" spc="6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detection)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11030779" y="482961"/>
            <a:ext cx="5664200" cy="25622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11760"/>
              </a:lnSpc>
              <a:spcBef>
                <a:spcPts val="95"/>
              </a:spcBef>
            </a:pPr>
            <a:r>
              <a:rPr sz="11000" spc="-705" dirty="0">
                <a:latin typeface="Calibri"/>
                <a:cs typeface="Calibri"/>
              </a:rPr>
              <a:t>er</a:t>
            </a:r>
            <a:r>
              <a:rPr sz="11000" spc="-105" dirty="0">
                <a:latin typeface="Calibri"/>
                <a:cs typeface="Calibri"/>
              </a:rPr>
              <a:t> </a:t>
            </a:r>
            <a:r>
              <a:rPr sz="11000" spc="-869" dirty="0">
                <a:latin typeface="Calibri"/>
                <a:cs typeface="Calibri"/>
              </a:rPr>
              <a:t>ormance</a:t>
            </a:r>
            <a:endParaRPr sz="11000">
              <a:latin typeface="Calibri"/>
              <a:cs typeface="Calibri"/>
            </a:endParaRPr>
          </a:p>
          <a:p>
            <a:pPr marR="450850" algn="ctr">
              <a:lnSpc>
                <a:spcPts val="8220"/>
              </a:lnSpc>
            </a:pPr>
            <a:r>
              <a:rPr sz="8050" dirty="0">
                <a:latin typeface="Calibri"/>
                <a:cs typeface="Calibri"/>
              </a:rPr>
              <a:t>FICS</a:t>
            </a:r>
            <a:r>
              <a:rPr sz="8050" spc="-330" dirty="0">
                <a:latin typeface="Calibri"/>
                <a:cs typeface="Calibri"/>
              </a:rPr>
              <a:t> </a:t>
            </a:r>
            <a:r>
              <a:rPr sz="8050" dirty="0">
                <a:latin typeface="Calibri"/>
                <a:cs typeface="Calibri"/>
              </a:rPr>
              <a:t>O</a:t>
            </a:r>
            <a:endParaRPr sz="80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0224" y="2480336"/>
            <a:ext cx="8101583" cy="677674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50" dirty="0"/>
              <a:t>3</a:t>
            </a:r>
            <a:r>
              <a:rPr spc="-360" dirty="0"/>
              <a:t> </a:t>
            </a:r>
            <a:r>
              <a:rPr spc="-170" dirty="0"/>
              <a:t>FI-</a:t>
            </a:r>
            <a:r>
              <a:rPr spc="-190" dirty="0"/>
              <a:t>Score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0824543" y="1748522"/>
            <a:ext cx="4904740" cy="4318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2890" marR="1304925" indent="-25019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Harmonic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mean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precision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8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recall Formula:</a:t>
            </a:r>
            <a:endParaRPr sz="1800">
              <a:latin typeface="Calibri"/>
              <a:cs typeface="Calibri"/>
            </a:endParaRPr>
          </a:p>
          <a:p>
            <a:pPr marL="12700" marR="5080">
              <a:lnSpc>
                <a:spcPts val="2210"/>
              </a:lnSpc>
              <a:spcBef>
                <a:spcPts val="30"/>
              </a:spcBef>
            </a:pPr>
            <a:r>
              <a:rPr sz="1800" spc="-50" dirty="0">
                <a:latin typeface="Calibri"/>
                <a:cs typeface="Calibri"/>
              </a:rPr>
              <a:t>F1-</a:t>
            </a:r>
            <a:r>
              <a:rPr sz="1800" spc="-10" dirty="0">
                <a:latin typeface="Calibri"/>
                <a:cs typeface="Calibri"/>
              </a:rPr>
              <a:t>score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spc="-170" dirty="0">
                <a:latin typeface="Calibri"/>
                <a:cs typeface="Calibri"/>
              </a:rPr>
              <a:t>=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50" dirty="0">
                <a:latin typeface="Calibri"/>
                <a:cs typeface="Calibri"/>
              </a:rPr>
              <a:t>2</a:t>
            </a:r>
            <a:r>
              <a:rPr sz="1800" spc="-120" dirty="0">
                <a:latin typeface="Calibri"/>
                <a:cs typeface="Calibri"/>
              </a:rPr>
              <a:t> </a:t>
            </a:r>
            <a:r>
              <a:rPr sz="1800" spc="-160" dirty="0">
                <a:latin typeface="Calibri"/>
                <a:cs typeface="Calibri"/>
              </a:rPr>
              <a:t>*</a:t>
            </a:r>
            <a:r>
              <a:rPr sz="1800" spc="-8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(Precision</a:t>
            </a:r>
            <a:r>
              <a:rPr sz="1800" spc="-80" dirty="0">
                <a:latin typeface="Calibri"/>
                <a:cs typeface="Calibri"/>
              </a:rPr>
              <a:t> </a:t>
            </a:r>
            <a:r>
              <a:rPr sz="1800" spc="-225" dirty="0">
                <a:latin typeface="Calibri"/>
                <a:cs typeface="Calibri"/>
              </a:rPr>
              <a:t>*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Recall)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190" dirty="0">
                <a:latin typeface="Calibri"/>
                <a:cs typeface="Calibri"/>
              </a:rPr>
              <a:t>/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(Precision</a:t>
            </a:r>
            <a:r>
              <a:rPr sz="1800" spc="50" dirty="0">
                <a:latin typeface="Calibri"/>
                <a:cs typeface="Calibri"/>
              </a:rPr>
              <a:t> </a:t>
            </a:r>
            <a:r>
              <a:rPr sz="1800" spc="-204" dirty="0">
                <a:latin typeface="Calibri"/>
                <a:cs typeface="Calibri"/>
              </a:rPr>
              <a:t>+</a:t>
            </a:r>
            <a:r>
              <a:rPr sz="1800" spc="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Recall) Meaning: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ts val="2085"/>
              </a:lnSpc>
            </a:pPr>
            <a:r>
              <a:rPr sz="1850" dirty="0">
                <a:latin typeface="Calibri"/>
                <a:cs typeface="Calibri"/>
              </a:rPr>
              <a:t>Balances</a:t>
            </a:r>
            <a:r>
              <a:rPr sz="1850" spc="-100" dirty="0">
                <a:latin typeface="Calibri"/>
                <a:cs typeface="Calibri"/>
              </a:rPr>
              <a:t> </a:t>
            </a:r>
            <a:r>
              <a:rPr sz="1850" spc="-10" dirty="0">
                <a:latin typeface="Calibri"/>
                <a:cs typeface="Calibri"/>
              </a:rPr>
              <a:t>precision</a:t>
            </a:r>
            <a:r>
              <a:rPr sz="1850" spc="-60" dirty="0">
                <a:latin typeface="Calibri"/>
                <a:cs typeface="Calibri"/>
              </a:rPr>
              <a:t> </a:t>
            </a:r>
            <a:r>
              <a:rPr sz="1850" spc="-40" dirty="0">
                <a:latin typeface="Calibri"/>
                <a:cs typeface="Calibri"/>
              </a:rPr>
              <a:t>and</a:t>
            </a:r>
            <a:r>
              <a:rPr sz="1850" spc="-65" dirty="0">
                <a:latin typeface="Calibri"/>
                <a:cs typeface="Calibri"/>
              </a:rPr>
              <a:t> </a:t>
            </a:r>
            <a:r>
              <a:rPr sz="1850" spc="-10" dirty="0">
                <a:latin typeface="Calibri"/>
                <a:cs typeface="Calibri"/>
              </a:rPr>
              <a:t>recall</a:t>
            </a:r>
            <a:endParaRPr sz="18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35"/>
              </a:spcBef>
            </a:pPr>
            <a:endParaRPr sz="1850">
              <a:latin typeface="Calibri"/>
              <a:cs typeface="Calibri"/>
            </a:endParaRPr>
          </a:p>
          <a:p>
            <a:pPr marL="17145">
              <a:lnSpc>
                <a:spcPct val="100000"/>
              </a:lnSpc>
            </a:pPr>
            <a:r>
              <a:rPr sz="1900" spc="50" dirty="0">
                <a:latin typeface="Arial MT"/>
                <a:cs typeface="Arial MT"/>
              </a:rPr>
              <a:t>4.</a:t>
            </a:r>
            <a:r>
              <a:rPr sz="1900" spc="-195" dirty="0">
                <a:latin typeface="Arial MT"/>
                <a:cs typeface="Arial MT"/>
              </a:rPr>
              <a:t> </a:t>
            </a:r>
            <a:r>
              <a:rPr sz="1900" spc="70" dirty="0">
                <a:latin typeface="Arial MT"/>
                <a:cs typeface="Arial MT"/>
              </a:rPr>
              <a:t>Confusion</a:t>
            </a:r>
            <a:r>
              <a:rPr sz="1900" spc="5" dirty="0">
                <a:latin typeface="Arial MT"/>
                <a:cs typeface="Arial MT"/>
              </a:rPr>
              <a:t> </a:t>
            </a:r>
            <a:r>
              <a:rPr sz="1900" spc="110" dirty="0">
                <a:latin typeface="Arial MT"/>
                <a:cs typeface="Arial MT"/>
              </a:rPr>
              <a:t>Matrix</a:t>
            </a:r>
            <a:endParaRPr sz="1900">
              <a:latin typeface="Arial MT"/>
              <a:cs typeface="Arial MT"/>
            </a:endParaRPr>
          </a:p>
          <a:p>
            <a:pPr marL="65405" marR="777875" indent="-45085">
              <a:lnSpc>
                <a:spcPts val="2210"/>
              </a:lnSpc>
              <a:spcBef>
                <a:spcPts val="60"/>
              </a:spcBef>
            </a:pPr>
            <a:r>
              <a:rPr sz="1600" spc="-185" dirty="0">
                <a:latin typeface="Arial MT"/>
                <a:cs typeface="Arial MT"/>
              </a:rPr>
              <a:t>A</a:t>
            </a:r>
            <a:r>
              <a:rPr sz="1600" spc="5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table</a:t>
            </a:r>
            <a:r>
              <a:rPr sz="1600" spc="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used</a:t>
            </a:r>
            <a:r>
              <a:rPr sz="1600" spc="35" dirty="0">
                <a:latin typeface="Arial MT"/>
                <a:cs typeface="Arial MT"/>
              </a:rPr>
              <a:t> </a:t>
            </a:r>
            <a:r>
              <a:rPr sz="1600" spc="55" dirty="0">
                <a:latin typeface="Arial MT"/>
                <a:cs typeface="Arial MT"/>
              </a:rPr>
              <a:t>to</a:t>
            </a:r>
            <a:r>
              <a:rPr sz="1600" spc="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visualize</a:t>
            </a:r>
            <a:r>
              <a:rPr sz="1600" spc="9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model</a:t>
            </a:r>
            <a:r>
              <a:rPr sz="1600" spc="12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performance </a:t>
            </a:r>
            <a:r>
              <a:rPr sz="1600" dirty="0">
                <a:latin typeface="Arial MT"/>
                <a:cs typeface="Arial MT"/>
              </a:rPr>
              <a:t>Predicted</a:t>
            </a:r>
            <a:r>
              <a:rPr sz="1600" spc="18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Spam</a:t>
            </a:r>
            <a:r>
              <a:rPr sz="1600" spc="8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Predicted</a:t>
            </a:r>
            <a:r>
              <a:rPr sz="1600" spc="150" dirty="0">
                <a:latin typeface="Arial MT"/>
                <a:cs typeface="Arial MT"/>
              </a:rPr>
              <a:t> </a:t>
            </a:r>
            <a:r>
              <a:rPr sz="1600" spc="-25" dirty="0">
                <a:latin typeface="Arial MT"/>
                <a:cs typeface="Arial MT"/>
              </a:rPr>
              <a:t>Ham</a:t>
            </a:r>
            <a:endParaRPr sz="1600">
              <a:latin typeface="Arial MT"/>
              <a:cs typeface="Arial MT"/>
            </a:endParaRPr>
          </a:p>
          <a:p>
            <a:pPr marL="20320">
              <a:lnSpc>
                <a:spcPct val="100000"/>
              </a:lnSpc>
              <a:spcBef>
                <a:spcPts val="114"/>
              </a:spcBef>
            </a:pPr>
            <a:r>
              <a:rPr sz="1600" dirty="0">
                <a:latin typeface="Arial MT"/>
                <a:cs typeface="Arial MT"/>
              </a:rPr>
              <a:t>Actual</a:t>
            </a:r>
            <a:r>
              <a:rPr sz="1600" spc="1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Spam</a:t>
            </a:r>
            <a:r>
              <a:rPr sz="1600" spc="5" dirty="0">
                <a:latin typeface="Arial MT"/>
                <a:cs typeface="Arial MT"/>
              </a:rPr>
              <a:t> </a:t>
            </a:r>
            <a:r>
              <a:rPr sz="1600" spc="-125" dirty="0">
                <a:latin typeface="Arial MT"/>
                <a:cs typeface="Arial MT"/>
              </a:rPr>
              <a:t>TP</a:t>
            </a:r>
            <a:r>
              <a:rPr sz="1600" spc="15" dirty="0">
                <a:latin typeface="Arial MT"/>
                <a:cs typeface="Arial MT"/>
              </a:rPr>
              <a:t> </a:t>
            </a:r>
            <a:r>
              <a:rPr sz="1600" spc="-25" dirty="0">
                <a:latin typeface="Arial MT"/>
                <a:cs typeface="Arial MT"/>
              </a:rPr>
              <a:t>FN</a:t>
            </a:r>
            <a:endParaRPr sz="1600">
              <a:latin typeface="Arial MT"/>
              <a:cs typeface="Arial MT"/>
            </a:endParaRPr>
          </a:p>
          <a:p>
            <a:pPr marL="20320">
              <a:lnSpc>
                <a:spcPct val="100000"/>
              </a:lnSpc>
              <a:spcBef>
                <a:spcPts val="240"/>
              </a:spcBef>
            </a:pPr>
            <a:r>
              <a:rPr sz="1600" dirty="0">
                <a:latin typeface="Arial MT"/>
                <a:cs typeface="Arial MT"/>
              </a:rPr>
              <a:t>Actual Ham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spc="-90" dirty="0">
                <a:latin typeface="Arial MT"/>
                <a:cs typeface="Arial MT"/>
              </a:rPr>
              <a:t>FP</a:t>
            </a:r>
            <a:r>
              <a:rPr sz="1600" spc="-25" dirty="0">
                <a:latin typeface="Arial MT"/>
                <a:cs typeface="Arial MT"/>
              </a:rPr>
              <a:t> TN</a:t>
            </a:r>
            <a:endParaRPr sz="1600">
              <a:latin typeface="Arial MT"/>
              <a:cs typeface="Arial MT"/>
            </a:endParaRPr>
          </a:p>
          <a:p>
            <a:pPr marL="17145" marR="1419225" indent="247650">
              <a:lnSpc>
                <a:spcPts val="2210"/>
              </a:lnSpc>
              <a:spcBef>
                <a:spcPts val="70"/>
              </a:spcBef>
            </a:pPr>
            <a:r>
              <a:rPr sz="1600" dirty="0">
                <a:latin typeface="Arial MT"/>
                <a:cs typeface="Arial MT"/>
              </a:rPr>
              <a:t>Typical</a:t>
            </a:r>
            <a:r>
              <a:rPr sz="1600" spc="-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Results</a:t>
            </a:r>
            <a:r>
              <a:rPr sz="1600" spc="35" dirty="0">
                <a:latin typeface="Arial MT"/>
                <a:cs typeface="Arial MT"/>
              </a:rPr>
              <a:t> </a:t>
            </a:r>
            <a:r>
              <a:rPr sz="1600" spc="-30" dirty="0">
                <a:latin typeface="Arial MT"/>
                <a:cs typeface="Arial MT"/>
              </a:rPr>
              <a:t>(Your</a:t>
            </a:r>
            <a:r>
              <a:rPr sz="1600" spc="4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Project) </a:t>
            </a:r>
            <a:r>
              <a:rPr sz="1600" dirty="0">
                <a:latin typeface="Arial MT"/>
                <a:cs typeface="Arial MT"/>
              </a:rPr>
              <a:t>Logistic</a:t>
            </a:r>
            <a:r>
              <a:rPr sz="1600" spc="1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Regression</a:t>
            </a:r>
            <a:r>
              <a:rPr sz="1600" spc="6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+</a:t>
            </a:r>
            <a:r>
              <a:rPr sz="1600" spc="6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-</a:t>
            </a:r>
            <a:r>
              <a:rPr sz="1600" spc="90" dirty="0">
                <a:latin typeface="Arial MT"/>
                <a:cs typeface="Arial MT"/>
              </a:rPr>
              <a:t>95%</a:t>
            </a:r>
            <a:r>
              <a:rPr sz="1600" spc="7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Accuracy</a:t>
            </a:r>
            <a:endParaRPr sz="1600">
              <a:latin typeface="Arial MT"/>
              <a:cs typeface="Arial MT"/>
            </a:endParaRPr>
          </a:p>
          <a:p>
            <a:pPr marL="17145">
              <a:lnSpc>
                <a:spcPct val="100000"/>
              </a:lnSpc>
              <a:spcBef>
                <a:spcPts val="165"/>
              </a:spcBef>
              <a:tabLst>
                <a:tab pos="2745105" algn="l"/>
              </a:tabLst>
            </a:pPr>
            <a:r>
              <a:rPr sz="1550" spc="-10" dirty="0">
                <a:latin typeface="Arial MT"/>
                <a:cs typeface="Arial MT"/>
              </a:rPr>
              <a:t>SVM</a:t>
            </a:r>
            <a:r>
              <a:rPr sz="1550" spc="-50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e</a:t>
            </a:r>
            <a:r>
              <a:rPr sz="1550" spc="65" dirty="0">
                <a:latin typeface="Arial MT"/>
                <a:cs typeface="Arial MT"/>
              </a:rPr>
              <a:t> </a:t>
            </a:r>
            <a:r>
              <a:rPr sz="1550" spc="-40" dirty="0">
                <a:latin typeface="Arial MT"/>
                <a:cs typeface="Arial MT"/>
              </a:rPr>
              <a:t>-</a:t>
            </a:r>
            <a:r>
              <a:rPr sz="1550" spc="-65" dirty="0">
                <a:latin typeface="Arial MT"/>
                <a:cs typeface="Arial MT"/>
              </a:rPr>
              <a:t>97—</a:t>
            </a:r>
            <a:r>
              <a:rPr sz="1550" dirty="0">
                <a:latin typeface="Arial MT"/>
                <a:cs typeface="Arial MT"/>
              </a:rPr>
              <a:t>99%</a:t>
            </a:r>
            <a:r>
              <a:rPr sz="1550" spc="-25" dirty="0">
                <a:latin typeface="Arial MT"/>
                <a:cs typeface="Arial MT"/>
              </a:rPr>
              <a:t> </a:t>
            </a:r>
            <a:r>
              <a:rPr sz="1550" spc="-10" dirty="0">
                <a:latin typeface="Arial MT"/>
                <a:cs typeface="Arial MT"/>
              </a:rPr>
              <a:t>Accuracy</a:t>
            </a:r>
            <a:r>
              <a:rPr sz="1550" dirty="0">
                <a:latin typeface="Arial MT"/>
                <a:cs typeface="Arial MT"/>
              </a:rPr>
              <a:t>	</a:t>
            </a:r>
            <a:r>
              <a:rPr sz="1550" spc="-10" dirty="0">
                <a:latin typeface="Arial MT"/>
                <a:cs typeface="Arial MT"/>
              </a:rPr>
              <a:t>(Best)</a:t>
            </a:r>
            <a:endParaRPr sz="1550">
              <a:latin typeface="Arial MT"/>
              <a:cs typeface="Arial MT"/>
            </a:endParaRPr>
          </a:p>
          <a:p>
            <a:pPr marL="17780">
              <a:lnSpc>
                <a:spcPct val="100000"/>
              </a:lnSpc>
              <a:spcBef>
                <a:spcPts val="325"/>
              </a:spcBef>
            </a:pPr>
            <a:r>
              <a:rPr sz="1550" dirty="0">
                <a:latin typeface="Arial MT"/>
                <a:cs typeface="Arial MT"/>
              </a:rPr>
              <a:t>KNN</a:t>
            </a:r>
            <a:r>
              <a:rPr sz="1550" spc="-35" dirty="0">
                <a:latin typeface="Arial MT"/>
                <a:cs typeface="Arial MT"/>
              </a:rPr>
              <a:t> </a:t>
            </a:r>
            <a:r>
              <a:rPr sz="1550" spc="-190" dirty="0">
                <a:latin typeface="Arial MT"/>
                <a:cs typeface="Arial MT"/>
              </a:rPr>
              <a:t>-</a:t>
            </a:r>
            <a:r>
              <a:rPr sz="1550" spc="-315" dirty="0">
                <a:latin typeface="Arial MT"/>
                <a:cs typeface="Arial MT"/>
              </a:rPr>
              <a:t>+</a:t>
            </a:r>
            <a:r>
              <a:rPr sz="1550" spc="35" dirty="0">
                <a:latin typeface="Arial MT"/>
                <a:cs typeface="Arial MT"/>
              </a:rPr>
              <a:t> </a:t>
            </a:r>
            <a:r>
              <a:rPr sz="1550" spc="-10" dirty="0">
                <a:latin typeface="Arial MT"/>
                <a:cs typeface="Arial MT"/>
              </a:rPr>
              <a:t>-90—</a:t>
            </a:r>
            <a:r>
              <a:rPr sz="1550" dirty="0">
                <a:latin typeface="Arial MT"/>
                <a:cs typeface="Arial MT"/>
              </a:rPr>
              <a:t>95%</a:t>
            </a:r>
            <a:r>
              <a:rPr sz="1550" spc="85" dirty="0">
                <a:latin typeface="Arial MT"/>
                <a:cs typeface="Arial MT"/>
              </a:rPr>
              <a:t> </a:t>
            </a:r>
            <a:r>
              <a:rPr sz="1550" spc="-10" dirty="0">
                <a:latin typeface="Arial MT"/>
                <a:cs typeface="Arial MT"/>
              </a:rPr>
              <a:t>Accuracy</a:t>
            </a:r>
            <a:endParaRPr sz="15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65647" y="3260393"/>
            <a:ext cx="7991856" cy="477784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90143" y="1200556"/>
            <a:ext cx="792480" cy="88365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55775" y="1029917"/>
            <a:ext cx="2023872" cy="128587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364991" y="1036012"/>
            <a:ext cx="1920239" cy="1048201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4971019" y="5153335"/>
            <a:ext cx="217170" cy="953769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590"/>
              </a:lnSpc>
            </a:pPr>
            <a:r>
              <a:rPr sz="1350" spc="-70" dirty="0">
                <a:solidFill>
                  <a:srgbClr val="242424"/>
                </a:solidFill>
                <a:latin typeface="Arial MT"/>
                <a:cs typeface="Arial MT"/>
              </a:rPr>
              <a:t>Accuracy</a:t>
            </a:r>
            <a:r>
              <a:rPr sz="1350" spc="10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1350" spc="-110" dirty="0">
                <a:solidFill>
                  <a:srgbClr val="414141"/>
                </a:solidFill>
                <a:latin typeface="Arial MT"/>
                <a:cs typeface="Arial MT"/>
              </a:rPr>
              <a:t>(36)</a:t>
            </a:r>
            <a:endParaRPr sz="135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235863" y="3140537"/>
            <a:ext cx="278130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spc="-95" dirty="0">
                <a:solidFill>
                  <a:srgbClr val="212121"/>
                </a:solidFill>
                <a:latin typeface="Courier New"/>
                <a:cs typeface="Courier New"/>
              </a:rPr>
              <a:t>100</a:t>
            </a:r>
            <a:endParaRPr sz="13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326051" y="4097834"/>
            <a:ext cx="1911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1F1F1F"/>
                </a:solidFill>
                <a:latin typeface="Consolas"/>
                <a:cs typeface="Consolas"/>
              </a:rPr>
              <a:t>98</a:t>
            </a:r>
            <a:endParaRPr sz="1200">
              <a:latin typeface="Consolas"/>
              <a:cs typeface="Consola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326360" y="5048782"/>
            <a:ext cx="189865" cy="200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spc="-25" dirty="0">
                <a:solidFill>
                  <a:srgbClr val="1C1C1C"/>
                </a:solidFill>
                <a:latin typeface="Cambria"/>
                <a:cs typeface="Cambria"/>
              </a:rPr>
              <a:t>9b</a:t>
            </a:r>
            <a:endParaRPr sz="1150">
              <a:latin typeface="Cambria"/>
              <a:cs typeface="Cambr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326051" y="6925540"/>
            <a:ext cx="1873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latin typeface="Cambria"/>
                <a:cs typeface="Cambria"/>
              </a:rPr>
              <a:t>92</a:t>
            </a:r>
            <a:endParaRPr sz="1200">
              <a:latin typeface="Cambria"/>
              <a:cs typeface="Cambr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325740" y="7869886"/>
            <a:ext cx="187960" cy="215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spc="-25" dirty="0">
                <a:solidFill>
                  <a:srgbClr val="2F2F2F"/>
                </a:solidFill>
                <a:latin typeface="Consolas"/>
                <a:cs typeface="Consolas"/>
              </a:rPr>
              <a:t>90</a:t>
            </a:r>
            <a:endParaRPr sz="1250">
              <a:latin typeface="Consolas"/>
              <a:cs typeface="Consola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296652" y="5155176"/>
            <a:ext cx="5416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131313"/>
                </a:solidFill>
                <a:latin typeface="Calibri"/>
                <a:cs typeface="Calibri"/>
              </a:rPr>
              <a:t>95.43°A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477489" y="7949364"/>
            <a:ext cx="1593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2F2F2F"/>
                </a:solidFill>
                <a:latin typeface="Cambria"/>
                <a:cs typeface="Cambria"/>
              </a:rPr>
              <a:t>u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883375" y="2968631"/>
            <a:ext cx="3359150" cy="2616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50" dirty="0">
                <a:solidFill>
                  <a:srgbClr val="181818"/>
                </a:solidFill>
                <a:latin typeface="Calibri"/>
                <a:cs typeface="Calibri"/>
              </a:rPr>
              <a:t>Model</a:t>
            </a:r>
            <a:r>
              <a:rPr sz="1550" spc="290" dirty="0">
                <a:solidFill>
                  <a:srgbClr val="181818"/>
                </a:solidFill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Accuracy</a:t>
            </a:r>
            <a:r>
              <a:rPr sz="1550" spc="385" dirty="0"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161616"/>
                </a:solidFill>
                <a:latin typeface="Calibri"/>
                <a:cs typeface="Calibri"/>
              </a:rPr>
              <a:t>Comparison</a:t>
            </a:r>
            <a:r>
              <a:rPr sz="1550" spc="375" dirty="0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0E0E0E"/>
                </a:solidFill>
                <a:latin typeface="Calibri"/>
                <a:cs typeface="Calibri"/>
              </a:rPr>
              <a:t>(90-</a:t>
            </a:r>
            <a:r>
              <a:rPr sz="1550" spc="-10" dirty="0">
                <a:solidFill>
                  <a:srgbClr val="0E0E0E"/>
                </a:solidFill>
                <a:latin typeface="Calibri"/>
                <a:cs typeface="Calibri"/>
              </a:rPr>
              <a:t>100%)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800716" y="4018356"/>
            <a:ext cx="550545" cy="215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spc="-10" dirty="0">
                <a:solidFill>
                  <a:srgbClr val="2F2F2F"/>
                </a:solidFill>
                <a:latin typeface="Cambria"/>
                <a:cs typeface="Cambria"/>
              </a:rPr>
              <a:t>97.85%</a:t>
            </a:r>
            <a:endParaRPr sz="1250">
              <a:latin typeface="Cambria"/>
              <a:cs typeface="Cambri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915343" y="8015892"/>
            <a:ext cx="308610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spc="-25" dirty="0">
                <a:solidFill>
                  <a:srgbClr val="242424"/>
                </a:solidFill>
                <a:latin typeface="Consolas"/>
                <a:cs typeface="Consolas"/>
              </a:rPr>
              <a:t>SVM</a:t>
            </a:r>
            <a:endParaRPr sz="1300">
              <a:latin typeface="Consolas"/>
              <a:cs typeface="Consola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292011" y="6760488"/>
            <a:ext cx="570230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spc="60" dirty="0">
                <a:solidFill>
                  <a:srgbClr val="212121"/>
                </a:solidFill>
                <a:latin typeface="Courier New"/>
                <a:cs typeface="Courier New"/>
              </a:rPr>
              <a:t>9K02%</a:t>
            </a:r>
            <a:endParaRPr sz="1300">
              <a:latin typeface="Courier New"/>
              <a:cs typeface="Courier New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9317666" y="8004517"/>
            <a:ext cx="509905" cy="433705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40"/>
              </a:spcBef>
            </a:pPr>
            <a:r>
              <a:rPr sz="1250" spc="-25" dirty="0">
                <a:solidFill>
                  <a:srgbClr val="0E0E0E"/>
                </a:solidFill>
                <a:latin typeface="Cambria"/>
                <a:cs typeface="Cambria"/>
              </a:rPr>
              <a:t>KNN</a:t>
            </a:r>
            <a:endParaRPr sz="1250">
              <a:latin typeface="Cambria"/>
              <a:cs typeface="Cambria"/>
            </a:endParaRPr>
          </a:p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sz="1200" spc="-10" dirty="0">
                <a:solidFill>
                  <a:srgbClr val="161616"/>
                </a:solidFill>
                <a:latin typeface="Cambria"/>
                <a:cs typeface="Cambria"/>
              </a:rPr>
              <a:t>Models</a:t>
            </a:r>
            <a:endParaRPr sz="1200">
              <a:latin typeface="Cambria"/>
              <a:cs typeface="Cambri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0799947" y="4219462"/>
            <a:ext cx="545465" cy="215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spc="-10" dirty="0">
                <a:solidFill>
                  <a:srgbClr val="1A1A1A"/>
                </a:solidFill>
                <a:latin typeface="Cambria"/>
                <a:cs typeface="Cambria"/>
              </a:rPr>
              <a:t>97.40%</a:t>
            </a:r>
            <a:endParaRPr sz="1250">
              <a:latin typeface="Cambria"/>
              <a:cs typeface="Cambri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0688593" y="8019194"/>
            <a:ext cx="763905" cy="215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spc="-20" dirty="0">
                <a:solidFill>
                  <a:srgbClr val="2A2A2A"/>
                </a:solidFill>
                <a:latin typeface="Cambria"/>
                <a:cs typeface="Cambria"/>
              </a:rPr>
              <a:t>Perceptron</a:t>
            </a:r>
            <a:endParaRPr sz="1250">
              <a:latin typeface="Cambria"/>
              <a:cs typeface="Cambri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2291241" y="5023644"/>
            <a:ext cx="570230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spc="60" dirty="0">
                <a:solidFill>
                  <a:srgbClr val="181818"/>
                </a:solidFill>
                <a:latin typeface="Courier New"/>
                <a:cs typeface="Courier New"/>
              </a:rPr>
              <a:t>9570%</a:t>
            </a:r>
            <a:endParaRPr sz="1300">
              <a:latin typeface="Courier New"/>
              <a:cs typeface="Courier New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2102570" y="8012845"/>
            <a:ext cx="960755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spc="-20" dirty="0">
                <a:solidFill>
                  <a:srgbClr val="282828"/>
                </a:solidFill>
                <a:latin typeface="Cambria"/>
                <a:cs typeface="Cambria"/>
              </a:rPr>
              <a:t>Decision</a:t>
            </a:r>
            <a:r>
              <a:rPr sz="1300" spc="95" dirty="0">
                <a:solidFill>
                  <a:srgbClr val="282828"/>
                </a:solidFill>
                <a:latin typeface="Cambria"/>
                <a:cs typeface="Cambria"/>
              </a:rPr>
              <a:t> </a:t>
            </a:r>
            <a:r>
              <a:rPr sz="1300" spc="-50" dirty="0">
                <a:solidFill>
                  <a:srgbClr val="333333"/>
                </a:solidFill>
                <a:latin typeface="Cambria"/>
                <a:cs typeface="Cambria"/>
              </a:rPr>
              <a:t>Tree</a:t>
            </a:r>
            <a:endParaRPr sz="13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49567" y="2242663"/>
            <a:ext cx="7455408" cy="5582282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5614226" y="4395230"/>
            <a:ext cx="281305" cy="130302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30" dirty="0">
                <a:solidFill>
                  <a:srgbClr val="1C1C1C"/>
                </a:solidFill>
                <a:latin typeface="Arial MT"/>
                <a:cs typeface="Arial MT"/>
              </a:rPr>
              <a:t>Accuracy</a:t>
            </a:r>
            <a:r>
              <a:rPr sz="1800" spc="-70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800" spc="-465" dirty="0">
                <a:solidFill>
                  <a:srgbClr val="3A3A3A"/>
                </a:solidFill>
                <a:latin typeface="Arial MT"/>
                <a:cs typeface="Arial MT"/>
              </a:rPr>
              <a:t>(</a:t>
            </a:r>
            <a:r>
              <a:rPr sz="1800" spc="229" dirty="0">
                <a:solidFill>
                  <a:srgbClr val="3A3A3A"/>
                </a:solidFill>
                <a:latin typeface="Arial MT"/>
                <a:cs typeface="Arial MT"/>
              </a:rPr>
              <a:t> </a:t>
            </a:r>
            <a:r>
              <a:rPr sz="1800" spc="-200" dirty="0">
                <a:solidFill>
                  <a:srgbClr val="3A3A3A"/>
                </a:solidFill>
                <a:latin typeface="Arial MT"/>
                <a:cs typeface="Arial MT"/>
              </a:rPr>
              <a:t>•a)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443216" y="7904170"/>
            <a:ext cx="213359" cy="15235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5971092" y="2077100"/>
            <a:ext cx="399415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-145" dirty="0">
                <a:solidFill>
                  <a:srgbClr val="181818"/>
                </a:solidFill>
                <a:latin typeface="Courier New"/>
                <a:cs typeface="Courier New"/>
              </a:rPr>
              <a:t>100</a:t>
            </a:r>
            <a:endParaRPr sz="19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087473" y="3180150"/>
            <a:ext cx="295275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-50" dirty="0">
                <a:solidFill>
                  <a:srgbClr val="282828"/>
                </a:solidFill>
                <a:latin typeface="Courier New"/>
                <a:cs typeface="Courier New"/>
              </a:rPr>
              <a:t>98</a:t>
            </a:r>
            <a:endParaRPr sz="19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108713" y="4289801"/>
            <a:ext cx="2609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5" dirty="0">
                <a:solidFill>
                  <a:srgbClr val="0F0F0F"/>
                </a:solidFill>
                <a:latin typeface="Cambria"/>
                <a:cs typeface="Cambria"/>
              </a:rPr>
              <a:t>96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163321" y="4408637"/>
            <a:ext cx="7740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mbria"/>
                <a:cs typeface="Cambria"/>
              </a:rPr>
              <a:t>95.43%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108713" y="6489805"/>
            <a:ext cx="25590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75" dirty="0">
                <a:solidFill>
                  <a:srgbClr val="1A1A1A"/>
                </a:solidFill>
                <a:latin typeface="Cambria"/>
                <a:cs typeface="Cambria"/>
              </a:rPr>
              <a:t>92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087473" y="7561874"/>
            <a:ext cx="295275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-50" dirty="0">
                <a:solidFill>
                  <a:srgbClr val="2B2B2B"/>
                </a:solidFill>
                <a:latin typeface="Courier New"/>
                <a:cs typeface="Courier New"/>
              </a:rPr>
              <a:t>90</a:t>
            </a:r>
            <a:endParaRPr sz="19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931781" y="3083657"/>
            <a:ext cx="77533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0" dirty="0">
                <a:solidFill>
                  <a:srgbClr val="232323"/>
                </a:solidFill>
                <a:latin typeface="Cambria"/>
                <a:cs typeface="Cambria"/>
              </a:rPr>
              <a:t>97.85%</a:t>
            </a:r>
            <a:endParaRPr sz="1700">
              <a:latin typeface="Cambria"/>
              <a:cs typeface="Cambr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084546" y="7793201"/>
            <a:ext cx="440055" cy="322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50" spc="-80" dirty="0">
                <a:solidFill>
                  <a:srgbClr val="262626"/>
                </a:solidFill>
                <a:latin typeface="Courier New"/>
                <a:cs typeface="Courier New"/>
              </a:rPr>
              <a:t>SVM</a:t>
            </a:r>
            <a:endParaRPr sz="195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698691" y="6276254"/>
            <a:ext cx="779145" cy="3073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50" spc="-30" dirty="0">
                <a:solidFill>
                  <a:srgbClr val="151515"/>
                </a:solidFill>
                <a:latin typeface="Cambria"/>
                <a:cs typeface="Cambria"/>
              </a:rPr>
              <a:t>92.02%</a:t>
            </a:r>
            <a:endParaRPr sz="1850">
              <a:latin typeface="Cambria"/>
              <a:cs typeface="Cambr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0844431" y="7824941"/>
            <a:ext cx="33972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25" dirty="0">
                <a:latin typeface="Calibri"/>
                <a:cs typeface="Calibri"/>
              </a:rPr>
              <a:t>MN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2429869" y="3336567"/>
            <a:ext cx="90170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700" spc="-10" dirty="0">
                <a:solidFill>
                  <a:srgbClr val="181818"/>
                </a:solidFill>
                <a:latin typeface="Cambria"/>
                <a:cs typeface="Cambria"/>
              </a:rPr>
              <a:t>97.40</a:t>
            </a:r>
            <a:r>
              <a:rPr sz="1350" spc="-15" baseline="37037" dirty="0">
                <a:solidFill>
                  <a:srgbClr val="181818"/>
                </a:solidFill>
                <a:latin typeface="Cambria"/>
                <a:cs typeface="Cambria"/>
              </a:rPr>
              <a:t>0</a:t>
            </a:r>
            <a:r>
              <a:rPr sz="1700" spc="-10" dirty="0">
                <a:solidFill>
                  <a:srgbClr val="181818"/>
                </a:solidFill>
                <a:latin typeface="Cambria"/>
                <a:cs typeface="Cambria"/>
              </a:rPr>
              <a:t>/a</a:t>
            </a:r>
            <a:endParaRPr sz="1700">
              <a:latin typeface="Cambria"/>
              <a:cs typeface="Cambri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2268229" y="7793201"/>
            <a:ext cx="1105535" cy="322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50" spc="-40" dirty="0">
                <a:solidFill>
                  <a:srgbClr val="212121"/>
                </a:solidFill>
                <a:latin typeface="Calibri"/>
                <a:cs typeface="Calibri"/>
              </a:rPr>
              <a:t>Perceptron</a:t>
            </a:r>
            <a:endParaRPr sz="19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9872" y="2510807"/>
            <a:ext cx="2115312" cy="151136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712720" y="2833800"/>
            <a:ext cx="944880" cy="118836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18159" y="731302"/>
            <a:ext cx="2090927" cy="155401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700527" y="1109143"/>
            <a:ext cx="963168" cy="120665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803903" y="1103048"/>
            <a:ext cx="963168" cy="1182273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925567" y="731302"/>
            <a:ext cx="963167" cy="155401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046464" y="48754"/>
            <a:ext cx="9241536" cy="10238245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1237488" y="5472586"/>
            <a:ext cx="957580" cy="189230"/>
          </a:xfrm>
          <a:custGeom>
            <a:avLst/>
            <a:gdLst/>
            <a:ahLst/>
            <a:cxnLst/>
            <a:rect l="l" t="t" r="r" b="b"/>
            <a:pathLst>
              <a:path w="957580" h="189229">
                <a:moveTo>
                  <a:pt x="957072" y="188976"/>
                </a:moveTo>
                <a:lnTo>
                  <a:pt x="0" y="188976"/>
                </a:lnTo>
                <a:lnTo>
                  <a:pt x="0" y="0"/>
                </a:lnTo>
                <a:lnTo>
                  <a:pt x="957072" y="0"/>
                </a:lnTo>
                <a:lnTo>
                  <a:pt x="957072" y="188976"/>
                </a:lnTo>
                <a:close/>
              </a:path>
            </a:pathLst>
          </a:custGeom>
          <a:solidFill>
            <a:srgbClr val="002FE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273552" y="5472586"/>
            <a:ext cx="1274445" cy="238125"/>
          </a:xfrm>
          <a:custGeom>
            <a:avLst/>
            <a:gdLst/>
            <a:ahLst/>
            <a:cxnLst/>
            <a:rect l="l" t="t" r="r" b="b"/>
            <a:pathLst>
              <a:path w="1274445" h="238125">
                <a:moveTo>
                  <a:pt x="1274064" y="237744"/>
                </a:moveTo>
                <a:lnTo>
                  <a:pt x="0" y="237744"/>
                </a:lnTo>
                <a:lnTo>
                  <a:pt x="0" y="0"/>
                </a:lnTo>
                <a:lnTo>
                  <a:pt x="1274064" y="0"/>
                </a:lnTo>
                <a:lnTo>
                  <a:pt x="1274064" y="237744"/>
                </a:lnTo>
                <a:close/>
              </a:path>
            </a:pathLst>
          </a:custGeom>
          <a:solidFill>
            <a:srgbClr val="012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626864" y="5496963"/>
            <a:ext cx="226060" cy="165100"/>
          </a:xfrm>
          <a:custGeom>
            <a:avLst/>
            <a:gdLst/>
            <a:ahLst/>
            <a:cxnLst/>
            <a:rect l="l" t="t" r="r" b="b"/>
            <a:pathLst>
              <a:path w="226060" h="165100">
                <a:moveTo>
                  <a:pt x="225552" y="164592"/>
                </a:moveTo>
                <a:lnTo>
                  <a:pt x="0" y="164592"/>
                </a:lnTo>
                <a:lnTo>
                  <a:pt x="0" y="0"/>
                </a:lnTo>
                <a:lnTo>
                  <a:pt x="225552" y="0"/>
                </a:lnTo>
                <a:lnTo>
                  <a:pt x="225552" y="164592"/>
                </a:lnTo>
                <a:close/>
              </a:path>
            </a:pathLst>
          </a:custGeom>
          <a:solidFill>
            <a:srgbClr val="0023F2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2" name="object 12"/>
          <p:cNvGraphicFramePr>
            <a:graphicFrameLocks noGrp="1"/>
          </p:cNvGraphicFramePr>
          <p:nvPr/>
        </p:nvGraphicFramePr>
        <p:xfrm>
          <a:off x="874775" y="4759566"/>
          <a:ext cx="6666230" cy="29698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45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83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9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513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041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778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57289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3718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72745">
                <a:tc gridSpan="11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132FDB"/>
                      </a:solidFill>
                      <a:prstDash val="solid"/>
                    </a:lnL>
                    <a:lnR w="9525">
                      <a:solidFill>
                        <a:srgbClr val="132FDB"/>
                      </a:solidFill>
                      <a:prstDash val="solid"/>
                    </a:lnR>
                    <a:lnT w="9525">
                      <a:solidFill>
                        <a:srgbClr val="132FDB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3204">
                <a:tc gridSpan="11">
                  <a:txBody>
                    <a:bodyPr/>
                    <a:lstStyle/>
                    <a:p>
                      <a:pPr marL="118110">
                        <a:lnSpc>
                          <a:spcPts val="1820"/>
                        </a:lnSpc>
                      </a:pPr>
                      <a:r>
                        <a:rPr sz="2100" dirty="0">
                          <a:solidFill>
                            <a:srgbClr val="F9F9F9"/>
                          </a:solidFill>
                          <a:latin typeface="Calibri"/>
                          <a:cs typeface="Calibri"/>
                        </a:rPr>
                        <a:t>This</a:t>
                      </a:r>
                      <a:r>
                        <a:rPr sz="2100" spc="220" dirty="0">
                          <a:solidFill>
                            <a:srgbClr val="F9F9F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100" dirty="0">
                          <a:solidFill>
                            <a:srgbClr val="0A2ABA"/>
                          </a:solidFill>
                          <a:latin typeface="Calibri"/>
                          <a:cs typeface="Calibri"/>
                        </a:rPr>
                        <a:t>project</a:t>
                      </a:r>
                      <a:r>
                        <a:rPr sz="2100" spc="325" dirty="0">
                          <a:solidFill>
                            <a:srgbClr val="0A2AB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100" spc="7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successfully</a:t>
                      </a:r>
                      <a:r>
                        <a:rPr sz="2100" spc="39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100" dirty="0">
                          <a:solidFill>
                            <a:srgbClr val="1F3BC6"/>
                          </a:solidFill>
                          <a:latin typeface="Calibri"/>
                          <a:cs typeface="Calibri"/>
                        </a:rPr>
                        <a:t>demonstrdtes</a:t>
                      </a:r>
                      <a:r>
                        <a:rPr sz="2100" spc="475" dirty="0">
                          <a:solidFill>
                            <a:srgbClr val="1F3BC6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100" dirty="0">
                          <a:solidFill>
                            <a:srgbClr val="0F26CF"/>
                          </a:solidFill>
                          <a:latin typeface="Calibri"/>
                          <a:cs typeface="Calibri"/>
                        </a:rPr>
                        <a:t>the</a:t>
                      </a:r>
                      <a:r>
                        <a:rPr sz="2100" spc="225" dirty="0">
                          <a:solidFill>
                            <a:srgbClr val="0F26C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100" dirty="0">
                          <a:solidFill>
                            <a:srgbClr val="2831D4"/>
                          </a:solidFill>
                          <a:latin typeface="Calibri"/>
                          <a:cs typeface="Calibri"/>
                        </a:rPr>
                        <a:t>use</a:t>
                      </a:r>
                      <a:r>
                        <a:rPr sz="2100" spc="229" dirty="0">
                          <a:solidFill>
                            <a:srgbClr val="2831D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100" spc="-25" dirty="0">
                          <a:solidFill>
                            <a:srgbClr val="D4E2FF"/>
                          </a:solidFill>
                          <a:latin typeface="Calibri"/>
                          <a:cs typeface="Calibri"/>
                        </a:rPr>
                        <a:t>of</a:t>
                      </a:r>
                      <a:endParaRPr sz="2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9525">
                      <a:solidFill>
                        <a:srgbClr val="132FDB"/>
                      </a:solidFill>
                      <a:prstDash val="solid"/>
                    </a:lnL>
                    <a:solidFill>
                      <a:srgbClr val="CFD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0805">
                <a:tc gridSpan="11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132FDB"/>
                      </a:solidFill>
                      <a:prstDash val="solid"/>
                    </a:lnL>
                    <a:lnR w="9525">
                      <a:solidFill>
                        <a:srgbClr val="132FDB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6385">
                <a:tc gridSpan="2">
                  <a:txBody>
                    <a:bodyPr/>
                    <a:lstStyle/>
                    <a:p>
                      <a:pPr marL="346075">
                        <a:lnSpc>
                          <a:spcPts val="1870"/>
                        </a:lnSpc>
                      </a:pPr>
                      <a:r>
                        <a:rPr sz="2150" spc="-1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machine</a:t>
                      </a:r>
                      <a:endParaRPr sz="215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9525">
                      <a:solidFill>
                        <a:srgbClr val="132FDB"/>
                      </a:solidFill>
                      <a:prstDash val="solid"/>
                    </a:lnL>
                    <a:lnB w="85318">
                      <a:solidFill>
                        <a:srgbClr val="FFFFFF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ts val="1889"/>
                        </a:lnSpc>
                      </a:pPr>
                      <a:r>
                        <a:rPr sz="2250" spc="-10" dirty="0">
                          <a:solidFill>
                            <a:srgbClr val="0F2FBC"/>
                          </a:solidFill>
                          <a:latin typeface="Calibri"/>
                          <a:cs typeface="Calibri"/>
                        </a:rPr>
                        <a:t>learning</a:t>
                      </a:r>
                      <a:endParaRPr sz="22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R w="76200">
                      <a:solidFill>
                        <a:srgbClr val="FFFFFF"/>
                      </a:solidFill>
                      <a:prstDash val="solid"/>
                    </a:lnR>
                    <a:lnB w="85318">
                      <a:solidFill>
                        <a:srgbClr val="FFFFFF"/>
                      </a:solidFill>
                      <a:prstDash val="solid"/>
                    </a:lnB>
                    <a:solidFill>
                      <a:srgbClr val="0031F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5">
                  <a:txBody>
                    <a:bodyPr/>
                    <a:lstStyle/>
                    <a:p>
                      <a:pPr marL="37465">
                        <a:lnSpc>
                          <a:spcPts val="1870"/>
                        </a:lnSpc>
                      </a:pPr>
                      <a:r>
                        <a:rPr sz="2150" spc="-40" dirty="0">
                          <a:solidFill>
                            <a:srgbClr val="001DB1"/>
                          </a:solidFill>
                          <a:latin typeface="Arial MT"/>
                          <a:cs typeface="Arial MT"/>
                        </a:rPr>
                        <a:t>techniaues </a:t>
                      </a:r>
                      <a:r>
                        <a:rPr sz="1500" spc="-25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tO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76200">
                      <a:solidFill>
                        <a:srgbClr val="FFFFFF"/>
                      </a:solidFill>
                      <a:prstDash val="solid"/>
                    </a:lnL>
                    <a:lnB w="85318">
                      <a:solidFill>
                        <a:srgbClr val="FFFFFF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860"/>
                        </a:lnSpc>
                      </a:pPr>
                      <a:r>
                        <a:rPr sz="2100" spc="3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automatically</a:t>
                      </a:r>
                      <a:endParaRPr sz="2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B w="85318">
                      <a:solidFill>
                        <a:srgbClr val="FFFFFF"/>
                      </a:solidFill>
                      <a:prstDash val="solid"/>
                    </a:lnB>
                    <a:solidFill>
                      <a:srgbClr val="012D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132FDB"/>
                      </a:solidFill>
                      <a:prstDash val="solid"/>
                    </a:lnR>
                    <a:lnB w="85318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6385">
                <a:tc gridSpan="11">
                  <a:txBody>
                    <a:bodyPr/>
                    <a:lstStyle/>
                    <a:p>
                      <a:pPr marL="179705">
                        <a:lnSpc>
                          <a:spcPts val="2155"/>
                        </a:lnSpc>
                      </a:pPr>
                      <a:r>
                        <a:rPr sz="2100" spc="-110" dirty="0">
                          <a:solidFill>
                            <a:srgbClr val="333DD1"/>
                          </a:solidFill>
                          <a:latin typeface="Cambria"/>
                          <a:cs typeface="Cambria"/>
                        </a:rPr>
                        <a:t>c(dSSif</a:t>
                      </a:r>
                      <a:r>
                        <a:rPr sz="2100" spc="-125" dirty="0">
                          <a:solidFill>
                            <a:srgbClr val="333DD1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2100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y</a:t>
                      </a:r>
                      <a:r>
                        <a:rPr sz="2100" spc="40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2100" spc="-65" dirty="0">
                          <a:solidFill>
                            <a:srgbClr val="283BBC"/>
                          </a:solidFill>
                          <a:latin typeface="Cambria"/>
                          <a:cs typeface="Cambria"/>
                        </a:rPr>
                        <a:t>emdi(s</a:t>
                      </a:r>
                      <a:r>
                        <a:rPr sz="2100" spc="100" dirty="0">
                          <a:solidFill>
                            <a:srgbClr val="283BBC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2100" dirty="0">
                          <a:solidFill>
                            <a:srgbClr val="0C2889"/>
                          </a:solidFill>
                          <a:latin typeface="Cambria"/>
                          <a:cs typeface="Cambria"/>
                        </a:rPr>
                        <a:t>as</a:t>
                      </a:r>
                      <a:r>
                        <a:rPr sz="2100" spc="-40" dirty="0">
                          <a:solidFill>
                            <a:srgbClr val="0C2889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2100" spc="60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Spim</a:t>
                      </a:r>
                      <a:r>
                        <a:rPr sz="2100" spc="114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2100" dirty="0">
                          <a:solidFill>
                            <a:srgbClr val="606EDA"/>
                          </a:solidFill>
                          <a:latin typeface="Cambria"/>
                          <a:cs typeface="Cambria"/>
                        </a:rPr>
                        <a:t>or</a:t>
                      </a:r>
                      <a:r>
                        <a:rPr sz="2100" spc="90" dirty="0">
                          <a:solidFill>
                            <a:srgbClr val="606EDA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2100" dirty="0">
                          <a:solidFill>
                            <a:srgbClr val="3B67CF"/>
                          </a:solidFill>
                          <a:latin typeface="Cambria"/>
                          <a:cs typeface="Cambria"/>
                        </a:rPr>
                        <a:t>not</a:t>
                      </a:r>
                      <a:r>
                        <a:rPr sz="2100" spc="45" dirty="0">
                          <a:solidFill>
                            <a:srgbClr val="3B67C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2100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spam.</a:t>
                      </a:r>
                      <a:r>
                        <a:rPr sz="2100" spc="135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2100" spc="-10" dirty="0">
                          <a:solidFill>
                            <a:srgbClr val="EDFBFF"/>
                          </a:solidFill>
                          <a:latin typeface="Cambria"/>
                          <a:cs typeface="Cambria"/>
                        </a:rPr>
                        <a:t>By</a:t>
                      </a:r>
                      <a:r>
                        <a:rPr sz="2100" spc="100" dirty="0">
                          <a:solidFill>
                            <a:srgbClr val="EDFBF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2100" spc="-10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applying</a:t>
                      </a:r>
                      <a:endParaRPr sz="2100">
                        <a:latin typeface="Cambria"/>
                        <a:cs typeface="Cambria"/>
                      </a:endParaRPr>
                    </a:p>
                  </a:txBody>
                  <a:tcPr marL="0" marR="0" marT="0" marB="0">
                    <a:lnL w="9525">
                      <a:solidFill>
                        <a:srgbClr val="132FDB"/>
                      </a:solidFill>
                      <a:prstDash val="solid"/>
                    </a:lnL>
                    <a:lnT w="85318">
                      <a:solidFill>
                        <a:srgbClr val="FFFFFF"/>
                      </a:solidFill>
                      <a:prstDash val="solid"/>
                    </a:lnT>
                    <a:solidFill>
                      <a:srgbClr val="CFD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0805">
                <a:tc gridSpan="11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132FDB"/>
                      </a:solidFill>
                      <a:prstDash val="solid"/>
                    </a:lnL>
                    <a:lnR w="9525">
                      <a:solidFill>
                        <a:srgbClr val="132FDB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3204">
                <a:tc gridSpan="11">
                  <a:txBody>
                    <a:bodyPr/>
                    <a:lstStyle/>
                    <a:p>
                      <a:pPr marL="117475">
                        <a:lnSpc>
                          <a:spcPts val="1820"/>
                        </a:lnSpc>
                      </a:pPr>
                      <a:r>
                        <a:rPr sz="2050" spc="-385" dirty="0">
                          <a:solidFill>
                            <a:srgbClr val="4967C3"/>
                          </a:solidFill>
                          <a:latin typeface="Arial MT"/>
                          <a:cs typeface="Arial MT"/>
                        </a:rPr>
                        <a:t>d¿Itči</a:t>
                      </a:r>
                      <a:r>
                        <a:rPr sz="2050" spc="165" dirty="0">
                          <a:solidFill>
                            <a:srgbClr val="4967C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050" dirty="0">
                          <a:solidFill>
                            <a:srgbClr val="3A4674"/>
                          </a:solidFill>
                          <a:latin typeface="Arial MT"/>
                          <a:cs typeface="Arial MT"/>
                        </a:rPr>
                        <a:t>preprocessing</a:t>
                      </a:r>
                      <a:r>
                        <a:rPr sz="2050" spc="-30" dirty="0">
                          <a:solidFill>
                            <a:srgbClr val="3A467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05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and</a:t>
                      </a:r>
                      <a:r>
                        <a:rPr sz="2050" spc="-105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050" spc="-12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TF-</a:t>
                      </a:r>
                      <a:r>
                        <a:rPr sz="2050" spc="-5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IDF</a:t>
                      </a:r>
                      <a:r>
                        <a:rPr sz="2050" spc="1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050" dirty="0">
                          <a:solidFill>
                            <a:srgbClr val="F9F9F9"/>
                          </a:solidFill>
                          <a:latin typeface="Arial MT"/>
                          <a:cs typeface="Arial MT"/>
                        </a:rPr>
                        <a:t>fedture</a:t>
                      </a:r>
                      <a:r>
                        <a:rPr sz="2050" spc="-15" dirty="0">
                          <a:solidFill>
                            <a:srgbClr val="F9F9F9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050" spc="-1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extraction,</a:t>
                      </a:r>
                      <a:endParaRPr sz="205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9525">
                      <a:solidFill>
                        <a:srgbClr val="132FDB"/>
                      </a:solidFill>
                      <a:prstDash val="solid"/>
                    </a:lnL>
                    <a:solidFill>
                      <a:srgbClr val="CFD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90805">
                <a:tc gridSpan="11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132FDB"/>
                      </a:solidFill>
                      <a:prstDash val="solid"/>
                    </a:lnL>
                    <a:lnR w="9525">
                      <a:solidFill>
                        <a:srgbClr val="132FDB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6385">
                <a:tc gridSpan="11">
                  <a:txBody>
                    <a:bodyPr/>
                    <a:lstStyle/>
                    <a:p>
                      <a:pPr marL="370840">
                        <a:lnSpc>
                          <a:spcPts val="1889"/>
                        </a:lnSpc>
                      </a:pPr>
                      <a:r>
                        <a:rPr sz="2250" spc="-55" dirty="0">
                          <a:solidFill>
                            <a:srgbClr val="1105AE"/>
                          </a:solidFill>
                          <a:latin typeface="Arial MT"/>
                          <a:cs typeface="Arial MT"/>
                        </a:rPr>
                        <a:t>the</a:t>
                      </a:r>
                      <a:r>
                        <a:rPr sz="2250" spc="-105" dirty="0">
                          <a:solidFill>
                            <a:srgbClr val="1105AE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250" spc="-1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text</a:t>
                      </a:r>
                      <a:r>
                        <a:rPr sz="2250" spc="-145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250" spc="-95" dirty="0">
                          <a:solidFill>
                            <a:srgbClr val="1C31A7"/>
                          </a:solidFill>
                          <a:latin typeface="Arial MT"/>
                          <a:cs typeface="Arial MT"/>
                        </a:rPr>
                        <a:t>data</a:t>
                      </a:r>
                      <a:r>
                        <a:rPr sz="2250" spc="-60" dirty="0">
                          <a:solidFill>
                            <a:srgbClr val="1C31A7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250" spc="-24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was</a:t>
                      </a:r>
                      <a:r>
                        <a:rPr sz="225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250" spc="-3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effectively</a:t>
                      </a:r>
                      <a:r>
                        <a:rPr sz="2250" spc="-125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250" spc="-65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converted</a:t>
                      </a:r>
                      <a:r>
                        <a:rPr sz="2250" spc="-5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250" spc="-1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into</a:t>
                      </a:r>
                      <a:r>
                        <a:rPr sz="2250" spc="-105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250" spc="-325" dirty="0">
                          <a:solidFill>
                            <a:srgbClr val="2442D6"/>
                          </a:solidFill>
                          <a:latin typeface="Arial MT"/>
                          <a:cs typeface="Arial MT"/>
                        </a:rPr>
                        <a:t>a</a:t>
                      </a:r>
                      <a:endParaRPr sz="225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9525">
                      <a:solidFill>
                        <a:srgbClr val="132FDB"/>
                      </a:solidFill>
                      <a:prstDash val="solid"/>
                    </a:lnL>
                    <a:lnB w="85318">
                      <a:solidFill>
                        <a:srgbClr val="FFFFFF"/>
                      </a:solidFill>
                      <a:prstDash val="solid"/>
                    </a:lnB>
                    <a:solidFill>
                      <a:srgbClr val="CFD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7490">
                <a:tc>
                  <a:txBody>
                    <a:bodyPr/>
                    <a:lstStyle/>
                    <a:p>
                      <a:pPr algn="r">
                        <a:lnSpc>
                          <a:spcPts val="1770"/>
                        </a:lnSpc>
                      </a:pPr>
                      <a:r>
                        <a:rPr sz="2050" spc="-25" dirty="0">
                          <a:solidFill>
                            <a:srgbClr val="07267E"/>
                          </a:solidFill>
                          <a:latin typeface="Courier New"/>
                          <a:cs typeface="Courier New"/>
                        </a:rPr>
                        <a:t>fo</a:t>
                      </a:r>
                      <a:endParaRPr sz="205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9525">
                      <a:solidFill>
                        <a:srgbClr val="132FDB"/>
                      </a:solidFill>
                      <a:prstDash val="solid"/>
                    </a:lnL>
                    <a:lnT w="85318">
                      <a:solidFill>
                        <a:srgbClr val="FFFFFF"/>
                      </a:solidFill>
                      <a:prstDash val="solid"/>
                    </a:lnT>
                  </a:tcPr>
                </a:tc>
                <a:tc gridSpan="2">
                  <a:txBody>
                    <a:bodyPr/>
                    <a:lstStyle/>
                    <a:p>
                      <a:pPr marL="243840">
                        <a:lnSpc>
                          <a:spcPts val="1770"/>
                        </a:lnSpc>
                      </a:pPr>
                      <a:r>
                        <a:rPr sz="2050" spc="-110" dirty="0">
                          <a:solidFill>
                            <a:srgbClr val="07267E"/>
                          </a:solidFill>
                          <a:latin typeface="Courier New"/>
                          <a:cs typeface="Courier New"/>
                        </a:rPr>
                        <a:t>rmdt</a:t>
                      </a:r>
                      <a:endParaRPr sz="205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R w="79248">
                      <a:solidFill>
                        <a:srgbClr val="FFFFFF"/>
                      </a:solidFill>
                      <a:prstDash val="solid"/>
                    </a:lnR>
                    <a:lnT w="85318">
                      <a:solidFill>
                        <a:srgbClr val="FFFFFF"/>
                      </a:solidFill>
                      <a:prstDash val="solid"/>
                    </a:lnT>
                    <a:solidFill>
                      <a:srgbClr val="0036E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6830">
                        <a:lnSpc>
                          <a:spcPts val="1770"/>
                        </a:lnSpc>
                      </a:pPr>
                      <a:r>
                        <a:rPr sz="2150" spc="-1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suitable</a:t>
                      </a:r>
                      <a:endParaRPr sz="215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79248">
                      <a:solidFill>
                        <a:srgbClr val="FFFFFF"/>
                      </a:solidFill>
                      <a:prstDash val="solid"/>
                    </a:lnL>
                    <a:lnR w="76200">
                      <a:solidFill>
                        <a:srgbClr val="FFFFFF"/>
                      </a:solidFill>
                      <a:prstDash val="solid"/>
                    </a:lnR>
                    <a:lnT w="85318">
                      <a:solidFill>
                        <a:srgbClr val="FFFFFF"/>
                      </a:solidFill>
                      <a:prstDash val="solid"/>
                    </a:lnT>
                    <a:solidFill>
                      <a:srgbClr val="0013C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0005">
                        <a:lnSpc>
                          <a:spcPts val="1770"/>
                        </a:lnSpc>
                      </a:pPr>
                      <a:r>
                        <a:rPr sz="2050" spc="-25" dirty="0">
                          <a:solidFill>
                            <a:srgbClr val="112DD6"/>
                          </a:solidFill>
                          <a:latin typeface="Arial MT"/>
                          <a:cs typeface="Arial MT"/>
                        </a:rPr>
                        <a:t>for</a:t>
                      </a:r>
                      <a:endParaRPr sz="205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76200">
                      <a:solidFill>
                        <a:srgbClr val="FFFFFF"/>
                      </a:solidFill>
                      <a:prstDash val="solid"/>
                    </a:lnL>
                    <a:lnT w="85318">
                      <a:solidFill>
                        <a:srgbClr val="FFFFFF"/>
                      </a:solidFill>
                      <a:prstDash val="solid"/>
                    </a:lnT>
                    <a:solidFill>
                      <a:srgbClr val="002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770"/>
                        </a:lnSpc>
                      </a:pPr>
                      <a:r>
                        <a:rPr sz="2100" spc="50" dirty="0">
                          <a:solidFill>
                            <a:srgbClr val="0018B5"/>
                          </a:solidFill>
                          <a:latin typeface="Calibri"/>
                          <a:cs typeface="Calibri"/>
                        </a:rPr>
                        <a:t>mo</a:t>
                      </a:r>
                      <a:endParaRPr sz="2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T w="85318">
                      <a:solidFill>
                        <a:srgbClr val="FFFFF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358140">
                        <a:lnSpc>
                          <a:spcPts val="1770"/>
                        </a:lnSpc>
                      </a:pPr>
                      <a:r>
                        <a:rPr sz="2100" spc="-25" dirty="0">
                          <a:solidFill>
                            <a:srgbClr val="0018B5"/>
                          </a:solidFill>
                          <a:latin typeface="Calibri"/>
                          <a:cs typeface="Calibri"/>
                        </a:rPr>
                        <a:t>del</a:t>
                      </a:r>
                      <a:endParaRPr sz="2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R w="76200">
                      <a:solidFill>
                        <a:srgbClr val="FFFFFF"/>
                      </a:solidFill>
                      <a:prstDash val="solid"/>
                    </a:lnR>
                    <a:lnT w="85318">
                      <a:solidFill>
                        <a:srgbClr val="FFFFFF"/>
                      </a:solidFill>
                      <a:prstDash val="solid"/>
                    </a:lnT>
                    <a:solidFill>
                      <a:srgbClr val="0A33C3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34925">
                        <a:lnSpc>
                          <a:spcPts val="1770"/>
                        </a:lnSpc>
                      </a:pPr>
                      <a:r>
                        <a:rPr sz="1950" spc="-1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tr¿iining.</a:t>
                      </a:r>
                      <a:endParaRPr sz="195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76200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132FDB"/>
                      </a:solidFill>
                      <a:prstDash val="solid"/>
                    </a:lnR>
                    <a:lnT w="85318">
                      <a:solidFill>
                        <a:srgbClr val="FFFFFF"/>
                      </a:solidFill>
                      <a:prstDash val="solid"/>
                    </a:lnT>
                    <a:solidFill>
                      <a:srgbClr val="012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741680">
                <a:tc gridSpan="11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132FDB"/>
                      </a:solidFill>
                      <a:prstDash val="solid"/>
                    </a:lnL>
                    <a:lnR w="9525">
                      <a:solidFill>
                        <a:srgbClr val="132FDB"/>
                      </a:solidFill>
                      <a:prstDash val="solid"/>
                    </a:lnR>
                    <a:lnB w="9525">
                      <a:solidFill>
                        <a:srgbClr val="132FDB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3" name="object 13"/>
          <p:cNvSpPr txBox="1"/>
          <p:nvPr/>
        </p:nvSpPr>
        <p:spPr>
          <a:xfrm>
            <a:off x="1111052" y="8537709"/>
            <a:ext cx="5551805" cy="728345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2021205" marR="5080" indent="-2009139">
              <a:lnSpc>
                <a:spcPts val="2710"/>
              </a:lnSpc>
              <a:spcBef>
                <a:spcPts val="280"/>
              </a:spcBef>
            </a:pPr>
            <a:r>
              <a:rPr sz="2350" spc="-55" dirty="0">
                <a:latin typeface="Calibri"/>
                <a:cs typeface="Calibri"/>
              </a:rPr>
              <a:t>https://github.com/2403A51186/EMAIL-</a:t>
            </a:r>
            <a:r>
              <a:rPr sz="2350" spc="-30" dirty="0">
                <a:latin typeface="Calibri"/>
                <a:cs typeface="Calibri"/>
              </a:rPr>
              <a:t>SPAM- </a:t>
            </a:r>
            <a:r>
              <a:rPr sz="2350" spc="-10" dirty="0">
                <a:latin typeface="Calibri"/>
                <a:cs typeface="Calibri"/>
              </a:rPr>
              <a:t>DETECTION-</a:t>
            </a:r>
            <a:endParaRPr sz="23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1066</Words>
  <Application>Microsoft Office PowerPoint</Application>
  <PresentationFormat>Custom</PresentationFormat>
  <Paragraphs>144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 MT</vt:lpstr>
      <vt:lpstr>Calibri</vt:lpstr>
      <vt:lpstr>Cambria</vt:lpstr>
      <vt:lpstr>Consolas</vt:lpstr>
      <vt:lpstr>Courier New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er ormance FICS O</vt:lpstr>
      <vt:lpstr>3 FI-Score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and White Modern Email Marketing Presentation</dc:title>
  <dc:creator>BAIKANI SWAPNA</dc:creator>
  <cp:keywords>DAHGJVcNi7Q,BAHGJa8n1xA,0</cp:keywords>
  <cp:lastModifiedBy>CHANDANA VADDEM</cp:lastModifiedBy>
  <cp:revision>1</cp:revision>
  <dcterms:created xsi:type="dcterms:W3CDTF">2026-04-07T09:05:49Z</dcterms:created>
  <dcterms:modified xsi:type="dcterms:W3CDTF">2026-04-07T09:12:46Z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2026-04-07T00:00:00Z</vt:filetime>
  </property>
  <property fmtid="{D5CDD505-2E9C-101B-9397-08002B2CF9AE}" pid="3" name="Creator">
    <vt:lpwstr>Canva</vt:lpwstr>
  </property>
  <property fmtid="{D5CDD505-2E9C-101B-9397-08002B2CF9AE}" pid="4" name="LastSaved">
    <vt:filetime>2026-04-07T00:00:00Z</vt:filetime>
  </property>
  <property fmtid="{D5CDD505-2E9C-101B-9397-08002B2CF9AE}" pid="5" name="Producer">
    <vt:lpwstr>iLovePDF</vt:lpwstr>
  </property>
</Properties>
</file>